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3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6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7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8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3" r:id="rId2"/>
    <p:sldMasterId id="2147483685" r:id="rId3"/>
    <p:sldMasterId id="2147483697" r:id="rId4"/>
  </p:sldMasterIdLst>
  <p:notesMasterIdLst>
    <p:notesMasterId r:id="rId35"/>
  </p:notesMasterIdLst>
  <p:sldIdLst>
    <p:sldId id="257" r:id="rId5"/>
    <p:sldId id="605" r:id="rId6"/>
    <p:sldId id="606" r:id="rId7"/>
    <p:sldId id="608" r:id="rId8"/>
    <p:sldId id="609" r:id="rId9"/>
    <p:sldId id="610" r:id="rId10"/>
    <p:sldId id="611" r:id="rId11"/>
    <p:sldId id="607" r:id="rId12"/>
    <p:sldId id="602" r:id="rId13"/>
    <p:sldId id="583" r:id="rId14"/>
    <p:sldId id="612" r:id="rId15"/>
    <p:sldId id="584" r:id="rId16"/>
    <p:sldId id="585" r:id="rId17"/>
    <p:sldId id="624" r:id="rId18"/>
    <p:sldId id="595" r:id="rId19"/>
    <p:sldId id="625" r:id="rId20"/>
    <p:sldId id="597" r:id="rId21"/>
    <p:sldId id="588" r:id="rId22"/>
    <p:sldId id="591" r:id="rId23"/>
    <p:sldId id="589" r:id="rId24"/>
    <p:sldId id="593" r:id="rId25"/>
    <p:sldId id="592" r:id="rId26"/>
    <p:sldId id="614" r:id="rId27"/>
    <p:sldId id="618" r:id="rId28"/>
    <p:sldId id="619" r:id="rId29"/>
    <p:sldId id="615" r:id="rId30"/>
    <p:sldId id="621" r:id="rId31"/>
    <p:sldId id="622" r:id="rId32"/>
    <p:sldId id="623" r:id="rId33"/>
    <p:sldId id="616" r:id="rId34"/>
  </p:sldIdLst>
  <p:sldSz cx="9144000" cy="6858000" type="screen4x3"/>
  <p:notesSz cx="6669088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0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78B5"/>
    <a:srgbClr val="FF6600"/>
    <a:srgbClr val="FFFFFF"/>
    <a:srgbClr val="0000FF"/>
    <a:srgbClr val="F2F2F2"/>
    <a:srgbClr val="FFFF99"/>
    <a:srgbClr val="FFFF00"/>
    <a:srgbClr val="D60093"/>
    <a:srgbClr val="0066FF"/>
    <a:srgbClr val="05D1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194" autoAdjust="0"/>
    <p:restoredTop sz="93151" autoAdjust="0"/>
  </p:normalViewPr>
  <p:slideViewPr>
    <p:cSldViewPr>
      <p:cViewPr varScale="1">
        <p:scale>
          <a:sx n="163" d="100"/>
          <a:sy n="163" d="100"/>
        </p:scale>
        <p:origin x="1632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5" d="100"/>
          <a:sy n="85" d="100"/>
        </p:scale>
        <p:origin x="2412" y="72"/>
      </p:cViewPr>
      <p:guideLst>
        <p:guide orient="horz" pos="3127"/>
        <p:guide pos="210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tableStyles" Target="tableStyle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slideMaster" Target="slideMasters/slideMaster3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ims\Desktop\XRD\XRD%20&#44288;&#47144;%20&#44592;&#53440;&#49436;&#47448;\2021\0_XRD&#44396;&#47588;&#44288;&#47144;\&#49688;&#50836;&#51312;&#49324;\20210727_XRD%20&#49688;&#50836;&#51312;&#49324;%20&#51221;&#47532;&#48376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ims\Desktop\XRD\XRD%20&#44288;&#47144;%20&#44592;&#53440;&#49436;&#47448;\2021\0_XRD&#44396;&#47588;&#44288;&#47144;\&#49688;&#50836;&#51312;&#49324;\20210727_XRD%20&#49688;&#50836;&#51312;&#49324;%20&#51221;&#47532;&#48376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ims\Desktop\XRD\XRD%20&#44288;&#47144;%20&#44592;&#53440;&#49436;&#47448;\2021\0_XRD&#44396;&#47588;&#44288;&#47144;\&#49688;&#50836;&#51312;&#49324;\20210727_XRD%20&#49688;&#50836;&#51312;&#49324;%20&#51221;&#47532;&#48376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ims\Desktop\XRD\XRD%20&#44288;&#47144;%20&#44592;&#53440;&#49436;&#47448;\2021\0_XRD&#44396;&#47588;&#44288;&#47144;\&#49688;&#50836;&#51312;&#49324;\20210727_XRD%20&#49688;&#50836;&#51312;&#49324;%20&#51221;&#47532;&#48376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ims\Desktop\XRD\XRD%20&#44288;&#47144;%20&#44592;&#53440;&#49436;&#47448;\2021\0_XRD&#44396;&#47588;&#44288;&#47144;\&#49688;&#50836;&#51312;&#49324;\20210727_XRD%20&#49688;&#50836;&#51312;&#49324;%20&#51221;&#47532;&#48376;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ims\Desktop\XRD\XRD%20&#44288;&#47144;%20&#44592;&#53440;&#49436;&#47448;\2021\0_XRD&#44396;&#47588;&#44288;&#47144;\&#49688;&#50836;&#51312;&#49324;\20210727_XRD%20&#49688;&#50836;&#51312;&#49324;%20&#51221;&#47532;&#48376;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kims\Desktop\XRD\XRD%20&#44288;&#47144;%20&#44592;&#53440;&#49436;&#47448;\2021\0_XRD&#44396;&#47588;&#44288;&#47144;\&#49688;&#50836;&#51312;&#49324;\20210727_XRD%20&#49688;&#50836;&#51312;&#49324;%20&#51221;&#47532;&#48376;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vert="horz" wrap="none" lIns="0" tIns="0" rIns="0" bIns="0" anchor="ctr" anchorCtr="1"/>
          <a:lstStyle/>
          <a:p>
            <a:pPr algn="l">
              <a:defRPr sz="1600" b="1" i="0" u="none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pPr>
            <a:r>
              <a:rPr lang="ko-KR" altLang="en-US" sz="1600" b="1" i="0" u="none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rPr>
              <a:t>기구축</a:t>
            </a:r>
            <a:r>
              <a:rPr lang="ko-KR" altLang="en-US" sz="1600" b="1" i="0" u="none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rPr>
              <a:t> 장비 연간 가동률</a:t>
            </a:r>
            <a:endParaRPr lang="ko-KR" altLang="en-US" dirty="0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'[210722_XRD 가동률 계산.xlsx]Sheet1'!$C$21</c:f>
              <c:strCache>
                <c:ptCount val="1"/>
                <c:pt idx="0">
                  <c:v>가동률</c:v>
                </c:pt>
              </c:strCache>
            </c:strRef>
          </c:tx>
          <c:spPr>
            <a:solidFill>
              <a:schemeClr val="accent1"/>
            </a:solidFill>
            <a:ln w="9525">
              <a:noFill/>
            </a:ln>
            <a:effectLst/>
          </c:spPr>
          <c:invertIfNegative val="0"/>
          <c:cat>
            <c:strRef>
              <c:f>'[210722_XRD 가동률 계산.xlsx]Sheet1'!$B$22:$B$24</c:f>
              <c:strCache>
                <c:ptCount val="3"/>
                <c:pt idx="0">
                  <c:v>2019년</c:v>
                </c:pt>
                <c:pt idx="1">
                  <c:v>2020년</c:v>
                </c:pt>
                <c:pt idx="2">
                  <c:v>2021년</c:v>
                </c:pt>
              </c:strCache>
            </c:strRef>
          </c:cat>
          <c:val>
            <c:numRef>
              <c:f>'[210722_XRD 가동률 계산.xlsx]Sheet1'!$C$22:$C$24</c:f>
              <c:numCache>
                <c:formatCode>0%</c:formatCode>
                <c:ptCount val="3"/>
                <c:pt idx="0">
                  <c:v>0.93</c:v>
                </c:pt>
                <c:pt idx="1">
                  <c:v>1.08</c:v>
                </c:pt>
                <c:pt idx="2">
                  <c:v>1.64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25-4CD3-8E6F-A6AB16FD12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527722719"/>
        <c:axId val="974507087"/>
      </c:barChart>
      <c:catAx>
        <c:axId val="1527722719"/>
        <c:scaling>
          <c:orientation val="minMax"/>
        </c:scaling>
        <c:delete val="0"/>
        <c:axPos val="b"/>
        <c:title>
          <c:tx>
            <c:rich>
              <a:bodyPr rot="0" vert="horz" wrap="none" lIns="0" tIns="0" rIns="0" bIns="0" anchor="ctr" anchorCtr="1"/>
              <a:lstStyle/>
              <a:p>
                <a:pPr algn="l">
                  <a:defRPr sz="1050" b="1" i="0" u="none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ea"/>
                    <a:sym typeface="+mn-ea"/>
                  </a:defRPr>
                </a:pPr>
                <a:r>
                  <a:rPr lang="ko-KR" altLang="en-US" sz="1050" b="1" i="0" u="none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ea"/>
                    <a:sym typeface="+mn-ea"/>
                  </a:rPr>
                  <a:t>연도</a:t>
                </a:r>
                <a:endParaRPr lang="ko-KR" altLang="en-US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vert="horz" wrap="none" lIns="0" tIns="0" rIns="0" bIns="0" anchor="ctr" anchorCtr="1"/>
          <a:lstStyle/>
          <a:p>
            <a:pPr algn="l">
              <a:defRPr sz="900" b="0" i="0" u="none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pPr>
            <a:endParaRPr lang="ko-KR"/>
          </a:p>
        </c:txPr>
        <c:crossAx val="974507087"/>
        <c:crosses val="autoZero"/>
        <c:auto val="1"/>
        <c:lblAlgn val="ctr"/>
        <c:lblOffset val="100"/>
        <c:tickMarkSkip val="1"/>
        <c:noMultiLvlLbl val="0"/>
      </c:catAx>
      <c:valAx>
        <c:axId val="97450708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vert="eaVert" wrap="none" lIns="0" tIns="0" rIns="0" bIns="0" anchor="ctr" anchorCtr="1"/>
              <a:lstStyle/>
              <a:p>
                <a:pPr algn="l">
                  <a:defRPr sz="1050" b="1" i="0" u="none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ea"/>
                    <a:sym typeface="+mn-ea"/>
                  </a:defRPr>
                </a:pPr>
                <a:r>
                  <a:rPr lang="ko-KR" altLang="en-US" sz="1050" b="1" i="0" u="none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ea"/>
                    <a:sym typeface="+mn-ea"/>
                  </a:rPr>
                  <a:t>가동률</a:t>
                </a:r>
                <a:endParaRPr lang="ko-KR" altLang="en-US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0%" sourceLinked="1"/>
        <c:majorTickMark val="none"/>
        <c:minorTickMark val="none"/>
        <c:tickLblPos val="nextTo"/>
        <c:spPr>
          <a:noFill/>
          <a:ln w="9525">
            <a:noFill/>
          </a:ln>
          <a:effectLst/>
        </c:spPr>
        <c:txPr>
          <a:bodyPr rot="0" vert="horz" wrap="none" lIns="0" tIns="0" rIns="0" bIns="0" anchor="ctr" anchorCtr="1"/>
          <a:lstStyle/>
          <a:p>
            <a:pPr algn="l">
              <a:defRPr sz="900" b="0" i="0" u="none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ea"/>
                <a:sym typeface="+mn-ea"/>
              </a:defRPr>
            </a:pPr>
            <a:endParaRPr lang="ko-KR"/>
          </a:p>
        </c:txPr>
        <c:crossAx val="1527722719"/>
        <c:crosses val="autoZero"/>
        <c:crossBetween val="between"/>
        <c:majorUnit val="0.25"/>
      </c:valAx>
      <c:spPr>
        <a:noFill/>
        <a:ln w="9525" cap="flat" cmpd="sng" algn="ctr">
          <a:noFill/>
          <a:prstDash val="solid"/>
          <a:round/>
          <a:headEnd w="med" len="med"/>
          <a:tailEnd w="med" len="med"/>
        </a:ln>
      </c:spPr>
    </c:plotArea>
    <c:plotVisOnly val="0"/>
    <c:dispBlanksAs val="gap"/>
    <c:showDLblsOverMax val="0"/>
  </c:chart>
  <c:txPr>
    <a:bodyPr rot="0" vert="horz" wrap="none" lIns="0" tIns="0" rIns="0" bIns="0" anchor="ctr" anchorCtr="1"/>
    <a:lstStyle/>
    <a:p>
      <a:pPr algn="l">
        <a:defRPr b="0" i="0" u="none"/>
      </a:pPr>
      <a:endParaRPr lang="ko-KR"/>
    </a:p>
  </c:txPr>
  <c:extLst>
    <c:ext uri="CC8EB2C9-7E31-499d-B8F2-F6CE61031016">
      <ho:hncChartStyle xmlns:ho="http://schemas.haansoft.com/office/8.0" layoutIndex="-1" colorIndex="-1" styleIndex="-1"/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/>
              <a:t>예상 활용빈도</a:t>
            </a:r>
            <a:endParaRPr lang="ko-KR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view3D>
      <c:rotX val="50"/>
      <c:rotY val="0"/>
      <c:depthPercent val="100"/>
      <c:rAngAx val="0"/>
      <c:perspective val="6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2.8886023031485766E-2"/>
          <c:y val="0.28820048801162013"/>
          <c:w val="0.95460767809337954"/>
          <c:h val="0.51027920766005419"/>
        </c:manualLayout>
      </c:layout>
      <c:pie3D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1-F5B0-4B86-9481-B0AEE49D497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3-F5B0-4B86-9481-B0AEE49D497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5-F5B0-4B86-9481-B0AEE49D497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7-F5B0-4B86-9481-B0AEE49D4977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9-F5B0-4B86-9481-B0AEE49D4977}"/>
              </c:ext>
            </c:extLst>
          </c:dPt>
          <c:dLbls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F5B0-4B86-9481-B0AEE49D497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Sheet1!$L$22:$L$25</c:f>
              <c:strCache>
                <c:ptCount val="4"/>
                <c:pt idx="0">
                  <c:v>주 1회</c:v>
                </c:pt>
                <c:pt idx="1">
                  <c:v>주 2~3회</c:v>
                </c:pt>
                <c:pt idx="2">
                  <c:v>주 4~5회</c:v>
                </c:pt>
                <c:pt idx="3">
                  <c:v>주 6회 이상</c:v>
                </c:pt>
              </c:strCache>
            </c:strRef>
          </c:cat>
          <c:val>
            <c:numRef>
              <c:f>Sheet1!$N$22:$N$25</c:f>
              <c:numCache>
                <c:formatCode>General</c:formatCode>
                <c:ptCount val="4"/>
                <c:pt idx="0">
                  <c:v>20</c:v>
                </c:pt>
                <c:pt idx="1">
                  <c:v>17</c:v>
                </c:pt>
                <c:pt idx="2">
                  <c:v>0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5B0-4B86-9481-B0AEE49D4977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0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alpha val="78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pattFill prst="dkDnDiag">
      <a:fgClr>
        <a:schemeClr val="lt1">
          <a:lumMod val="95000"/>
        </a:schemeClr>
      </a:fgClr>
      <a:bgClr>
        <a:schemeClr val="lt1"/>
      </a:bgClr>
    </a:patt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현재 원활한 활용여부</a:t>
            </a:r>
            <a:endParaRPr lang="ko-K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view3D>
      <c:rotX val="50"/>
      <c:rotY val="0"/>
      <c:depthPercent val="100"/>
      <c:rAngAx val="0"/>
      <c:perspective val="6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1-274A-4032-A5F3-44C614A1FC8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3-274A-4032-A5F3-44C614A1FC8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Sheet1!$M$8:$M$9</c:f>
              <c:strCache>
                <c:ptCount val="2"/>
                <c:pt idx="0">
                  <c:v>O</c:v>
                </c:pt>
                <c:pt idx="1">
                  <c:v>X</c:v>
                </c:pt>
              </c:strCache>
            </c:strRef>
          </c:cat>
          <c:val>
            <c:numRef>
              <c:f>Sheet1!$N$8:$N$9</c:f>
              <c:numCache>
                <c:formatCode>General</c:formatCode>
                <c:ptCount val="2"/>
                <c:pt idx="0">
                  <c:v>17</c:v>
                </c:pt>
                <c:pt idx="1">
                  <c:v>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274A-4032-A5F3-44C614A1FC8D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alpha val="78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pattFill prst="dkDnDiag">
      <a:fgClr>
        <a:schemeClr val="lt1">
          <a:lumMod val="95000"/>
        </a:schemeClr>
      </a:fgClr>
      <a:bgClr>
        <a:schemeClr val="lt1"/>
      </a:bgClr>
    </a:patt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현재 원활히 활용하지 못하는 이유</a:t>
            </a:r>
            <a:endParaRPr lang="ko-K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view3D>
      <c:rotX val="50"/>
      <c:rotY val="0"/>
      <c:depthPercent val="100"/>
      <c:rAngAx val="0"/>
      <c:perspective val="6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1-0854-4385-9C18-52171DC1BE8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3-0854-4385-9C18-52171DC1BE83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5-0854-4385-9C18-52171DC1BE83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7-0854-4385-9C18-52171DC1BE8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Sheet1!$L$12:$L$15</c:f>
              <c:strCache>
                <c:ptCount val="4"/>
                <c:pt idx="0">
                  <c:v>가동률이 높음</c:v>
                </c:pt>
                <c:pt idx="1">
                  <c:v>장비의 노후화로 인한 성능 저하</c:v>
                </c:pt>
                <c:pt idx="2">
                  <c:v>측정 옵션이 부족함</c:v>
                </c:pt>
                <c:pt idx="3">
                  <c:v>기타</c:v>
                </c:pt>
              </c:strCache>
            </c:strRef>
          </c:cat>
          <c:val>
            <c:numRef>
              <c:f>Sheet1!$N$12:$N$15</c:f>
              <c:numCache>
                <c:formatCode>General</c:formatCode>
                <c:ptCount val="4"/>
                <c:pt idx="0">
                  <c:v>13</c:v>
                </c:pt>
                <c:pt idx="1">
                  <c:v>9</c:v>
                </c:pt>
                <c:pt idx="2">
                  <c:v>4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854-4385-9C18-52171DC1BE83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alpha val="78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pattFill prst="dkDnDiag">
      <a:fgClr>
        <a:schemeClr val="lt1">
          <a:lumMod val="95000"/>
        </a:schemeClr>
      </a:fgClr>
      <a:bgClr>
        <a:schemeClr val="lt1"/>
      </a:bgClr>
    </a:patt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장비활용 의사 여부</a:t>
            </a:r>
            <a:endParaRPr lang="ko-K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view3D>
      <c:rotX val="50"/>
      <c:rotY val="0"/>
      <c:depthPercent val="100"/>
      <c:rAngAx val="0"/>
      <c:perspective val="6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1-5F50-43E4-94FA-7D1ADB9BC3C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3-5F50-43E4-94FA-7D1ADB9BC3C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Sheet1!$M$18:$M$19</c:f>
              <c:strCache>
                <c:ptCount val="2"/>
                <c:pt idx="0">
                  <c:v>O</c:v>
                </c:pt>
                <c:pt idx="1">
                  <c:v>X</c:v>
                </c:pt>
              </c:strCache>
            </c:strRef>
          </c:cat>
          <c:val>
            <c:numRef>
              <c:f>Sheet1!$N$18:$N$19</c:f>
              <c:numCache>
                <c:formatCode>General</c:formatCode>
                <c:ptCount val="2"/>
                <c:pt idx="0">
                  <c:v>39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5F50-43E4-94FA-7D1ADB9BC3C6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alpha val="78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pattFill prst="dkDnDiag">
      <a:fgClr>
        <a:schemeClr val="lt1">
          <a:lumMod val="95000"/>
        </a:schemeClr>
      </a:fgClr>
      <a:bgClr>
        <a:schemeClr val="lt1"/>
      </a:bgClr>
    </a:patt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 dirty="0"/>
              <a:t>예상 사용 빈도</a:t>
            </a:r>
            <a:endParaRPr lang="ko-KR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view3D>
      <c:rotX val="50"/>
      <c:rotY val="0"/>
      <c:depthPercent val="100"/>
      <c:rAngAx val="0"/>
      <c:perspective val="6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1-558E-41FA-BED8-770CBA8296E0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3-558E-41FA-BED8-770CBA8296E0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5-558E-41FA-BED8-770CBA8296E0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7-558E-41FA-BED8-770CBA8296E0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9-558E-41FA-BED8-770CBA8296E0}"/>
              </c:ext>
            </c:extLst>
          </c:dPt>
          <c:dLbls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58E-41FA-BED8-770CBA8296E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Sheet1!$L$22:$L$25</c:f>
              <c:strCache>
                <c:ptCount val="4"/>
                <c:pt idx="0">
                  <c:v>주 1회</c:v>
                </c:pt>
                <c:pt idx="1">
                  <c:v>주 2~3회</c:v>
                </c:pt>
                <c:pt idx="2">
                  <c:v>주 4~5회</c:v>
                </c:pt>
                <c:pt idx="3">
                  <c:v>주 6회 이상</c:v>
                </c:pt>
              </c:strCache>
            </c:strRef>
          </c:cat>
          <c:val>
            <c:numRef>
              <c:f>Sheet1!$N$22:$N$25</c:f>
              <c:numCache>
                <c:formatCode>General</c:formatCode>
                <c:ptCount val="4"/>
                <c:pt idx="0">
                  <c:v>20</c:v>
                </c:pt>
                <c:pt idx="1">
                  <c:v>17</c:v>
                </c:pt>
                <c:pt idx="2">
                  <c:v>0</c:v>
                </c:pt>
                <c:pt idx="3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58E-41FA-BED8-770CBA8296E0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alpha val="78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pattFill prst="dkDnDiag">
      <a:fgClr>
        <a:schemeClr val="lt1">
          <a:lumMod val="95000"/>
        </a:schemeClr>
      </a:fgClr>
      <a:bgClr>
        <a:schemeClr val="lt1"/>
      </a:bgClr>
    </a:patt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활용가능분야</a:t>
            </a:r>
            <a:endParaRPr lang="ko-K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view3D>
      <c:rotX val="50"/>
      <c:rotY val="0"/>
      <c:depthPercent val="100"/>
      <c:rAngAx val="0"/>
      <c:perspective val="6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1-9729-43BE-90EC-09EF4EF59F8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3-9729-43BE-90EC-09EF4EF59F8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5-9729-43BE-90EC-09EF4EF59F8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7-9729-43BE-90EC-09EF4EF59F8B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9-9729-43BE-90EC-09EF4EF59F8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Sheet1!$L$29:$L$33</c:f>
              <c:strCache>
                <c:ptCount val="5"/>
                <c:pt idx="0">
                  <c:v>상분석</c:v>
                </c:pt>
                <c:pt idx="1">
                  <c:v>결정구조 분석</c:v>
                </c:pt>
                <c:pt idx="2">
                  <c:v>우선 방위 분석</c:v>
                </c:pt>
                <c:pt idx="3">
                  <c:v>잔류응력 분석</c:v>
                </c:pt>
                <c:pt idx="4">
                  <c:v>기타</c:v>
                </c:pt>
              </c:strCache>
            </c:strRef>
          </c:cat>
          <c:val>
            <c:numRef>
              <c:f>Sheet1!$N$29:$N$33</c:f>
              <c:numCache>
                <c:formatCode>General</c:formatCode>
                <c:ptCount val="5"/>
                <c:pt idx="0">
                  <c:v>36</c:v>
                </c:pt>
                <c:pt idx="1">
                  <c:v>31</c:v>
                </c:pt>
                <c:pt idx="2">
                  <c:v>16</c:v>
                </c:pt>
                <c:pt idx="3">
                  <c:v>12</c:v>
                </c:pt>
                <c:pt idx="4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729-43BE-90EC-09EF4EF59F8B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alpha val="78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pattFill prst="dkDnDiag">
      <a:fgClr>
        <a:schemeClr val="lt1">
          <a:lumMod val="95000"/>
        </a:schemeClr>
      </a:fgClr>
      <a:bgClr>
        <a:schemeClr val="lt1"/>
      </a:bgClr>
    </a:patt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ko-KR" altLang="en-US"/>
              <a:t>구축 적절성</a:t>
            </a:r>
            <a:endParaRPr lang="ko-KR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title>
    <c:autoTitleDeleted val="0"/>
    <c:view3D>
      <c:rotX val="50"/>
      <c:rotY val="0"/>
      <c:depthPercent val="100"/>
      <c:rAngAx val="0"/>
      <c:perspective val="6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1-540E-413E-80FE-A87E4266013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3-540E-413E-80FE-A87E4266013A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5-540E-413E-80FE-A87E4266013A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7-540E-413E-80FE-A87E4266013A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88900" sx="102000" sy="102000" algn="ctr" rotWithShape="0">
                  <a:prstClr val="black">
                    <a:alpha val="20000"/>
                  </a:prstClr>
                </a:outerShdw>
              </a:effectLst>
              <a:scene3d>
                <a:camera prst="orthographicFront"/>
                <a:lightRig rig="threePt" dir="t"/>
              </a:scene3d>
              <a:sp3d prstMaterial="matte"/>
            </c:spPr>
            <c:extLst>
              <c:ext xmlns:c16="http://schemas.microsoft.com/office/drawing/2014/chart" uri="{C3380CC4-5D6E-409C-BE32-E72D297353CC}">
                <c16:uniqueId val="{00000009-540E-413E-80FE-A87E4266013A}"/>
              </c:ext>
            </c:extLst>
          </c:dPt>
          <c:dLbls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40E-413E-80FE-A87E4266013A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40E-413E-80FE-A87E4266013A}"/>
                </c:ext>
              </c:extLst>
            </c:dLbl>
            <c:dLbl>
              <c:idx val="4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40E-413E-80FE-A87E4266013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ko-KR"/>
              </a:p>
            </c:txPr>
            <c:dLblPos val="inEnd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dk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Sheet1!$L$36:$L$40</c:f>
              <c:strCache>
                <c:ptCount val="5"/>
                <c:pt idx="0">
                  <c:v>매우 적절함</c:v>
                </c:pt>
                <c:pt idx="1">
                  <c:v>적절함</c:v>
                </c:pt>
                <c:pt idx="2">
                  <c:v>보통임</c:v>
                </c:pt>
                <c:pt idx="3">
                  <c:v>적절하지 않음</c:v>
                </c:pt>
                <c:pt idx="4">
                  <c:v>매우 적절하지 않음</c:v>
                </c:pt>
              </c:strCache>
            </c:strRef>
          </c:cat>
          <c:val>
            <c:numRef>
              <c:f>Sheet1!$N$36:$N$40</c:f>
              <c:numCache>
                <c:formatCode>General</c:formatCode>
                <c:ptCount val="5"/>
                <c:pt idx="0">
                  <c:v>37</c:v>
                </c:pt>
                <c:pt idx="1">
                  <c:v>2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40E-413E-80FE-A87E4266013A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alpha val="78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ko-KR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pattFill prst="dkDnDiag">
      <a:fgClr>
        <a:schemeClr val="lt1">
          <a:lumMod val="95000"/>
        </a:schemeClr>
      </a:fgClr>
      <a:bgClr>
        <a:schemeClr val="lt1"/>
      </a:bgClr>
    </a:patt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61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categoryAxis>
  <cs:chartArea>
    <cs:lnRef idx="0"/>
    <cs:fillRef idx="0"/>
    <cs:effectRef idx="0"/>
    <cs:fontRef idx="minor">
      <a:schemeClr val="dk1"/>
    </cs:fontRef>
    <cs:spPr>
      <a:pattFill prst="dkDnDiag">
        <a:fgClr>
          <a:schemeClr val="lt1">
            <a:lumMod val="95000"/>
          </a:schemeClr>
        </a:fgClr>
        <a:bgClr>
          <a:schemeClr val="lt1"/>
        </a:bgClr>
      </a:patt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5000"/>
        </a:schemeClr>
      </a:solidFill>
      <a:ln w="9525"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317500" algn="ctr" rotWithShape="0">
          <a:prstClr val="black">
            <a:alpha val="25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88900" sx="102000" sy="102000" algn="ctr" rotWithShape="0">
          <a:prstClr val="black">
            <a:alpha val="20000"/>
          </a:prstClr>
        </a:outerShdw>
      </a:effectLst>
      <a:scene3d>
        <a:camera prst="orthographicFront"/>
        <a:lightRig rig="threePt" dir="t"/>
      </a:scene3d>
      <a:sp3d prstMaterial="matte"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noFill/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>
          <a:alpha val="78000"/>
        </a:schemeClr>
      </a:solidFill>
    </cs:spPr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889938" cy="496411"/>
          </a:xfrm>
          <a:prstGeom prst="rect">
            <a:avLst/>
          </a:prstGeom>
        </p:spPr>
        <p:txBody>
          <a:bodyPr vert="horz" lIns="90721" tIns="45360" rIns="90721" bIns="45360" rtlCol="0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777609" y="1"/>
            <a:ext cx="2889938" cy="496411"/>
          </a:xfrm>
          <a:prstGeom prst="rect">
            <a:avLst/>
          </a:prstGeom>
        </p:spPr>
        <p:txBody>
          <a:bodyPr vert="horz" lIns="90721" tIns="45360" rIns="90721" bIns="45360" rtlCol="0"/>
          <a:lstStyle>
            <a:lvl1pPr algn="r">
              <a:defRPr sz="1100"/>
            </a:lvl1pPr>
          </a:lstStyle>
          <a:p>
            <a:fld id="{8E4BF0FD-BB12-4622-97E2-976EBF9E08A1}" type="datetimeFigureOut">
              <a:rPr lang="ko-KR" altLang="en-US" smtClean="0"/>
              <a:pPr/>
              <a:t>2021-08-13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854075" y="744538"/>
            <a:ext cx="4960938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21" tIns="45360" rIns="90721" bIns="4536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66909" y="4715908"/>
            <a:ext cx="5335270" cy="4467701"/>
          </a:xfrm>
          <a:prstGeom prst="rect">
            <a:avLst/>
          </a:prstGeom>
        </p:spPr>
        <p:txBody>
          <a:bodyPr vert="horz" lIns="90721" tIns="45360" rIns="90721" bIns="4536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2" y="9430091"/>
            <a:ext cx="2889938" cy="496411"/>
          </a:xfrm>
          <a:prstGeom prst="rect">
            <a:avLst/>
          </a:prstGeom>
        </p:spPr>
        <p:txBody>
          <a:bodyPr vert="horz" lIns="90721" tIns="45360" rIns="90721" bIns="45360" rtlCol="0" anchor="b"/>
          <a:lstStyle>
            <a:lvl1pPr algn="l">
              <a:defRPr sz="11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777609" y="9430091"/>
            <a:ext cx="2889938" cy="496411"/>
          </a:xfrm>
          <a:prstGeom prst="rect">
            <a:avLst/>
          </a:prstGeom>
        </p:spPr>
        <p:txBody>
          <a:bodyPr vert="horz" lIns="90721" tIns="45360" rIns="90721" bIns="45360" rtlCol="0" anchor="b"/>
          <a:lstStyle>
            <a:lvl1pPr algn="r">
              <a:defRPr sz="1100"/>
            </a:lvl1pPr>
          </a:lstStyle>
          <a:p>
            <a:fld id="{84B391F6-C4AA-44F2-A496-BA2047C24199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191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96286A2-3C37-4575-820C-79F49E177F09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769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2021-08-13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2021-08-13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2021-08-13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2021-08-13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2021-08-13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2021-08-13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2021-08-13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2021-08-13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2021-08-13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11A2A-92DB-4B66-A04A-FB21F3E2483C}" type="datetimeFigureOut">
              <a:rPr lang="ko-KR" altLang="en-US" smtClean="0"/>
              <a:pPr/>
              <a:t>2021-08-13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77" b="4456"/>
          <a:stretch>
            <a:fillRect/>
          </a:stretch>
        </p:blipFill>
        <p:spPr>
          <a:xfrm>
            <a:off x="0" y="6564428"/>
            <a:ext cx="9144000" cy="45719"/>
          </a:xfrm>
          <a:prstGeom prst="rect">
            <a:avLst/>
          </a:prstGeom>
        </p:spPr>
      </p:pic>
      <p:pic>
        <p:nvPicPr>
          <p:cNvPr id="6" name="그림 5" descr="배경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Picture 6" descr="D:\Bakcup_100316\바탕 화면\[엔팩]\엔팩's\PT작업\소스's\bg1_0a.png"/>
          <p:cNvPicPr>
            <a:picLocks noChangeAspect="1" noChangeArrowheads="1"/>
          </p:cNvPicPr>
          <p:nvPr userDrawn="1"/>
        </p:nvPicPr>
        <p:blipFill>
          <a:blip r:embed="rId4" cstate="print"/>
          <a:srcRect t="41811"/>
          <a:stretch>
            <a:fillRect/>
          </a:stretch>
        </p:blipFill>
        <p:spPr bwMode="auto">
          <a:xfrm>
            <a:off x="0" y="2846387"/>
            <a:ext cx="9144000" cy="3993247"/>
          </a:xfrm>
          <a:prstGeom prst="rect">
            <a:avLst/>
          </a:prstGeom>
          <a:noFill/>
        </p:spPr>
      </p:pic>
      <p:pic>
        <p:nvPicPr>
          <p:cNvPr id="16" name="Picture 3" descr="kbsibt-1"/>
          <p:cNvPicPr>
            <a:picLocks noChangeAspect="1" noChangeArrowheads="1"/>
          </p:cNvPicPr>
          <p:nvPr userDrawn="1"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42875" y="160325"/>
            <a:ext cx="8858250" cy="730250"/>
          </a:xfrm>
          <a:prstGeom prst="rect">
            <a:avLst/>
          </a:prstGeom>
        </p:spPr>
      </p:pic>
      <p:pic>
        <p:nvPicPr>
          <p:cNvPr id="8" name="Picture 2" descr="D:\Bakcup_100316\바탕 화면\[엔팩]\[홍보]\엔팩 CI\Logo-png\국문-2.png"/>
          <p:cNvPicPr>
            <a:picLocks noChangeAspect="1" noChangeArrowheads="1"/>
          </p:cNvPicPr>
          <p:nvPr userDrawn="1"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35496" y="6465904"/>
            <a:ext cx="2376389" cy="347472"/>
          </a:xfrm>
          <a:prstGeom prst="rect">
            <a:avLst/>
          </a:prstGeom>
          <a:noFill/>
        </p:spPr>
      </p:pic>
      <p:sp>
        <p:nvSpPr>
          <p:cNvPr id="10" name="슬라이드 번호 개체 틀 5"/>
          <p:cNvSpPr txBox="1">
            <a:spLocks/>
          </p:cNvSpPr>
          <p:nvPr userDrawn="1"/>
        </p:nvSpPr>
        <p:spPr>
          <a:xfrm>
            <a:off x="2281833" y="6453336"/>
            <a:ext cx="5619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 b="1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D46430-F91F-4F01-9FEC-29DFA57BA1B0}" type="slidenum">
              <a:rPr kumimoji="0" lang="ko-KR" altLang="en-US" sz="1200" b="1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자유형 10"/>
          <p:cNvSpPr/>
          <p:nvPr userDrawn="1"/>
        </p:nvSpPr>
        <p:spPr>
          <a:xfrm>
            <a:off x="214282" y="928670"/>
            <a:ext cx="8715436" cy="5429288"/>
          </a:xfrm>
          <a:custGeom>
            <a:avLst/>
            <a:gdLst>
              <a:gd name="connsiteX0" fmla="*/ 0 w 8429684"/>
              <a:gd name="connsiteY0" fmla="*/ 92830 h 3921861"/>
              <a:gd name="connsiteX1" fmla="*/ 27189 w 8429684"/>
              <a:gd name="connsiteY1" fmla="*/ 27189 h 3921861"/>
              <a:gd name="connsiteX2" fmla="*/ 92830 w 8429684"/>
              <a:gd name="connsiteY2" fmla="*/ 0 h 3921861"/>
              <a:gd name="connsiteX3" fmla="*/ 8336854 w 8429684"/>
              <a:gd name="connsiteY3" fmla="*/ 0 h 3921861"/>
              <a:gd name="connsiteX4" fmla="*/ 8402495 w 8429684"/>
              <a:gd name="connsiteY4" fmla="*/ 27189 h 3921861"/>
              <a:gd name="connsiteX5" fmla="*/ 8429684 w 8429684"/>
              <a:gd name="connsiteY5" fmla="*/ 92830 h 3921861"/>
              <a:gd name="connsiteX6" fmla="*/ 8429684 w 8429684"/>
              <a:gd name="connsiteY6" fmla="*/ 3829031 h 3921861"/>
              <a:gd name="connsiteX7" fmla="*/ 8402495 w 8429684"/>
              <a:gd name="connsiteY7" fmla="*/ 3894672 h 3921861"/>
              <a:gd name="connsiteX8" fmla="*/ 8336854 w 8429684"/>
              <a:gd name="connsiteY8" fmla="*/ 3921861 h 3921861"/>
              <a:gd name="connsiteX9" fmla="*/ 92830 w 8429684"/>
              <a:gd name="connsiteY9" fmla="*/ 3921861 h 3921861"/>
              <a:gd name="connsiteX10" fmla="*/ 27189 w 8429684"/>
              <a:gd name="connsiteY10" fmla="*/ 3894672 h 3921861"/>
              <a:gd name="connsiteX11" fmla="*/ 0 w 8429684"/>
              <a:gd name="connsiteY11" fmla="*/ 3829031 h 3921861"/>
              <a:gd name="connsiteX12" fmla="*/ 0 w 8429684"/>
              <a:gd name="connsiteY12" fmla="*/ 92830 h 3921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429684" h="3921861">
                <a:moveTo>
                  <a:pt x="0" y="92830"/>
                </a:moveTo>
                <a:cubicBezTo>
                  <a:pt x="0" y="68210"/>
                  <a:pt x="9780" y="44598"/>
                  <a:pt x="27189" y="27189"/>
                </a:cubicBezTo>
                <a:cubicBezTo>
                  <a:pt x="44598" y="9780"/>
                  <a:pt x="68210" y="0"/>
                  <a:pt x="92830" y="0"/>
                </a:cubicBezTo>
                <a:lnTo>
                  <a:pt x="8336854" y="0"/>
                </a:lnTo>
                <a:cubicBezTo>
                  <a:pt x="8361474" y="0"/>
                  <a:pt x="8385086" y="9780"/>
                  <a:pt x="8402495" y="27189"/>
                </a:cubicBezTo>
                <a:cubicBezTo>
                  <a:pt x="8419904" y="44598"/>
                  <a:pt x="8429684" y="68210"/>
                  <a:pt x="8429684" y="92830"/>
                </a:cubicBezTo>
                <a:lnTo>
                  <a:pt x="8429684" y="3829031"/>
                </a:lnTo>
                <a:cubicBezTo>
                  <a:pt x="8429684" y="3853651"/>
                  <a:pt x="8419904" y="3877263"/>
                  <a:pt x="8402495" y="3894672"/>
                </a:cubicBezTo>
                <a:cubicBezTo>
                  <a:pt x="8385086" y="3912081"/>
                  <a:pt x="8361474" y="3921861"/>
                  <a:pt x="8336854" y="3921861"/>
                </a:cubicBezTo>
                <a:lnTo>
                  <a:pt x="92830" y="3921861"/>
                </a:lnTo>
                <a:cubicBezTo>
                  <a:pt x="68210" y="3921861"/>
                  <a:pt x="44598" y="3912081"/>
                  <a:pt x="27189" y="3894672"/>
                </a:cubicBezTo>
                <a:cubicBezTo>
                  <a:pt x="9780" y="3877263"/>
                  <a:pt x="0" y="3853651"/>
                  <a:pt x="0" y="3829031"/>
                </a:cubicBezTo>
                <a:lnTo>
                  <a:pt x="0" y="928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77" b="4456"/>
          <a:stretch>
            <a:fillRect/>
          </a:stretch>
        </p:blipFill>
        <p:spPr>
          <a:xfrm>
            <a:off x="0" y="6564428"/>
            <a:ext cx="9144000" cy="45719"/>
          </a:xfrm>
          <a:prstGeom prst="rect">
            <a:avLst/>
          </a:prstGeom>
        </p:spPr>
      </p:pic>
      <p:pic>
        <p:nvPicPr>
          <p:cNvPr id="6" name="그림 5" descr="배경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Picture 6" descr="D:\Bakcup_100316\바탕 화면\[엔팩]\엔팩's\PT작업\소스's\bg1_0a.png"/>
          <p:cNvPicPr>
            <a:picLocks noChangeAspect="1" noChangeArrowheads="1"/>
          </p:cNvPicPr>
          <p:nvPr userDrawn="1"/>
        </p:nvPicPr>
        <p:blipFill>
          <a:blip r:embed="rId4" cstate="print"/>
          <a:srcRect t="41811"/>
          <a:stretch>
            <a:fillRect/>
          </a:stretch>
        </p:blipFill>
        <p:spPr bwMode="auto">
          <a:xfrm>
            <a:off x="0" y="2846387"/>
            <a:ext cx="9144000" cy="3993247"/>
          </a:xfrm>
          <a:prstGeom prst="rect">
            <a:avLst/>
          </a:prstGeom>
          <a:noFill/>
        </p:spPr>
      </p:pic>
      <p:sp>
        <p:nvSpPr>
          <p:cNvPr id="11" name="자유형 10"/>
          <p:cNvSpPr/>
          <p:nvPr userDrawn="1"/>
        </p:nvSpPr>
        <p:spPr>
          <a:xfrm>
            <a:off x="214282" y="214290"/>
            <a:ext cx="8715436" cy="6143668"/>
          </a:xfrm>
          <a:custGeom>
            <a:avLst/>
            <a:gdLst>
              <a:gd name="connsiteX0" fmla="*/ 0 w 8429684"/>
              <a:gd name="connsiteY0" fmla="*/ 92830 h 3921861"/>
              <a:gd name="connsiteX1" fmla="*/ 27189 w 8429684"/>
              <a:gd name="connsiteY1" fmla="*/ 27189 h 3921861"/>
              <a:gd name="connsiteX2" fmla="*/ 92830 w 8429684"/>
              <a:gd name="connsiteY2" fmla="*/ 0 h 3921861"/>
              <a:gd name="connsiteX3" fmla="*/ 8336854 w 8429684"/>
              <a:gd name="connsiteY3" fmla="*/ 0 h 3921861"/>
              <a:gd name="connsiteX4" fmla="*/ 8402495 w 8429684"/>
              <a:gd name="connsiteY4" fmla="*/ 27189 h 3921861"/>
              <a:gd name="connsiteX5" fmla="*/ 8429684 w 8429684"/>
              <a:gd name="connsiteY5" fmla="*/ 92830 h 3921861"/>
              <a:gd name="connsiteX6" fmla="*/ 8429684 w 8429684"/>
              <a:gd name="connsiteY6" fmla="*/ 3829031 h 3921861"/>
              <a:gd name="connsiteX7" fmla="*/ 8402495 w 8429684"/>
              <a:gd name="connsiteY7" fmla="*/ 3894672 h 3921861"/>
              <a:gd name="connsiteX8" fmla="*/ 8336854 w 8429684"/>
              <a:gd name="connsiteY8" fmla="*/ 3921861 h 3921861"/>
              <a:gd name="connsiteX9" fmla="*/ 92830 w 8429684"/>
              <a:gd name="connsiteY9" fmla="*/ 3921861 h 3921861"/>
              <a:gd name="connsiteX10" fmla="*/ 27189 w 8429684"/>
              <a:gd name="connsiteY10" fmla="*/ 3894672 h 3921861"/>
              <a:gd name="connsiteX11" fmla="*/ 0 w 8429684"/>
              <a:gd name="connsiteY11" fmla="*/ 3829031 h 3921861"/>
              <a:gd name="connsiteX12" fmla="*/ 0 w 8429684"/>
              <a:gd name="connsiteY12" fmla="*/ 92830 h 3921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8429684" h="3921861">
                <a:moveTo>
                  <a:pt x="0" y="92830"/>
                </a:moveTo>
                <a:cubicBezTo>
                  <a:pt x="0" y="68210"/>
                  <a:pt x="9780" y="44598"/>
                  <a:pt x="27189" y="27189"/>
                </a:cubicBezTo>
                <a:cubicBezTo>
                  <a:pt x="44598" y="9780"/>
                  <a:pt x="68210" y="0"/>
                  <a:pt x="92830" y="0"/>
                </a:cubicBezTo>
                <a:lnTo>
                  <a:pt x="8336854" y="0"/>
                </a:lnTo>
                <a:cubicBezTo>
                  <a:pt x="8361474" y="0"/>
                  <a:pt x="8385086" y="9780"/>
                  <a:pt x="8402495" y="27189"/>
                </a:cubicBezTo>
                <a:cubicBezTo>
                  <a:pt x="8419904" y="44598"/>
                  <a:pt x="8429684" y="68210"/>
                  <a:pt x="8429684" y="92830"/>
                </a:cubicBezTo>
                <a:lnTo>
                  <a:pt x="8429684" y="3829031"/>
                </a:lnTo>
                <a:cubicBezTo>
                  <a:pt x="8429684" y="3853651"/>
                  <a:pt x="8419904" y="3877263"/>
                  <a:pt x="8402495" y="3894672"/>
                </a:cubicBezTo>
                <a:cubicBezTo>
                  <a:pt x="8385086" y="3912081"/>
                  <a:pt x="8361474" y="3921861"/>
                  <a:pt x="8336854" y="3921861"/>
                </a:cubicBezTo>
                <a:lnTo>
                  <a:pt x="92830" y="3921861"/>
                </a:lnTo>
                <a:cubicBezTo>
                  <a:pt x="68210" y="3921861"/>
                  <a:pt x="44598" y="3912081"/>
                  <a:pt x="27189" y="3894672"/>
                </a:cubicBezTo>
                <a:cubicBezTo>
                  <a:pt x="9780" y="3877263"/>
                  <a:pt x="0" y="3853651"/>
                  <a:pt x="0" y="3829031"/>
                </a:cubicBezTo>
                <a:lnTo>
                  <a:pt x="0" y="928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TextBox 8"/>
          <p:cNvSpPr txBox="1"/>
          <p:nvPr userDrawn="1"/>
        </p:nvSpPr>
        <p:spPr>
          <a:xfrm>
            <a:off x="7929586" y="6557009"/>
            <a:ext cx="7292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29FC358-0B6B-4F76-85D3-809AC531D34F}" type="slidenum">
              <a:rPr lang="ko-KR" altLang="en-US" sz="1200" b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‹#›</a:t>
            </a:fld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8507301" y="6581723"/>
            <a:ext cx="7292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 30</a:t>
            </a:r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77" b="4456"/>
          <a:stretch>
            <a:fillRect/>
          </a:stretch>
        </p:blipFill>
        <p:spPr>
          <a:xfrm>
            <a:off x="0" y="6564428"/>
            <a:ext cx="9144000" cy="45719"/>
          </a:xfrm>
          <a:prstGeom prst="rect">
            <a:avLst/>
          </a:prstGeom>
        </p:spPr>
      </p:pic>
      <p:pic>
        <p:nvPicPr>
          <p:cNvPr id="6" name="그림 5" descr="배경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Picture 6" descr="D:\Bakcup_100316\바탕 화면\[엔팩]\엔팩's\PT작업\소스's\bg1_0a.png"/>
          <p:cNvPicPr>
            <a:picLocks noChangeAspect="1" noChangeArrowheads="1"/>
          </p:cNvPicPr>
          <p:nvPr userDrawn="1"/>
        </p:nvPicPr>
        <p:blipFill>
          <a:blip r:embed="rId4" cstate="print"/>
          <a:srcRect t="41811"/>
          <a:stretch>
            <a:fillRect/>
          </a:stretch>
        </p:blipFill>
        <p:spPr bwMode="auto">
          <a:xfrm>
            <a:off x="0" y="2846387"/>
            <a:ext cx="9144000" cy="3993247"/>
          </a:xfrm>
          <a:prstGeom prst="rect">
            <a:avLst/>
          </a:prstGeom>
          <a:noFill/>
        </p:spPr>
      </p:pic>
      <p:sp>
        <p:nvSpPr>
          <p:cNvPr id="9" name="TextBox 8"/>
          <p:cNvSpPr txBox="1"/>
          <p:nvPr userDrawn="1"/>
        </p:nvSpPr>
        <p:spPr>
          <a:xfrm>
            <a:off x="7929586" y="6557009"/>
            <a:ext cx="7292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29FC358-0B6B-4F76-85D3-809AC531D34F}" type="slidenum">
              <a:rPr lang="ko-KR" altLang="en-US" sz="1200" b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‹#›</a:t>
            </a:fld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8507301" y="6581723"/>
            <a:ext cx="7292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 30</a:t>
            </a:r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빈페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77" b="4456"/>
          <a:stretch>
            <a:fillRect/>
          </a:stretch>
        </p:blipFill>
        <p:spPr>
          <a:xfrm>
            <a:off x="0" y="6564428"/>
            <a:ext cx="9144000" cy="45719"/>
          </a:xfrm>
          <a:prstGeom prst="rect">
            <a:avLst/>
          </a:prstGeom>
        </p:spPr>
      </p:pic>
      <p:pic>
        <p:nvPicPr>
          <p:cNvPr id="6" name="그림 5" descr="배경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7" name="Picture 6" descr="D:\Bakcup_100316\바탕 화면\[엔팩]\엔팩's\PT작업\소스's\bg1_0a.png"/>
          <p:cNvPicPr>
            <a:picLocks noChangeAspect="1" noChangeArrowheads="1"/>
          </p:cNvPicPr>
          <p:nvPr userDrawn="1"/>
        </p:nvPicPr>
        <p:blipFill>
          <a:blip r:embed="rId4" cstate="print"/>
          <a:srcRect t="41811"/>
          <a:stretch>
            <a:fillRect/>
          </a:stretch>
        </p:blipFill>
        <p:spPr bwMode="auto">
          <a:xfrm>
            <a:off x="0" y="2846387"/>
            <a:ext cx="9144000" cy="3993247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커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 l="5914" t="11510" r="57826" b="30324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53"/>
          <p:cNvPicPr>
            <a:picLocks noChangeAspect="1" noChangeArrowheads="1"/>
          </p:cNvPicPr>
          <p:nvPr userDrawn="1"/>
        </p:nvPicPr>
        <p:blipFill>
          <a:blip r:embed="rId2" cstate="print"/>
          <a:srcRect t="85251"/>
          <a:stretch>
            <a:fillRect/>
          </a:stretch>
        </p:blipFill>
        <p:spPr bwMode="auto">
          <a:xfrm>
            <a:off x="-108520" y="4644898"/>
            <a:ext cx="9252520" cy="219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직사각형 5"/>
          <p:cNvSpPr/>
          <p:nvPr userDrawn="1"/>
        </p:nvSpPr>
        <p:spPr>
          <a:xfrm>
            <a:off x="0" y="2276872"/>
            <a:ext cx="9144000" cy="23762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Picture 3" descr="D:\[엔팩]\엔팩's\PT작업\소스's\ppt 템플릿\BG\line.png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-571424" y="2852936"/>
            <a:ext cx="10177268" cy="1285875"/>
          </a:xfrm>
          <a:prstGeom prst="rect">
            <a:avLst/>
          </a:prstGeom>
          <a:noFill/>
        </p:spPr>
      </p:pic>
      <p:pic>
        <p:nvPicPr>
          <p:cNvPr id="10" name="Picture 2" descr="53"/>
          <p:cNvPicPr>
            <a:picLocks noChangeAspect="1" noChangeArrowheads="1"/>
          </p:cNvPicPr>
          <p:nvPr userDrawn="1"/>
        </p:nvPicPr>
        <p:blipFill>
          <a:blip r:embed="rId2" cstate="print"/>
          <a:srcRect t="85251"/>
          <a:stretch>
            <a:fillRect/>
          </a:stretch>
        </p:blipFill>
        <p:spPr bwMode="auto">
          <a:xfrm>
            <a:off x="-108520" y="2284013"/>
            <a:ext cx="9252520" cy="219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57439" y="114571"/>
            <a:ext cx="6829444" cy="582594"/>
          </a:xfrm>
        </p:spPr>
        <p:txBody>
          <a:bodyPr>
            <a:noAutofit/>
          </a:bodyPr>
          <a:lstStyle>
            <a:lvl1pPr algn="l">
              <a:defRPr sz="4000">
                <a:solidFill>
                  <a:schemeClr val="bg1"/>
                </a:solidFill>
                <a:latin typeface="HY헤드라인M" pitchFamily="18" charset="-127"/>
                <a:ea typeface="HY헤드라인M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7010400" y="0"/>
            <a:ext cx="2133600" cy="365125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D0062A5C-BB22-4DBE-ADD1-3FE35BB72D85}" type="slidenum">
              <a:rPr lang="ko-KR" altLang="en-US" smtClean="0"/>
              <a:pPr/>
              <a:t>‹#›</a:t>
            </a:fld>
            <a:endParaRPr lang="ko-KR" altLang="en-US"/>
          </a:p>
        </p:txBody>
      </p:sp>
      <p:pic>
        <p:nvPicPr>
          <p:cNvPr id="6" name="그림 7" descr="슬로건_w.png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72313" y="6402388"/>
            <a:ext cx="202882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 userDrawn="1"/>
        </p:nvSpPr>
        <p:spPr>
          <a:xfrm>
            <a:off x="7929586" y="6557009"/>
            <a:ext cx="7292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29FC358-0B6B-4F76-85D3-809AC531D34F}" type="slidenum">
              <a:rPr lang="ko-KR" altLang="en-US" sz="1200" b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‹#›</a:t>
            </a:fld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TextBox 9"/>
          <p:cNvSpPr txBox="1"/>
          <p:nvPr userDrawn="1"/>
        </p:nvSpPr>
        <p:spPr>
          <a:xfrm>
            <a:off x="8507301" y="6581723"/>
            <a:ext cx="7292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 30</a:t>
            </a:r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_b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master2.jpg"/>
          <p:cNvPicPr>
            <a:picLocks noChangeAspect="1"/>
          </p:cNvPicPr>
          <p:nvPr userDrawn="1"/>
        </p:nvPicPr>
        <p:blipFill>
          <a:blip r:embed="rId2" cstate="print"/>
          <a:srcRect l="290" r="290" b="206"/>
          <a:stretch>
            <a:fillRect/>
          </a:stretch>
        </p:blipFill>
        <p:spPr>
          <a:xfrm>
            <a:off x="-82378" y="-65314"/>
            <a:ext cx="9308756" cy="698509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중점추진과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77" b="4456"/>
          <a:stretch>
            <a:fillRect/>
          </a:stretch>
        </p:blipFill>
        <p:spPr>
          <a:xfrm>
            <a:off x="0" y="6523968"/>
            <a:ext cx="9144000" cy="45719"/>
          </a:xfrm>
          <a:prstGeom prst="rect">
            <a:avLst/>
          </a:prstGeom>
        </p:spPr>
      </p:pic>
      <p:sp>
        <p:nvSpPr>
          <p:cNvPr id="11" name="TextBox 10"/>
          <p:cNvSpPr txBox="1"/>
          <p:nvPr userDrawn="1"/>
        </p:nvSpPr>
        <p:spPr>
          <a:xfrm>
            <a:off x="3892380" y="6557009"/>
            <a:ext cx="7292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29FC358-0B6B-4F76-85D3-809AC531D34F}" type="slidenum">
              <a:rPr lang="ko-KR" altLang="en-US" sz="1200" b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‹#›</a:t>
            </a:fld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 userDrawn="1"/>
        </p:nvSpPr>
        <p:spPr>
          <a:xfrm>
            <a:off x="4470095" y="6581723"/>
            <a:ext cx="7292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 19</a:t>
            </a:r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6" name="그림 5" descr="마스터.png"/>
          <p:cNvPicPr>
            <a:picLocks noChangeAspect="1"/>
          </p:cNvPicPr>
          <p:nvPr userDrawn="1"/>
        </p:nvPicPr>
        <p:blipFill>
          <a:blip r:embed="rId3" cstate="print"/>
          <a:srcRect r="16138" b="53150"/>
          <a:stretch>
            <a:fillRect/>
          </a:stretch>
        </p:blipFill>
        <p:spPr>
          <a:xfrm>
            <a:off x="0" y="0"/>
            <a:ext cx="9144000" cy="3212976"/>
          </a:xfrm>
          <a:prstGeom prst="rect">
            <a:avLst/>
          </a:prstGeom>
        </p:spPr>
      </p:pic>
      <p:sp>
        <p:nvSpPr>
          <p:cNvPr id="110594" name="Rectangle 2"/>
          <p:cNvSpPr>
            <a:spLocks noChangeArrowheads="1"/>
          </p:cNvSpPr>
          <p:nvPr userDrawn="1"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중점추진과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마스터.png"/>
          <p:cNvPicPr>
            <a:picLocks noChangeAspect="1"/>
          </p:cNvPicPr>
          <p:nvPr userDrawn="1"/>
        </p:nvPicPr>
        <p:blipFill>
          <a:blip r:embed="rId2" cstate="print"/>
          <a:srcRect r="16138" b="53150"/>
          <a:stretch>
            <a:fillRect/>
          </a:stretch>
        </p:blipFill>
        <p:spPr>
          <a:xfrm>
            <a:off x="0" y="0"/>
            <a:ext cx="9144000" cy="3212976"/>
          </a:xfrm>
          <a:prstGeom prst="rect">
            <a:avLst/>
          </a:prstGeom>
        </p:spPr>
      </p:pic>
      <p:sp>
        <p:nvSpPr>
          <p:cNvPr id="3" name="TextBox 2"/>
          <p:cNvSpPr txBox="1"/>
          <p:nvPr userDrawn="1"/>
        </p:nvSpPr>
        <p:spPr>
          <a:xfrm>
            <a:off x="7929586" y="6557009"/>
            <a:ext cx="7292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629FC358-0B6B-4F76-85D3-809AC531D34F}" type="slidenum">
              <a:rPr lang="ko-KR" altLang="en-US" sz="1200" b="1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r"/>
              <a:t>‹#›</a:t>
            </a:fld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8507301" y="6581723"/>
            <a:ext cx="72925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/ 27</a:t>
            </a:r>
            <a:endParaRPr lang="ko-KR" altLang="en-US" sz="700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중점추진과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마스터.png"/>
          <p:cNvPicPr>
            <a:picLocks noChangeAspect="1"/>
          </p:cNvPicPr>
          <p:nvPr userDrawn="1"/>
        </p:nvPicPr>
        <p:blipFill>
          <a:blip r:embed="rId2" cstate="print"/>
          <a:srcRect r="16138" b="53150"/>
          <a:stretch>
            <a:fillRect/>
          </a:stretch>
        </p:blipFill>
        <p:spPr>
          <a:xfrm>
            <a:off x="0" y="0"/>
            <a:ext cx="9144000" cy="32129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 l="31468" t="11510" r="59113" b="8719"/>
          <a:stretch>
            <a:fillRect/>
          </a:stretch>
        </p:blipFill>
        <p:spPr bwMode="auto">
          <a:xfrm>
            <a:off x="6768752" y="0"/>
            <a:ext cx="237524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2" descr="53"/>
          <p:cNvPicPr>
            <a:picLocks noChangeAspect="1" noChangeArrowheads="1"/>
          </p:cNvPicPr>
          <p:nvPr userDrawn="1"/>
        </p:nvPicPr>
        <p:blipFill>
          <a:blip r:embed="rId3" cstate="print"/>
          <a:srcRect t="85251"/>
          <a:stretch>
            <a:fillRect/>
          </a:stretch>
        </p:blipFill>
        <p:spPr bwMode="auto">
          <a:xfrm rot="16200000">
            <a:off x="3449326" y="3319426"/>
            <a:ext cx="6858000" cy="2191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2DAD2B6-3D88-40AC-8B27-77E60855EFE7}" type="datetimeFigureOut">
              <a:rPr lang="ko-KR" altLang="en-US"/>
              <a:pPr/>
              <a:t>2021-08-13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698E8F-1708-42D0-A125-A57D68DBF0A3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97BE01-1F18-46F5-A3F2-688B23DB0186}" type="datetimeFigureOut">
              <a:rPr lang="ko-KR" altLang="en-US"/>
              <a:pPr/>
              <a:t>2021-08-13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F62A5F5-E794-4469-B1A3-7A8B28E5C9EE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D3E8C6-D90E-4D5C-A2C4-BA8DB504401A}" type="datetimeFigureOut">
              <a:rPr lang="ko-KR" altLang="en-US"/>
              <a:pPr/>
              <a:t>2021-08-13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262D9B-6A6B-42DB-AD54-5DD13871716E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822BF61-DDF5-494C-A9DD-258F5C5E0A66}" type="datetimeFigureOut">
              <a:rPr lang="ko-KR" altLang="en-US"/>
              <a:pPr/>
              <a:t>2021-08-13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45FB91-7D21-4836-BAA7-F10CF9D8D485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B936C5D-C212-4102-9A22-6F6C052CF063}" type="datetimeFigureOut">
              <a:rPr lang="ko-KR" altLang="en-US"/>
              <a:pPr/>
              <a:t>2021-08-13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3D8C82-BBED-4D53-A8C1-6251F13FA598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7A4260-E6D5-4FE6-AEBD-ADBDEBD818B3}" type="datetimeFigureOut">
              <a:rPr lang="ko-KR" altLang="en-US"/>
              <a:pPr/>
              <a:t>2021-08-13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34D77C5-5C02-4D19-BAC0-0560D3BDBF4E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6722DF8-7D69-428B-80C3-C740C8579AE1}" type="datetimeFigureOut">
              <a:rPr lang="ko-KR" altLang="en-US"/>
              <a:pPr/>
              <a:t>2021-08-13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AD18E8-FCD4-4E7D-90CB-085F12F0C4B8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0EFF062-1190-4E49-B938-C66660DA73CA}" type="datetimeFigureOut">
              <a:rPr lang="ko-KR" altLang="en-US"/>
              <a:pPr/>
              <a:t>2021-08-13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8B0AFD-7650-4FAE-B6C3-3FBF48F3CC4B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B6F49D3-15A1-4FB4-8525-1F28665E4072}" type="datetimeFigureOut">
              <a:rPr lang="ko-KR" altLang="en-US"/>
              <a:pPr/>
              <a:t>2021-08-13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F6DAA6-B5CB-4531-9C6F-47AC75BAA284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D24A7ED-3625-4702-9B4B-536478883156}" type="datetimeFigureOut">
              <a:rPr lang="ko-KR" altLang="en-US"/>
              <a:pPr/>
              <a:t>2021-08-13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65D0E86-6564-4C2B-BC55-46DCB6B810F2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2733A85-C916-4682-9CD8-7C4D8AEEDFCB}" type="datetimeFigureOut">
              <a:rPr lang="ko-KR" altLang="en-US"/>
              <a:pPr/>
              <a:t>2021-08-13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CAA932-F2EE-4E9E-8D7D-9B436D46EB89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3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4.jpe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15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16.jpe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D11A2A-92DB-4B66-A04A-FB21F3E2483C}" type="datetimeFigureOut">
              <a:rPr lang="ko-KR" altLang="en-US" smtClean="0"/>
              <a:pPr/>
              <a:t>2021-08-13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3040C5-2E56-435A-B124-FB93DB55D99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7" r:id="rId12"/>
    <p:sldLayoutId id="2147483664" r:id="rId13"/>
    <p:sldLayoutId id="2147483663" r:id="rId14"/>
    <p:sldLayoutId id="2147483661" r:id="rId15"/>
    <p:sldLayoutId id="2147483665" r:id="rId16"/>
    <p:sldLayoutId id="2147483666" r:id="rId17"/>
    <p:sldLayoutId id="2147483668" r:id="rId18"/>
    <p:sldLayoutId id="2147483669" r:id="rId19"/>
    <p:sldLayoutId id="2147483671" r:id="rId20"/>
    <p:sldLayoutId id="2147483672" r:id="rId21"/>
    <p:sldLayoutId id="2147483670" r:id="rId22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>
                <a:solidFill>
                  <a:srgbClr val="898989"/>
                </a:solidFill>
                <a:latin typeface="맑은 고딕"/>
              </a:defRPr>
            </a:lvl1pPr>
          </a:lstStyle>
          <a:p>
            <a:fld id="{0A63DA9F-87E7-4323-8A95-A7876770F730}" type="datetimeFigureOut">
              <a:rPr lang="ko-KR" altLang="en-US"/>
              <a:pPr/>
              <a:t>2021-08-13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200">
                <a:solidFill>
                  <a:srgbClr val="898989"/>
                </a:solidFill>
                <a:latin typeface="맑은 고딕"/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200">
                <a:solidFill>
                  <a:srgbClr val="898989"/>
                </a:solidFill>
                <a:latin typeface="맑은 고딕"/>
              </a:defRPr>
            </a:lvl1pPr>
          </a:lstStyle>
          <a:p>
            <a:fld id="{08C3D03A-C725-45C6-85FF-40FA60568616}" type="slidenum">
              <a:rPr lang="ko-KR" altLang="en-US"/>
              <a:pPr/>
              <a:t>‹#›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877" b="4456"/>
          <a:stretch>
            <a:fillRect/>
          </a:stretch>
        </p:blipFill>
        <p:spPr>
          <a:xfrm>
            <a:off x="-323882" y="-23813"/>
            <a:ext cx="9772682" cy="10001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맑은 고딕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  <a:cs typeface="맑은 고딕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  <a:cs typeface="맑은 고딕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  <a:cs typeface="맑은 고딕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  <a:cs typeface="맑은 고딕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맑은 고딕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맑은 고딕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맑은 고딕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맑은 고딕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맑은 고딕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ub3"/>
          <p:cNvPicPr>
            <a:picLocks noChangeAspect="1" noChangeArrowheads="1"/>
          </p:cNvPicPr>
          <p:nvPr userDrawn="1"/>
        </p:nvPicPr>
        <p:blipFill>
          <a:blip r:embed="rId13" cstate="print"/>
          <a:srcRect b="19872"/>
          <a:stretch>
            <a:fillRect/>
          </a:stretch>
        </p:blipFill>
        <p:spPr bwMode="auto">
          <a:xfrm>
            <a:off x="0" y="-17145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568" descr="빛"/>
          <p:cNvPicPr>
            <a:picLocks noChangeAspect="1" noChangeArrowheads="1"/>
          </p:cNvPicPr>
          <p:nvPr userDrawn="1"/>
        </p:nvPicPr>
        <p:blipFill>
          <a:blip r:embed="rId14" cstate="print"/>
          <a:srcRect l="58646" b="44444"/>
          <a:stretch>
            <a:fillRect/>
          </a:stretch>
        </p:blipFill>
        <p:spPr bwMode="auto">
          <a:xfrm>
            <a:off x="6732588" y="-4763"/>
            <a:ext cx="2160587" cy="2246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슬라이드 번호 개체 틀 4"/>
          <p:cNvSpPr txBox="1">
            <a:spLocks/>
          </p:cNvSpPr>
          <p:nvPr userDrawn="1"/>
        </p:nvSpPr>
        <p:spPr>
          <a:xfrm>
            <a:off x="3479800" y="6132537"/>
            <a:ext cx="2143125" cy="527050"/>
          </a:xfrm>
          <a:prstGeom prst="rect">
            <a:avLst/>
          </a:prstGeom>
        </p:spPr>
        <p:txBody>
          <a:bodyPr anchor="b"/>
          <a:lstStyle>
            <a:lvl1pPr algn="ctr">
              <a:defRPr/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옥션고딕 L" pitchFamily="2" charset="-127"/>
                <a:ea typeface="옥션고딕 L" pitchFamily="2" charset="-127"/>
              </a:rPr>
              <a:t>- </a:t>
            </a:r>
            <a:fld id="{8C9C2726-73D7-412F-BA19-1091F1663751}" type="slidenum">
              <a:rPr kumimoji="0" lang="ko-KR" altLang="en-US" sz="1200" smtClean="0">
                <a:solidFill>
                  <a:schemeClr val="tx1">
                    <a:lumMod val="65000"/>
                    <a:lumOff val="35000"/>
                  </a:schemeClr>
                </a:solidFill>
                <a:latin typeface="옥션고딕 L" pitchFamily="2" charset="-127"/>
                <a:ea typeface="옥션고딕 L" pitchFamily="2" charset="-127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r>
              <a:rPr kumimoji="0" lang="ko-KR" altLang="en-US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옥션고딕 L" pitchFamily="2" charset="-127"/>
                <a:ea typeface="옥션고딕 L" pitchFamily="2" charset="-127"/>
              </a:rPr>
              <a:t> </a:t>
            </a:r>
            <a:r>
              <a:rPr kumimoji="0"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옥션고딕 L" pitchFamily="2" charset="-127"/>
                <a:ea typeface="옥션고딕 L" pitchFamily="2" charset="-127"/>
              </a:rPr>
              <a:t>-</a:t>
            </a:r>
            <a:endParaRPr kumimoji="0" lang="ko-KR" altLang="en-US" sz="1200" dirty="0">
              <a:solidFill>
                <a:schemeClr val="tx1">
                  <a:lumMod val="65000"/>
                  <a:lumOff val="35000"/>
                </a:schemeClr>
              </a:solidFill>
              <a:latin typeface="옥션고딕 L" pitchFamily="2" charset="-127"/>
              <a:ea typeface="옥션고딕 L" pitchFamily="2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8" descr="간지"/>
          <p:cNvPicPr>
            <a:picLocks noChangeAspect="1" noChangeArrowheads="1"/>
          </p:cNvPicPr>
          <p:nvPr userDrawn="1"/>
        </p:nvPicPr>
        <p:blipFill>
          <a:blip r:embed="rId13" cstate="print"/>
          <a:srcRect l="25694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</p:sldLayoutIdLst>
  <p:hf hdr="0" ftr="0" dt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charset="-127"/>
          <a:ea typeface="굴림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18.jpeg"/><Relationship Id="rId4" Type="http://schemas.openxmlformats.org/officeDocument/2006/relationships/hyperlink" Target="http://www.google.co.kr/url?sa=i&amp;rct=j&amp;q=&amp;esrc=s&amp;source=images&amp;cd=&amp;cad=rja&amp;uact=8&amp;docid=0xSEhOGudwzAMM&amp;tbnid=n6jFfD52KPFNUM:&amp;ved=0CAUQjRw&amp;url=http://rotc2416.tistory.com/393&amp;ei=0NaCU_z5BYXy8QWqxoKwBg&amp;bvm=bv.67720277,d.dGc&amp;psig=AFQjCNFTy0XCzMCGBZa5JVK02sF7CIkKqg&amp;ust=1401169984959098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jpeg"/><Relationship Id="rId7" Type="http://schemas.openxmlformats.org/officeDocument/2006/relationships/image" Target="../media/image24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jpeg"/><Relationship Id="rId4" Type="http://schemas.openxmlformats.org/officeDocument/2006/relationships/image" Target="../media/image21.png"/><Relationship Id="rId9" Type="http://schemas.openxmlformats.org/officeDocument/2006/relationships/image" Target="../media/image2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7" Type="http://schemas.openxmlformats.org/officeDocument/2006/relationships/image" Target="../media/image4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0.jpe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9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22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49.png"/><Relationship Id="rId5" Type="http://schemas.openxmlformats.org/officeDocument/2006/relationships/image" Target="../media/image48.jpeg"/><Relationship Id="rId4" Type="http://schemas.openxmlformats.org/officeDocument/2006/relationships/image" Target="../media/image47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5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5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6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2051720" y="1048976"/>
            <a:ext cx="6912768" cy="1274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36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엑스선 회절 분석기</a:t>
            </a:r>
            <a:b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</a:br>
            <a: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 X-ray Diffractometer</a:t>
            </a:r>
          </a:p>
        </p:txBody>
      </p:sp>
      <p:pic>
        <p:nvPicPr>
          <p:cNvPr id="8" name="Picture 3" descr="C:\Documents and Settings\Aone\바탕 화면\표지_01_01.jpg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DFDFD"/>
              </a:clrFrom>
              <a:clrTo>
                <a:srgbClr val="FDFDFD">
                  <a:alpha val="0"/>
                </a:srgbClr>
              </a:clrTo>
            </a:clrChange>
          </a:blip>
          <a:srcRect l="1033" t="4073" r="54607" b="65784"/>
          <a:stretch>
            <a:fillRect/>
          </a:stretch>
        </p:blipFill>
        <p:spPr bwMode="auto">
          <a:xfrm>
            <a:off x="0" y="5877272"/>
            <a:ext cx="1020487" cy="980728"/>
          </a:xfrm>
          <a:prstGeom prst="rect">
            <a:avLst/>
          </a:prstGeom>
          <a:noFill/>
        </p:spPr>
      </p:pic>
      <p:pic>
        <p:nvPicPr>
          <p:cNvPr id="86020" name="Picture 4" descr="http://cfile26.uf.tistory.com/image/1128F9384DA9C22827CAFA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8063282" y="5949280"/>
            <a:ext cx="1080718" cy="908720"/>
          </a:xfrm>
          <a:prstGeom prst="rect">
            <a:avLst/>
          </a:prstGeom>
          <a:noFill/>
        </p:spPr>
      </p:pic>
      <p:sp>
        <p:nvSpPr>
          <p:cNvPr id="374" name="TextBox 373"/>
          <p:cNvSpPr txBox="1"/>
          <p:nvPr/>
        </p:nvSpPr>
        <p:spPr>
          <a:xfrm>
            <a:off x="179512" y="188640"/>
            <a:ext cx="77048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solidFill>
                  <a:schemeClr val="bg1"/>
                </a:solidFill>
              </a:rPr>
              <a:t>’21</a:t>
            </a:r>
            <a:r>
              <a:rPr lang="ko-KR" altLang="en-US" sz="2000" b="1" dirty="0">
                <a:solidFill>
                  <a:schemeClr val="bg1"/>
                </a:solidFill>
              </a:rPr>
              <a:t>년도 제</a:t>
            </a:r>
            <a:r>
              <a:rPr lang="en-US" altLang="ko-KR" sz="2000" b="1" dirty="0">
                <a:solidFill>
                  <a:schemeClr val="bg1"/>
                </a:solidFill>
              </a:rPr>
              <a:t>14</a:t>
            </a:r>
            <a:r>
              <a:rPr lang="ko-KR" altLang="en-US" sz="2000" b="1" dirty="0">
                <a:solidFill>
                  <a:schemeClr val="bg1"/>
                </a:solidFill>
              </a:rPr>
              <a:t>차 국가연구시설장비심의위원회 상시심의</a:t>
            </a:r>
          </a:p>
        </p:txBody>
      </p:sp>
      <p:sp>
        <p:nvSpPr>
          <p:cNvPr id="376" name="TextBox 375"/>
          <p:cNvSpPr txBox="1"/>
          <p:nvPr/>
        </p:nvSpPr>
        <p:spPr>
          <a:xfrm>
            <a:off x="1780016" y="3807272"/>
            <a:ext cx="5888328" cy="16435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장비심의번호  </a:t>
            </a:r>
            <a: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: </a:t>
            </a:r>
            <a:r>
              <a:rPr lang="ko-KR" altLang="en-US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상</a:t>
            </a:r>
            <a: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21-1527</a:t>
            </a:r>
          </a:p>
          <a:p>
            <a:pPr>
              <a:lnSpc>
                <a:spcPct val="120000"/>
              </a:lnSpc>
            </a:pPr>
            <a:r>
              <a:rPr lang="ko-KR" altLang="en-US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발표일자        </a:t>
            </a:r>
            <a: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: 2021</a:t>
            </a:r>
            <a:r>
              <a:rPr lang="ko-KR" altLang="en-US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년 </a:t>
            </a:r>
            <a: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09</a:t>
            </a:r>
            <a:r>
              <a:rPr lang="ko-KR" altLang="en-US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월 </a:t>
            </a:r>
            <a: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02</a:t>
            </a:r>
            <a:r>
              <a:rPr lang="ko-KR" altLang="en-US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일</a:t>
            </a:r>
            <a:endParaRPr lang="en-US" altLang="ko-KR" sz="2800" b="1" dirty="0">
              <a:ln w="3175" cmpd="sng">
                <a:noFill/>
                <a:prstDash val="solid"/>
              </a:ln>
              <a:gradFill flip="none" rotWithShape="1">
                <a:gsLst>
                  <a:gs pos="0">
                    <a:schemeClr val="tx2">
                      <a:lumMod val="50000"/>
                    </a:schemeClr>
                  </a:gs>
                  <a:gs pos="50000">
                    <a:srgbClr val="0066CC">
                      <a:shade val="67500"/>
                      <a:satMod val="115000"/>
                    </a:srgbClr>
                  </a:gs>
                  <a:gs pos="100000">
                    <a:srgbClr val="0066CC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atin typeface="나눔고딕 ExtraBold" pitchFamily="50" charset="-127"/>
              <a:ea typeface="나눔고딕 ExtraBold" pitchFamily="50" charset="-127"/>
            </a:endParaRPr>
          </a:p>
          <a:p>
            <a:pPr>
              <a:lnSpc>
                <a:spcPct val="120000"/>
              </a:lnSpc>
            </a:pPr>
            <a:r>
              <a:rPr lang="ko-KR" altLang="en-US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신청기관        </a:t>
            </a:r>
            <a:r>
              <a:rPr lang="en-US" altLang="ko-KR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: </a:t>
            </a:r>
            <a:r>
              <a:rPr lang="ko-KR" altLang="en-US" sz="28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한국재료연구원</a:t>
            </a:r>
          </a:p>
        </p:txBody>
      </p:sp>
      <p:sp>
        <p:nvSpPr>
          <p:cNvPr id="375" name="TextBox 374"/>
          <p:cNvSpPr txBox="1"/>
          <p:nvPr/>
        </p:nvSpPr>
        <p:spPr>
          <a:xfrm>
            <a:off x="290228" y="1412776"/>
            <a:ext cx="1875144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36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장비명 </a:t>
            </a:r>
            <a:r>
              <a:rPr lang="en-US" altLang="ko-KR" sz="3600" b="1" dirty="0">
                <a:ln w="3175" cmpd="sng">
                  <a:noFill/>
                  <a:prstDash val="solid"/>
                </a:ln>
                <a:gradFill flip="none" rotWithShape="1">
                  <a:gsLst>
                    <a:gs pos="0">
                      <a:schemeClr val="tx2">
                        <a:lumMod val="50000"/>
                      </a:schemeClr>
                    </a:gs>
                    <a:gs pos="50000">
                      <a:srgbClr val="0066CC">
                        <a:shade val="67500"/>
                        <a:satMod val="115000"/>
                      </a:srgbClr>
                    </a:gs>
                    <a:gs pos="100000">
                      <a:srgbClr val="0066CC">
                        <a:shade val="100000"/>
                        <a:satMod val="115000"/>
                      </a:srgbClr>
                    </a:gs>
                  </a:gsLst>
                  <a:lin ang="5400000" scaled="1"/>
                  <a:tileRect/>
                </a:gradFill>
                <a:latin typeface="나눔고딕 ExtraBold" pitchFamily="50" charset="-127"/>
                <a:ea typeface="나눔고딕 ExtraBold" pitchFamily="50" charset="-127"/>
              </a:rPr>
              <a:t>:</a:t>
            </a:r>
            <a:endParaRPr lang="ko-KR" altLang="en-US" sz="3600" b="1" dirty="0">
              <a:ln w="3175" cmpd="sng">
                <a:noFill/>
                <a:prstDash val="solid"/>
              </a:ln>
              <a:gradFill flip="none" rotWithShape="1">
                <a:gsLst>
                  <a:gs pos="0">
                    <a:schemeClr val="tx2">
                      <a:lumMod val="50000"/>
                    </a:schemeClr>
                  </a:gs>
                  <a:gs pos="50000">
                    <a:srgbClr val="0066CC">
                      <a:shade val="67500"/>
                      <a:satMod val="115000"/>
                    </a:srgbClr>
                  </a:gs>
                  <a:gs pos="100000">
                    <a:srgbClr val="0066CC">
                      <a:shade val="100000"/>
                      <a:satMod val="115000"/>
                    </a:srgbClr>
                  </a:gs>
                </a:gsLst>
                <a:lin ang="5400000" scaled="1"/>
                <a:tileRect/>
              </a:gradFill>
              <a:latin typeface="나눔고딕 ExtraBold" pitchFamily="50" charset="-127"/>
              <a:ea typeface="나눔고딕 ExtraBold" pitchFamily="50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3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4" name="그룹 43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48" name="직사각형 47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49" name="직사각형 48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5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46" name="직사각형 45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47" name="직사각형 46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38" name="직사각형 37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사업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(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)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52" name="직사각형 51"/>
          <p:cNvSpPr/>
          <p:nvPr/>
        </p:nvSpPr>
        <p:spPr>
          <a:xfrm>
            <a:off x="213420" y="74344"/>
            <a:ext cx="211307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사업 개요</a:t>
            </a:r>
          </a:p>
        </p:txBody>
      </p:sp>
      <p:sp>
        <p:nvSpPr>
          <p:cNvPr id="60" name="Rounded Rectangle 18"/>
          <p:cNvSpPr/>
          <p:nvPr/>
        </p:nvSpPr>
        <p:spPr bwMode="gray">
          <a:xfrm>
            <a:off x="2266136" y="4375069"/>
            <a:ext cx="6329210" cy="782123"/>
          </a:xfrm>
          <a:prstGeom prst="roundRect">
            <a:avLst>
              <a:gd name="adj" fmla="val 11789"/>
            </a:avLst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7263" lvl="1" indent="-285750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미니어처 데이터팩토리 및 데이터 수집 관련 인프라 구축</a:t>
            </a:r>
            <a:endParaRPr lang="en-US" altLang="ko-KR" sz="1400" b="1" dirty="0">
              <a:solidFill>
                <a:schemeClr val="tx1"/>
              </a:solidFill>
              <a:latin typeface="+mn-ea"/>
            </a:endParaRPr>
          </a:p>
          <a:p>
            <a:pPr marL="807263" lvl="1" indent="-285750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중소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·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중견 기업 소재 및 부품 개발을 위한 서비스 플랫폼 구축</a:t>
            </a:r>
            <a:endParaRPr lang="en-US" sz="14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1" name="Round Diagonal Corner Rectangle 17"/>
          <p:cNvSpPr/>
          <p:nvPr/>
        </p:nvSpPr>
        <p:spPr bwMode="gray">
          <a:xfrm>
            <a:off x="556316" y="4358135"/>
            <a:ext cx="2101775" cy="834263"/>
          </a:xfrm>
          <a:prstGeom prst="round2Diag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18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최종 목표</a:t>
            </a:r>
            <a:endParaRPr lang="en-US" sz="1800" b="1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62" name="Rounded Rectangle 18"/>
          <p:cNvSpPr/>
          <p:nvPr/>
        </p:nvSpPr>
        <p:spPr bwMode="gray">
          <a:xfrm>
            <a:off x="2266136" y="5332361"/>
            <a:ext cx="6329210" cy="1044166"/>
          </a:xfrm>
          <a:prstGeom prst="roundRect">
            <a:avLst>
              <a:gd name="adj" fmla="val 11789"/>
            </a:avLst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7263" lvl="1" indent="-285750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미니어처 데이터팩토리 구축과 데이터팩토리를 통한 소재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·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부품 설계 및 제조 공정 최적화를 위한 인공지능 모델을 개발</a:t>
            </a:r>
            <a:endParaRPr lang="en-US" altLang="ko-KR" sz="1400" b="1" dirty="0">
              <a:solidFill>
                <a:schemeClr val="tx1"/>
              </a:solidFill>
              <a:latin typeface="+mn-ea"/>
              <a:cs typeface="Arial" pitchFamily="34" charset="0"/>
            </a:endParaRPr>
          </a:p>
          <a:p>
            <a:pPr marL="807263" lvl="1" indent="-285750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중소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·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중견 기업에 관련 서비스를 지원하는 플랫폼 기술 개발</a:t>
            </a:r>
          </a:p>
        </p:txBody>
      </p:sp>
      <p:sp>
        <p:nvSpPr>
          <p:cNvPr id="63" name="Round Diagonal Corner Rectangle 17"/>
          <p:cNvSpPr/>
          <p:nvPr/>
        </p:nvSpPr>
        <p:spPr bwMode="gray">
          <a:xfrm>
            <a:off x="556316" y="5302356"/>
            <a:ext cx="2101775" cy="1078972"/>
          </a:xfrm>
          <a:prstGeom prst="round2Diag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18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사업 내용</a:t>
            </a:r>
            <a:endParaRPr lang="en-US" altLang="ko-KR" sz="1800" b="1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64" name="Rounded Rectangle 18"/>
          <p:cNvSpPr/>
          <p:nvPr/>
        </p:nvSpPr>
        <p:spPr bwMode="gray">
          <a:xfrm>
            <a:off x="2256611" y="1333799"/>
            <a:ext cx="6327402" cy="540000"/>
          </a:xfrm>
          <a:prstGeom prst="roundRect">
            <a:avLst>
              <a:gd name="adj" fmla="val 11789"/>
            </a:avLst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25000"/>
              </a:lnSpc>
              <a:defRPr/>
            </a:pPr>
            <a:r>
              <a:rPr lang="ko-KR" altLang="en-US" sz="1600" b="1" dirty="0">
                <a:solidFill>
                  <a:schemeClr val="tx1"/>
                </a:solidFill>
                <a:latin typeface="+mn-ea"/>
              </a:rPr>
              <a:t>소재부품기술기반혁신사업</a:t>
            </a:r>
            <a:endParaRPr lang="en-US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5" name="Round Diagonal Corner Rectangle 17"/>
          <p:cNvSpPr/>
          <p:nvPr/>
        </p:nvSpPr>
        <p:spPr bwMode="gray">
          <a:xfrm>
            <a:off x="546369" y="1316865"/>
            <a:ext cx="2101775" cy="576000"/>
          </a:xfrm>
          <a:prstGeom prst="round2Diag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18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사 업 명</a:t>
            </a:r>
            <a:endParaRPr lang="en-US" sz="1800" b="1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66" name="Rounded Rectangle 18"/>
          <p:cNvSpPr/>
          <p:nvPr/>
        </p:nvSpPr>
        <p:spPr bwMode="gray">
          <a:xfrm>
            <a:off x="2256611" y="1970793"/>
            <a:ext cx="6327402" cy="540000"/>
          </a:xfrm>
          <a:prstGeom prst="roundRect">
            <a:avLst>
              <a:gd name="adj" fmla="val 11789"/>
            </a:avLst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25000"/>
              </a:lnSpc>
              <a:defRPr/>
            </a:pPr>
            <a:r>
              <a:rPr lang="ko-KR" altLang="en-US" sz="1600" b="1" dirty="0">
                <a:solidFill>
                  <a:schemeClr val="tx1"/>
                </a:solidFill>
                <a:latin typeface="+mn-ea"/>
              </a:rPr>
              <a:t>금속소재 가상공학 플랫폼 구축</a:t>
            </a:r>
            <a:endParaRPr lang="en-US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7" name="Round Diagonal Corner Rectangle 17"/>
          <p:cNvSpPr/>
          <p:nvPr/>
        </p:nvSpPr>
        <p:spPr bwMode="gray">
          <a:xfrm>
            <a:off x="546369" y="1953859"/>
            <a:ext cx="2101775" cy="576000"/>
          </a:xfrm>
          <a:prstGeom prst="round2Diag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18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과 제 명</a:t>
            </a:r>
            <a:endParaRPr lang="en-US" sz="1800" b="1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68" name="Rounded Rectangle 18"/>
          <p:cNvSpPr/>
          <p:nvPr/>
        </p:nvSpPr>
        <p:spPr bwMode="gray">
          <a:xfrm>
            <a:off x="2247086" y="2607786"/>
            <a:ext cx="6327402" cy="886983"/>
          </a:xfrm>
          <a:prstGeom prst="roundRect">
            <a:avLst>
              <a:gd name="adj" fmla="val 11789"/>
            </a:avLst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25000"/>
              </a:lnSpc>
              <a:defRPr/>
            </a:pP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주 관 </a:t>
            </a:r>
            <a:r>
              <a:rPr lang="en-US" altLang="ko-KR" sz="1200" b="1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200" b="1" dirty="0">
                <a:solidFill>
                  <a:schemeClr val="tx1"/>
                </a:solidFill>
                <a:latin typeface="+mn-ea"/>
              </a:rPr>
              <a:t>한국재료연구원</a:t>
            </a:r>
            <a:endParaRPr lang="en-US" altLang="ko-KR" sz="1000" b="1" dirty="0">
              <a:solidFill>
                <a:schemeClr val="tx1"/>
              </a:solidFill>
              <a:latin typeface="+mn-ea"/>
            </a:endParaRPr>
          </a:p>
          <a:p>
            <a:pPr lvl="1">
              <a:lnSpc>
                <a:spcPct val="125000"/>
              </a:lnSpc>
              <a:defRPr/>
            </a:pP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참 여 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: 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포항산업과학연구원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한국원자력연구원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서울대학교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한양대학교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창원대학교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울산대학교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세종대학교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공주대학교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한국과학기술연구원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한국에너지기술연구원</a:t>
            </a:r>
            <a:r>
              <a:rPr lang="en-US" altLang="ko-KR" sz="1000" b="1" dirty="0">
                <a:solidFill>
                  <a:schemeClr val="tx1"/>
                </a:solidFill>
                <a:latin typeface="+mn-ea"/>
              </a:rPr>
              <a:t>, </a:t>
            </a:r>
            <a:r>
              <a:rPr lang="ko-KR" altLang="en-US" sz="1000" b="1" dirty="0">
                <a:solidFill>
                  <a:schemeClr val="tx1"/>
                </a:solidFill>
                <a:latin typeface="+mn-ea"/>
              </a:rPr>
              <a:t>한국화학연구원</a:t>
            </a:r>
          </a:p>
        </p:txBody>
      </p:sp>
      <p:sp>
        <p:nvSpPr>
          <p:cNvPr id="69" name="Round Diagonal Corner Rectangle 17"/>
          <p:cNvSpPr/>
          <p:nvPr/>
        </p:nvSpPr>
        <p:spPr bwMode="gray">
          <a:xfrm>
            <a:off x="539552" y="2590853"/>
            <a:ext cx="2101775" cy="931332"/>
          </a:xfrm>
          <a:prstGeom prst="round2Diag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18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수행 기관</a:t>
            </a:r>
            <a:endParaRPr lang="en-US" sz="1800" b="1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  <p:sp>
        <p:nvSpPr>
          <p:cNvPr id="70" name="Rounded Rectangle 18"/>
          <p:cNvSpPr/>
          <p:nvPr/>
        </p:nvSpPr>
        <p:spPr bwMode="gray">
          <a:xfrm>
            <a:off x="2256611" y="3585874"/>
            <a:ext cx="6327402" cy="681157"/>
          </a:xfrm>
          <a:prstGeom prst="roundRect">
            <a:avLst>
              <a:gd name="adj" fmla="val 11789"/>
            </a:avLst>
          </a:prstGeom>
          <a:solidFill>
            <a:schemeClr val="bg1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07263" lvl="1" indent="-285750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사업 기간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: 2017. 7. 1 ~ 2022. 3. 31(57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개월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)</a:t>
            </a:r>
          </a:p>
          <a:p>
            <a:pPr marL="807263" lvl="1" indent="-285750">
              <a:lnSpc>
                <a:spcPct val="125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총 사업비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: 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158.94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억원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정부출연금 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: 132.45, </a:t>
            </a:r>
            <a:r>
              <a:rPr lang="ko-KR" altLang="en-US" sz="1400" b="1" dirty="0">
                <a:solidFill>
                  <a:schemeClr val="tx1"/>
                </a:solidFill>
                <a:latin typeface="+mn-ea"/>
              </a:rPr>
              <a:t>민간부담금 </a:t>
            </a:r>
            <a:r>
              <a:rPr lang="en-US" altLang="ko-KR" sz="1400" b="1" dirty="0">
                <a:solidFill>
                  <a:schemeClr val="tx1"/>
                </a:solidFill>
                <a:latin typeface="+mn-ea"/>
              </a:rPr>
              <a:t>: 26.49)</a:t>
            </a:r>
          </a:p>
        </p:txBody>
      </p:sp>
      <p:sp>
        <p:nvSpPr>
          <p:cNvPr id="71" name="Round Diagonal Corner Rectangle 17"/>
          <p:cNvSpPr/>
          <p:nvPr/>
        </p:nvSpPr>
        <p:spPr bwMode="gray">
          <a:xfrm>
            <a:off x="546369" y="3568940"/>
            <a:ext cx="2101775" cy="726567"/>
          </a:xfrm>
          <a:prstGeom prst="round2Diag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lIns="82793" tIns="41397" rIns="82793" bIns="41397" anchor="ctr"/>
          <a:lstStyle>
            <a:defPPr>
              <a:defRPr lang="en-US"/>
            </a:defPPr>
            <a:lvl1pPr marL="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2151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043026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564539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86051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607564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3129077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650590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4172103" algn="l" defTabSz="1043026" rtl="0" eaLnBrk="1" latinLnBrk="0" hangingPunct="1">
              <a:defRPr sz="2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ko-KR" altLang="en-US" sz="1800" b="1" dirty="0">
                <a:solidFill>
                  <a:schemeClr val="tx1"/>
                </a:solidFill>
                <a:latin typeface="+mn-ea"/>
                <a:cs typeface="Arial" pitchFamily="34" charset="0"/>
              </a:rPr>
              <a:t>과제 개요</a:t>
            </a:r>
            <a:endParaRPr lang="en-US" sz="1800" b="1" dirty="0">
              <a:solidFill>
                <a:schemeClr val="tx1"/>
              </a:solidFill>
              <a:latin typeface="+mn-ea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3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4" name="그룹 43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48" name="직사각형 47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49" name="직사각형 48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5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46" name="직사각형 45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47" name="직사각형 46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38" name="직사각형 37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사업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(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)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52" name="직사각형 51"/>
          <p:cNvSpPr/>
          <p:nvPr/>
        </p:nvSpPr>
        <p:spPr>
          <a:xfrm>
            <a:off x="213420" y="74344"/>
            <a:ext cx="73837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사업 개요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-4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차산업 혁명과 소재 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R&amp;D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565204" y="3767027"/>
            <a:ext cx="446563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200" dirty="0">
                <a:latin typeface="+mj-ea"/>
                <a:ea typeface="+mj-ea"/>
              </a:rPr>
              <a:t>355</a:t>
            </a:r>
            <a:r>
              <a:rPr lang="ko-KR" altLang="en-US" sz="1200" dirty="0">
                <a:latin typeface="+mj-ea"/>
                <a:ea typeface="+mj-ea"/>
              </a:rPr>
              <a:t>개의</a:t>
            </a:r>
            <a:r>
              <a:rPr lang="en-US" altLang="ko-KR" sz="1200" dirty="0">
                <a:latin typeface="+mj-ea"/>
                <a:ea typeface="+mj-ea"/>
              </a:rPr>
              <a:t> </a:t>
            </a:r>
            <a:r>
              <a:rPr lang="ko-KR" altLang="en-US" sz="1200" dirty="0">
                <a:latin typeface="+mj-ea"/>
                <a:ea typeface="+mj-ea"/>
              </a:rPr>
              <a:t>자연계에 없는 새로운 합금 제시</a:t>
            </a:r>
            <a:r>
              <a:rPr lang="en-US" altLang="ko-KR" sz="1200" dirty="0">
                <a:latin typeface="+mj-ea"/>
                <a:ea typeface="+mj-ea"/>
              </a:rPr>
              <a:t>(</a:t>
            </a:r>
            <a:r>
              <a:rPr lang="ko-KR" altLang="en-US" sz="1200" dirty="0" err="1">
                <a:latin typeface="+mj-ea"/>
                <a:ea typeface="+mj-ea"/>
              </a:rPr>
              <a:t>계산기반</a:t>
            </a:r>
            <a:r>
              <a:rPr lang="en-US" altLang="ko-KR" sz="1200" dirty="0">
                <a:latin typeface="+mj-ea"/>
                <a:ea typeface="+mj-ea"/>
              </a:rPr>
              <a:t>, 55</a:t>
            </a:r>
            <a:r>
              <a:rPr lang="ko-KR" altLang="en-US" sz="1200" dirty="0">
                <a:latin typeface="+mj-ea"/>
                <a:ea typeface="+mj-ea"/>
              </a:rPr>
              <a:t>일 학습</a:t>
            </a:r>
            <a:r>
              <a:rPr lang="en-US" altLang="ko-KR" sz="1200" dirty="0">
                <a:latin typeface="+mj-ea"/>
                <a:ea typeface="+mj-ea"/>
              </a:rPr>
              <a:t>)</a:t>
            </a:r>
            <a:endParaRPr lang="ko-KR" altLang="en-US" sz="1200" dirty="0">
              <a:latin typeface="+mj-ea"/>
              <a:ea typeface="+mj-ea"/>
            </a:endParaRPr>
          </a:p>
        </p:txBody>
      </p:sp>
      <p:pic>
        <p:nvPicPr>
          <p:cNvPr id="61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7970" y="4135672"/>
            <a:ext cx="640813" cy="1868324"/>
          </a:xfrm>
          <a:prstGeom prst="rect">
            <a:avLst/>
          </a:prstGeom>
        </p:spPr>
      </p:pic>
      <p:pic>
        <p:nvPicPr>
          <p:cNvPr id="62" name="그림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591" y="4235556"/>
            <a:ext cx="2046393" cy="1785732"/>
          </a:xfrm>
          <a:prstGeom prst="rect">
            <a:avLst/>
          </a:prstGeom>
        </p:spPr>
      </p:pic>
      <p:pic>
        <p:nvPicPr>
          <p:cNvPr id="63" name="그림 9"/>
          <p:cNvPicPr>
            <a:picLocks noChangeAspect="1"/>
          </p:cNvPicPr>
          <p:nvPr/>
        </p:nvPicPr>
        <p:blipFill rotWithShape="1">
          <a:blip r:embed="rId4"/>
          <a:srcRect l="51540" t="65935" r="24145" b="26985"/>
          <a:stretch/>
        </p:blipFill>
        <p:spPr>
          <a:xfrm>
            <a:off x="4690100" y="2630825"/>
            <a:ext cx="4105218" cy="672405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4442965" y="3428816"/>
            <a:ext cx="44577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 err="1">
                <a:latin typeface="+mj-ea"/>
                <a:ea typeface="+mj-ea"/>
              </a:rPr>
              <a:t>실험기반의</a:t>
            </a:r>
            <a:r>
              <a:rPr lang="ko-KR" altLang="en-US" sz="1200" dirty="0">
                <a:latin typeface="+mj-ea"/>
                <a:ea typeface="+mj-ea"/>
              </a:rPr>
              <a:t> </a:t>
            </a:r>
            <a:r>
              <a:rPr lang="ko-KR" altLang="en-US" sz="1200" dirty="0" err="1">
                <a:latin typeface="+mj-ea"/>
                <a:ea typeface="+mj-ea"/>
              </a:rPr>
              <a:t>신합금</a:t>
            </a:r>
            <a:r>
              <a:rPr lang="ko-KR" altLang="en-US" sz="1200" dirty="0">
                <a:latin typeface="+mj-ea"/>
                <a:ea typeface="+mj-ea"/>
              </a:rPr>
              <a:t> 발견 </a:t>
            </a:r>
            <a:r>
              <a:rPr lang="en-US" altLang="ko-KR" sz="1200" dirty="0">
                <a:latin typeface="+mj-ea"/>
                <a:ea typeface="+mj-ea"/>
              </a:rPr>
              <a:t>(</a:t>
            </a:r>
            <a:r>
              <a:rPr lang="ko-KR" altLang="en-US" sz="1200" dirty="0">
                <a:latin typeface="+mj-ea"/>
                <a:ea typeface="+mj-ea"/>
              </a:rPr>
              <a:t>연간 </a:t>
            </a:r>
            <a:r>
              <a:rPr lang="en-US" altLang="ko-KR" sz="1200" dirty="0">
                <a:latin typeface="+mj-ea"/>
                <a:ea typeface="+mj-ea"/>
              </a:rPr>
              <a:t>100~150</a:t>
            </a:r>
            <a:r>
              <a:rPr lang="ko-KR" altLang="en-US" sz="1200" dirty="0">
                <a:latin typeface="+mj-ea"/>
                <a:ea typeface="+mj-ea"/>
              </a:rPr>
              <a:t>개</a:t>
            </a:r>
            <a:r>
              <a:rPr lang="en-US" altLang="ko-KR" sz="1200" dirty="0">
                <a:latin typeface="+mj-ea"/>
                <a:ea typeface="+mj-ea"/>
              </a:rPr>
              <a:t>)</a:t>
            </a:r>
            <a:endParaRPr lang="ko-KR" altLang="en-US" sz="1200" dirty="0">
              <a:latin typeface="+mj-ea"/>
              <a:ea typeface="+mj-ea"/>
            </a:endParaRPr>
          </a:p>
        </p:txBody>
      </p:sp>
      <p:sp>
        <p:nvSpPr>
          <p:cNvPr id="65" name="순서도: 수행의 시작/종료 13"/>
          <p:cNvSpPr/>
          <p:nvPr/>
        </p:nvSpPr>
        <p:spPr>
          <a:xfrm>
            <a:off x="107504" y="1757527"/>
            <a:ext cx="2058939" cy="648000"/>
          </a:xfrm>
          <a:prstGeom prst="flowChartTerminator">
            <a:avLst/>
          </a:prstGeom>
          <a:ln w="44450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600">
              <a:ln w="127000">
                <a:solidFill>
                  <a:schemeClr val="accent1"/>
                </a:solidFill>
              </a:ln>
            </a:endParaRPr>
          </a:p>
        </p:txBody>
      </p:sp>
      <p:sp>
        <p:nvSpPr>
          <p:cNvPr id="66" name="순서도: 수행의 시작/종료 14"/>
          <p:cNvSpPr/>
          <p:nvPr/>
        </p:nvSpPr>
        <p:spPr>
          <a:xfrm>
            <a:off x="2395637" y="1757527"/>
            <a:ext cx="2058939" cy="648000"/>
          </a:xfrm>
          <a:prstGeom prst="flowChartTerminator">
            <a:avLst/>
          </a:prstGeom>
          <a:ln w="44450">
            <a:solidFill>
              <a:schemeClr val="tx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600">
              <a:ln w="127000">
                <a:solidFill>
                  <a:schemeClr val="accent1"/>
                </a:solidFill>
              </a:ln>
            </a:endParaRPr>
          </a:p>
        </p:txBody>
      </p:sp>
      <p:sp>
        <p:nvSpPr>
          <p:cNvPr id="67" name="순서도: 수행의 시작/종료 15"/>
          <p:cNvSpPr/>
          <p:nvPr/>
        </p:nvSpPr>
        <p:spPr>
          <a:xfrm>
            <a:off x="4683770" y="1757527"/>
            <a:ext cx="2058939" cy="648000"/>
          </a:xfrm>
          <a:prstGeom prst="flowChartTerminator">
            <a:avLst/>
          </a:prstGeom>
          <a:ln w="44450">
            <a:solidFill>
              <a:schemeClr val="accent3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600">
              <a:ln w="127000">
                <a:solidFill>
                  <a:schemeClr val="accent1"/>
                </a:solidFill>
              </a:ln>
            </a:endParaRPr>
          </a:p>
        </p:txBody>
      </p:sp>
      <p:sp>
        <p:nvSpPr>
          <p:cNvPr id="68" name="순서도: 수행의 시작/종료 16"/>
          <p:cNvSpPr/>
          <p:nvPr/>
        </p:nvSpPr>
        <p:spPr>
          <a:xfrm>
            <a:off x="6971902" y="1757527"/>
            <a:ext cx="2058939" cy="648000"/>
          </a:xfrm>
          <a:prstGeom prst="flowChartTerminator">
            <a:avLst/>
          </a:prstGeom>
          <a:ln w="44450">
            <a:solidFill>
              <a:schemeClr val="accent5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600">
              <a:ln w="127000">
                <a:solidFill>
                  <a:schemeClr val="accent1"/>
                </a:solidFill>
              </a:ln>
            </a:endParaRPr>
          </a:p>
        </p:txBody>
      </p:sp>
      <p:pic>
        <p:nvPicPr>
          <p:cNvPr id="69" name="그림 20"/>
          <p:cNvPicPr>
            <a:picLocks noChangeAspect="1"/>
          </p:cNvPicPr>
          <p:nvPr/>
        </p:nvPicPr>
        <p:blipFill rotWithShape="1">
          <a:blip r:embed="rId5"/>
          <a:srcRect b="50218"/>
          <a:stretch/>
        </p:blipFill>
        <p:spPr>
          <a:xfrm>
            <a:off x="107504" y="1124744"/>
            <a:ext cx="8925318" cy="49620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826950" y="1927639"/>
            <a:ext cx="11141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tx2"/>
                </a:solidFill>
                <a:latin typeface="+mj-ea"/>
                <a:ea typeface="+mj-ea"/>
              </a:rPr>
              <a:t>실험 중심</a:t>
            </a:r>
          </a:p>
        </p:txBody>
      </p:sp>
      <p:pic>
        <p:nvPicPr>
          <p:cNvPr id="71" name="그림 22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243" y="1829527"/>
            <a:ext cx="504000" cy="504000"/>
          </a:xfrm>
          <a:prstGeom prst="rect">
            <a:avLst/>
          </a:prstGeom>
        </p:spPr>
      </p:pic>
      <p:pic>
        <p:nvPicPr>
          <p:cNvPr id="72" name="그림 23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5380" y="1829527"/>
            <a:ext cx="504000" cy="504000"/>
          </a:xfrm>
          <a:prstGeom prst="rect">
            <a:avLst/>
          </a:prstGeom>
        </p:spPr>
      </p:pic>
      <p:pic>
        <p:nvPicPr>
          <p:cNvPr id="73" name="그림 2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1024" y="1829527"/>
            <a:ext cx="504000" cy="504000"/>
          </a:xfrm>
          <a:prstGeom prst="rect">
            <a:avLst/>
          </a:prstGeom>
        </p:spPr>
      </p:pic>
      <p:pic>
        <p:nvPicPr>
          <p:cNvPr id="74" name="그림 26"/>
          <p:cNvPicPr>
            <a:picLocks noChangeAspect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27" y="1829527"/>
            <a:ext cx="504000" cy="504000"/>
          </a:xfrm>
          <a:prstGeom prst="rect">
            <a:avLst/>
          </a:prstGeom>
        </p:spPr>
      </p:pic>
      <p:sp>
        <p:nvSpPr>
          <p:cNvPr id="75" name="TextBox 74"/>
          <p:cNvSpPr txBox="1"/>
          <p:nvPr/>
        </p:nvSpPr>
        <p:spPr>
          <a:xfrm>
            <a:off x="3121416" y="1927639"/>
            <a:ext cx="11141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tx2"/>
                </a:solidFill>
                <a:latin typeface="+mj-ea"/>
                <a:ea typeface="+mj-ea"/>
              </a:rPr>
              <a:t>이론 중심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98153" y="1927639"/>
            <a:ext cx="111411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tx2"/>
                </a:solidFill>
                <a:latin typeface="+mj-ea"/>
                <a:ea typeface="+mj-ea"/>
              </a:rPr>
              <a:t>계산 중심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669020" y="1927639"/>
            <a:ext cx="12316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 b="1" dirty="0">
                <a:solidFill>
                  <a:schemeClr val="tx2"/>
                </a:solidFill>
                <a:latin typeface="+mj-ea"/>
                <a:ea typeface="+mj-ea"/>
              </a:rPr>
              <a:t>데이터 중심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733531" y="1339230"/>
            <a:ext cx="167097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i="1" dirty="0">
                <a:solidFill>
                  <a:srgbClr val="FFFFFF"/>
                </a:solidFill>
                <a:latin typeface="+mj-ea"/>
                <a:ea typeface="+mj-ea"/>
              </a:rPr>
              <a:t>Paradigm</a:t>
            </a:r>
            <a:r>
              <a:rPr lang="ko-KR" altLang="en-US" sz="1400" i="1" dirty="0">
                <a:solidFill>
                  <a:srgbClr val="FFFFFF"/>
                </a:solidFill>
                <a:latin typeface="+mj-ea"/>
                <a:ea typeface="+mj-ea"/>
              </a:rPr>
              <a:t> </a:t>
            </a:r>
            <a:r>
              <a:rPr lang="en-US" altLang="ko-KR" sz="1400" i="1" dirty="0">
                <a:solidFill>
                  <a:srgbClr val="FFFFFF"/>
                </a:solidFill>
                <a:latin typeface="+mj-ea"/>
                <a:ea typeface="+mj-ea"/>
              </a:rPr>
              <a:t>shift</a:t>
            </a:r>
            <a:endParaRPr lang="ko-KR" altLang="en-US" sz="1400" i="1" dirty="0">
              <a:solidFill>
                <a:srgbClr val="FFFFFF"/>
              </a:solidFill>
              <a:latin typeface="+mj-ea"/>
              <a:ea typeface="+mj-ea"/>
            </a:endParaRPr>
          </a:p>
        </p:txBody>
      </p:sp>
      <p:sp>
        <p:nvSpPr>
          <p:cNvPr id="79" name="TextBox 10"/>
          <p:cNvSpPr txBox="1"/>
          <p:nvPr/>
        </p:nvSpPr>
        <p:spPr>
          <a:xfrm>
            <a:off x="6364578" y="6164849"/>
            <a:ext cx="196560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latinLnBrk="0">
              <a:defRPr sz="800">
                <a:solidFill>
                  <a:srgbClr val="B2B2B2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latinLnBrk="0"/>
            <a:lvl3pPr latinLnBrk="0"/>
            <a:lvl4pPr latinLnBrk="0"/>
            <a:lvl5pPr latinLnBrk="0"/>
            <a:lvl6pPr latinLnBrk="0"/>
            <a:lvl7pPr latinLnBrk="0"/>
            <a:lvl8pPr latinLnBrk="0"/>
            <a:lvl9pPr latinLnBrk="0"/>
          </a:lstStyle>
          <a:p>
            <a:r>
              <a:rPr lang="en-US" altLang="ko-KR" sz="1100" dirty="0"/>
              <a:t>KIST </a:t>
            </a:r>
            <a:r>
              <a:rPr lang="ko-KR" altLang="en-US" sz="1100" dirty="0" err="1"/>
              <a:t>안재평</a:t>
            </a:r>
            <a:r>
              <a:rPr lang="en-US" altLang="ko-KR" sz="1100" dirty="0"/>
              <a:t> </a:t>
            </a:r>
            <a:r>
              <a:rPr lang="ko-KR" altLang="en-US" sz="1100" dirty="0"/>
              <a:t>발표 자료 재구성</a:t>
            </a:r>
          </a:p>
        </p:txBody>
      </p:sp>
      <p:pic>
        <p:nvPicPr>
          <p:cNvPr id="80" name="그림 32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736" y="2874969"/>
            <a:ext cx="3934871" cy="2625750"/>
          </a:xfrm>
          <a:prstGeom prst="rect">
            <a:avLst/>
          </a:prstGeom>
        </p:spPr>
      </p:pic>
      <p:sp>
        <p:nvSpPr>
          <p:cNvPr id="81" name="직사각형 33"/>
          <p:cNvSpPr/>
          <p:nvPr/>
        </p:nvSpPr>
        <p:spPr>
          <a:xfrm>
            <a:off x="773870" y="5820238"/>
            <a:ext cx="324353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US" altLang="ko-KR" b="1" dirty="0" err="1">
                <a:solidFill>
                  <a:schemeClr val="accent4"/>
                </a:solidFill>
                <a:latin typeface="+mj-lt"/>
              </a:rPr>
              <a:t>Alphago</a:t>
            </a:r>
            <a:endParaRPr lang="ko-KR" altLang="en-US" b="1" dirty="0">
              <a:solidFill>
                <a:schemeClr val="accent4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308216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모서리가 둥근 직사각형 11"/>
          <p:cNvSpPr/>
          <p:nvPr/>
        </p:nvSpPr>
        <p:spPr>
          <a:xfrm>
            <a:off x="611560" y="5798519"/>
            <a:ext cx="8117897" cy="631176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Century Gothic" panose="020B0502020202020204" pitchFamily="34" charset="0"/>
            </a:endParaRPr>
          </a:p>
        </p:txBody>
      </p:sp>
      <p:grpSp>
        <p:nvGrpSpPr>
          <p:cNvPr id="2" name="그룹 34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3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4" name="그룹 43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48" name="직사각형 47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49" name="직사각형 48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5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46" name="직사각형 45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47" name="직사각형 46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38" name="직사각형 37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사업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(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)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52" name="직사각형 51"/>
          <p:cNvSpPr/>
          <p:nvPr/>
        </p:nvSpPr>
        <p:spPr>
          <a:xfrm>
            <a:off x="213420" y="74344"/>
            <a:ext cx="759374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사업 개요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-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인공지능이 주목 받는 이유</a:t>
            </a:r>
          </a:p>
        </p:txBody>
      </p:sp>
      <p:sp>
        <p:nvSpPr>
          <p:cNvPr id="12" name="타원 5"/>
          <p:cNvSpPr/>
          <p:nvPr/>
        </p:nvSpPr>
        <p:spPr>
          <a:xfrm>
            <a:off x="3453504" y="1268760"/>
            <a:ext cx="2114387" cy="2114387"/>
          </a:xfrm>
          <a:prstGeom prst="ellipse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8"/>
          <p:cNvSpPr/>
          <p:nvPr/>
        </p:nvSpPr>
        <p:spPr>
          <a:xfrm>
            <a:off x="6310786" y="1268760"/>
            <a:ext cx="2114387" cy="2114387"/>
          </a:xfrm>
          <a:prstGeom prst="ellipse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9"/>
          <p:cNvSpPr/>
          <p:nvPr/>
        </p:nvSpPr>
        <p:spPr>
          <a:xfrm>
            <a:off x="596222" y="1268760"/>
            <a:ext cx="2114387" cy="2114387"/>
          </a:xfrm>
          <a:prstGeom prst="ellipse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709987" y="1972010"/>
            <a:ext cx="18868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j-lt"/>
              </a:rPr>
              <a:t>Big</a:t>
            </a:r>
            <a:r>
              <a:rPr lang="ko-KR" altLang="en-US" sz="20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2000" b="1" dirty="0">
                <a:solidFill>
                  <a:schemeClr val="bg1"/>
                </a:solidFill>
                <a:latin typeface="+mj-lt"/>
              </a:rPr>
              <a:t>Data</a:t>
            </a:r>
          </a:p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j-lt"/>
              </a:rPr>
              <a:t>(Digitalization)</a:t>
            </a:r>
            <a:endParaRPr lang="ko-KR" altLang="en-US" sz="2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67269" y="1972010"/>
            <a:ext cx="18868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j-lt"/>
              </a:rPr>
              <a:t>Computation</a:t>
            </a:r>
          </a:p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j-lt"/>
              </a:rPr>
              <a:t>(GPUs)</a:t>
            </a:r>
            <a:endParaRPr lang="ko-KR" altLang="en-US" sz="2000" b="1" dirty="0">
              <a:solidFill>
                <a:schemeClr val="bg1"/>
              </a:solidFill>
              <a:latin typeface="+mj-l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24551" y="1972010"/>
            <a:ext cx="18868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b="1" dirty="0">
                <a:solidFill>
                  <a:schemeClr val="bg1"/>
                </a:solidFill>
                <a:latin typeface="+mj-lt"/>
              </a:rPr>
              <a:t>Algorithmic Progress</a:t>
            </a:r>
            <a:endParaRPr lang="ko-KR" altLang="en-US" sz="2000" b="1" dirty="0">
              <a:solidFill>
                <a:schemeClr val="bg1"/>
              </a:solidFill>
              <a:latin typeface="+mj-lt"/>
            </a:endParaRPr>
          </a:p>
        </p:txBody>
      </p:sp>
      <p:pic>
        <p:nvPicPr>
          <p:cNvPr id="18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222" y="3928006"/>
            <a:ext cx="2472852" cy="1477624"/>
          </a:xfrm>
          <a:prstGeom prst="rect">
            <a:avLst/>
          </a:prstGeom>
        </p:spPr>
      </p:pic>
      <p:pic>
        <p:nvPicPr>
          <p:cNvPr id="19" name="그림 1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026" t="14882" r="4026" b="1975"/>
          <a:stretch/>
        </p:blipFill>
        <p:spPr>
          <a:xfrm>
            <a:off x="3662890" y="3839298"/>
            <a:ext cx="2110995" cy="156633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289083" y="3549093"/>
            <a:ext cx="2684674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 b="1" dirty="0">
                <a:solidFill>
                  <a:schemeClr val="tx2"/>
                </a:solidFill>
                <a:latin typeface="+mj-ea"/>
                <a:ea typeface="+mj-ea"/>
              </a:rPr>
              <a:t>New activation function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800" dirty="0">
                <a:solidFill>
                  <a:schemeClr val="tx2"/>
                </a:solidFill>
                <a:latin typeface="+mn-ea"/>
              </a:rPr>
              <a:t>RELU,…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 b="1" dirty="0">
                <a:solidFill>
                  <a:schemeClr val="tx2"/>
                </a:solidFill>
                <a:latin typeface="+mj-ea"/>
                <a:ea typeface="+mj-ea"/>
              </a:rPr>
              <a:t>New architecture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800" dirty="0">
                <a:solidFill>
                  <a:schemeClr val="tx2"/>
                </a:solidFill>
                <a:latin typeface="+mn-ea"/>
              </a:rPr>
              <a:t>CNN, LSTM, </a:t>
            </a:r>
            <a:r>
              <a:rPr lang="en-US" altLang="ko-KR" sz="800" dirty="0" err="1">
                <a:solidFill>
                  <a:schemeClr val="tx2"/>
                </a:solidFill>
                <a:latin typeface="+mn-ea"/>
              </a:rPr>
              <a:t>Googlenet</a:t>
            </a:r>
            <a:r>
              <a:rPr lang="en-US" altLang="ko-KR" sz="800" dirty="0">
                <a:solidFill>
                  <a:schemeClr val="tx2"/>
                </a:solidFill>
                <a:latin typeface="+mn-ea"/>
              </a:rPr>
              <a:t>,…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 b="1" dirty="0">
                <a:solidFill>
                  <a:schemeClr val="tx2"/>
                </a:solidFill>
                <a:latin typeface="+mj-ea"/>
                <a:ea typeface="+mj-ea"/>
              </a:rPr>
              <a:t>New regularization technology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800" dirty="0">
                <a:solidFill>
                  <a:schemeClr val="tx2"/>
                </a:solidFill>
                <a:latin typeface="+mn-ea"/>
              </a:rPr>
              <a:t>Dropout, pre-training, early stopping…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 b="1" dirty="0">
                <a:solidFill>
                  <a:schemeClr val="tx2"/>
                </a:solidFill>
                <a:latin typeface="+mj-ea"/>
                <a:ea typeface="+mj-ea"/>
              </a:rPr>
              <a:t>Robust optimizer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800" dirty="0" err="1">
                <a:solidFill>
                  <a:schemeClr val="tx2"/>
                </a:solidFill>
                <a:latin typeface="+mn-ea"/>
              </a:rPr>
              <a:t>Adagrad</a:t>
            </a:r>
            <a:r>
              <a:rPr lang="en-US" altLang="ko-KR" sz="800" dirty="0">
                <a:solidFill>
                  <a:schemeClr val="tx2"/>
                </a:solidFill>
                <a:latin typeface="+mn-ea"/>
              </a:rPr>
              <a:t>, Adam, </a:t>
            </a:r>
            <a:r>
              <a:rPr lang="en-US" altLang="ko-KR" sz="800" dirty="0" err="1">
                <a:solidFill>
                  <a:schemeClr val="tx2"/>
                </a:solidFill>
                <a:latin typeface="+mn-ea"/>
              </a:rPr>
              <a:t>Rmsprop</a:t>
            </a:r>
            <a:r>
              <a:rPr lang="en-US" altLang="ko-KR" sz="800" dirty="0">
                <a:solidFill>
                  <a:schemeClr val="tx2"/>
                </a:solidFill>
                <a:latin typeface="+mn-ea"/>
              </a:rPr>
              <a:t>, eve…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050" b="1" dirty="0" err="1">
                <a:solidFill>
                  <a:srgbClr val="FF6600"/>
                </a:solidFill>
                <a:latin typeface="+mj-ea"/>
              </a:rPr>
              <a:t>Opensource</a:t>
            </a:r>
            <a:r>
              <a:rPr lang="en-US" altLang="ko-KR" sz="1050" b="1" dirty="0">
                <a:solidFill>
                  <a:srgbClr val="FF6600"/>
                </a:solidFill>
                <a:latin typeface="+mj-ea"/>
              </a:rPr>
              <a:t> Framework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1560" y="5939988"/>
            <a:ext cx="8117898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ko-KR" altLang="en-US" spc="-12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6600"/>
                </a:solidFill>
                <a:latin typeface="+mj-ea"/>
                <a:ea typeface="+mj-ea"/>
              </a:rPr>
              <a:t>빅데이터</a:t>
            </a:r>
            <a:r>
              <a:rPr lang="ko-KR" altLang="en-US" spc="-12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j-ea"/>
                <a:ea typeface="+mj-ea"/>
              </a:rPr>
              <a:t>를</a:t>
            </a:r>
            <a:r>
              <a:rPr lang="en-US" altLang="ko-KR" spc="-12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j-ea"/>
                <a:ea typeface="+mj-ea"/>
              </a:rPr>
              <a:t> </a:t>
            </a:r>
            <a:r>
              <a:rPr lang="ko-KR" altLang="en-US" spc="-12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6600"/>
                </a:solidFill>
                <a:latin typeface="+mj-ea"/>
                <a:ea typeface="+mj-ea"/>
              </a:rPr>
              <a:t>아주 복잡한 네트워크</a:t>
            </a:r>
            <a:r>
              <a:rPr lang="ko-KR" altLang="en-US" spc="-12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j-ea"/>
                <a:ea typeface="+mj-ea"/>
              </a:rPr>
              <a:t>에서</a:t>
            </a:r>
            <a:r>
              <a:rPr lang="ko-KR" altLang="en-US" spc="-12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j-ea"/>
                <a:ea typeface="+mj-ea"/>
              </a:rPr>
              <a:t> </a:t>
            </a:r>
            <a:r>
              <a:rPr lang="ko-KR" altLang="en-US" spc="-12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FF6600"/>
                </a:solidFill>
                <a:latin typeface="+mj-ea"/>
                <a:ea typeface="+mj-ea"/>
              </a:rPr>
              <a:t>빠르게</a:t>
            </a:r>
            <a:r>
              <a:rPr lang="ko-KR" altLang="en-US" spc="-12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0000FF"/>
                </a:solidFill>
                <a:latin typeface="+mj-ea"/>
                <a:ea typeface="+mj-ea"/>
              </a:rPr>
              <a:t> </a:t>
            </a:r>
            <a:r>
              <a:rPr lang="ko-KR" altLang="en-US" spc="-12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j-ea"/>
                <a:ea typeface="+mj-ea"/>
              </a:rPr>
              <a:t>학습 가능해짐</a:t>
            </a:r>
          </a:p>
        </p:txBody>
      </p:sp>
    </p:spTree>
    <p:extLst>
      <p:ext uri="{BB962C8B-B14F-4D97-AF65-F5344CB8AC3E}">
        <p14:creationId xmlns:p14="http://schemas.microsoft.com/office/powerpoint/2010/main" val="2153215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3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4" name="그룹 43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48" name="직사각형 47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49" name="직사각형 48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5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46" name="직사각형 45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47" name="직사각형 46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38" name="직사각형 37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사업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(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)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52" name="직사각형 51"/>
          <p:cNvSpPr/>
          <p:nvPr/>
        </p:nvSpPr>
        <p:spPr>
          <a:xfrm>
            <a:off x="213420" y="74344"/>
            <a:ext cx="759374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사업 개요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-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잘 분류된 빅데이터의 가치</a:t>
            </a:r>
          </a:p>
        </p:txBody>
      </p:sp>
      <p:sp>
        <p:nvSpPr>
          <p:cNvPr id="31" name="모서리가 둥근 직사각형 11"/>
          <p:cNvSpPr/>
          <p:nvPr/>
        </p:nvSpPr>
        <p:spPr>
          <a:xfrm>
            <a:off x="611560" y="5624656"/>
            <a:ext cx="8117897" cy="805039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Century Gothic" panose="020B0502020202020204" pitchFamily="34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23331" y="5651945"/>
            <a:ext cx="7927219" cy="75046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pc="-12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j-ea"/>
                <a:ea typeface="+mj-ea"/>
              </a:rPr>
              <a:t>인공지능 적용 신소재</a:t>
            </a:r>
            <a:r>
              <a:rPr lang="en-US" altLang="ko-KR" spc="-12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j-ea"/>
                <a:ea typeface="+mj-ea"/>
              </a:rPr>
              <a:t>·</a:t>
            </a:r>
            <a:r>
              <a:rPr lang="ko-KR" altLang="en-US" spc="-12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j-ea"/>
                <a:ea typeface="+mj-ea"/>
              </a:rPr>
              <a:t>공정 개발을 위한 소재 빅데이터 필요 </a:t>
            </a:r>
            <a:endParaRPr lang="en-US" altLang="ko-KR" spc="-120" dirty="0">
              <a:ln>
                <a:solidFill>
                  <a:schemeClr val="bg1">
                    <a:alpha val="0"/>
                  </a:schemeClr>
                </a:solidFill>
              </a:ln>
              <a:latin typeface="+mj-ea"/>
              <a:ea typeface="+mj-ea"/>
            </a:endParaRPr>
          </a:p>
          <a:p>
            <a:pPr algn="ctr">
              <a:lnSpc>
                <a:spcPct val="125000"/>
              </a:lnSpc>
            </a:pPr>
            <a:r>
              <a:rPr lang="en-US" altLang="ko-KR" spc="-12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 </a:t>
            </a:r>
            <a:r>
              <a:rPr lang="ko-KR" altLang="en-US" spc="-12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잘 분류</a:t>
            </a:r>
            <a:r>
              <a:rPr lang="en-US" altLang="ko-KR" spc="-12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(Labeling) </a:t>
            </a:r>
            <a:r>
              <a:rPr lang="ko-KR" altLang="en-US" spc="-12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된 데이터</a:t>
            </a:r>
            <a:endParaRPr lang="ko-KR" altLang="en-US" spc="-120" dirty="0">
              <a:ln>
                <a:solidFill>
                  <a:schemeClr val="bg1">
                    <a:alpha val="0"/>
                  </a:schemeClr>
                </a:solidFill>
              </a:ln>
              <a:latin typeface="+mj-ea"/>
              <a:ea typeface="+mj-ea"/>
            </a:endParaRPr>
          </a:p>
        </p:txBody>
      </p:sp>
      <p:sp>
        <p:nvSpPr>
          <p:cNvPr id="23" name="양쪽 모서리가 둥근 사각형 19"/>
          <p:cNvSpPr/>
          <p:nvPr/>
        </p:nvSpPr>
        <p:spPr>
          <a:xfrm>
            <a:off x="5902306" y="3441010"/>
            <a:ext cx="2129960" cy="2129960"/>
          </a:xfrm>
          <a:prstGeom prst="round2SameRect">
            <a:avLst/>
          </a:prstGeom>
          <a:ln w="28575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4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012" y="1386263"/>
            <a:ext cx="1558152" cy="1651070"/>
          </a:xfrm>
          <a:prstGeom prst="rect">
            <a:avLst/>
          </a:prstGeom>
        </p:spPr>
      </p:pic>
      <p:pic>
        <p:nvPicPr>
          <p:cNvPr id="25" name="그림 7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64" r="49734"/>
          <a:stretch/>
        </p:blipFill>
        <p:spPr>
          <a:xfrm>
            <a:off x="6411041" y="1340768"/>
            <a:ext cx="1534947" cy="1776427"/>
          </a:xfrm>
          <a:prstGeom prst="rect">
            <a:avLst/>
          </a:prstGeom>
        </p:spPr>
      </p:pic>
      <p:pic>
        <p:nvPicPr>
          <p:cNvPr id="26" name="그림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0142" y="1356544"/>
            <a:ext cx="1651070" cy="1651070"/>
          </a:xfrm>
          <a:prstGeom prst="rect">
            <a:avLst/>
          </a:prstGeom>
        </p:spPr>
      </p:pic>
      <p:sp>
        <p:nvSpPr>
          <p:cNvPr id="27" name="직사각형 10"/>
          <p:cNvSpPr/>
          <p:nvPr/>
        </p:nvSpPr>
        <p:spPr>
          <a:xfrm>
            <a:off x="6040612" y="3135503"/>
            <a:ext cx="2275804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US" altLang="ko-KR" sz="1050" b="1" dirty="0">
                <a:solidFill>
                  <a:schemeClr val="accent4"/>
                </a:solidFill>
                <a:latin typeface="+mj-lt"/>
              </a:rPr>
              <a:t>NIH Chest X-ray Dataset, 112k</a:t>
            </a:r>
            <a:endParaRPr lang="ko-KR" altLang="en-US" sz="1050" b="1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28" name="직사각형 12"/>
          <p:cNvSpPr/>
          <p:nvPr/>
        </p:nvSpPr>
        <p:spPr>
          <a:xfrm>
            <a:off x="3699194" y="3107949"/>
            <a:ext cx="195296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US" altLang="ko-KR" sz="1400" b="1" dirty="0">
                <a:solidFill>
                  <a:schemeClr val="accent4"/>
                </a:solidFill>
                <a:latin typeface="+mj-lt"/>
              </a:rPr>
              <a:t>MNIST Dataset, 60k</a:t>
            </a:r>
            <a:endParaRPr lang="ko-KR" altLang="en-US" sz="1400" b="1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29" name="직사각형 13"/>
          <p:cNvSpPr/>
          <p:nvPr/>
        </p:nvSpPr>
        <p:spPr>
          <a:xfrm>
            <a:off x="899592" y="3107949"/>
            <a:ext cx="20409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US" altLang="ko-KR" sz="1400" b="1" dirty="0">
                <a:solidFill>
                  <a:schemeClr val="accent4"/>
                </a:solidFill>
                <a:latin typeface="+mj-lt"/>
              </a:rPr>
              <a:t>Go Dataset, &gt;&gt;100k</a:t>
            </a:r>
            <a:endParaRPr lang="ko-KR" altLang="en-US" sz="1400" b="1" dirty="0">
              <a:solidFill>
                <a:schemeClr val="accent4"/>
              </a:solidFill>
              <a:latin typeface="+mj-lt"/>
            </a:endParaRPr>
          </a:p>
        </p:txBody>
      </p:sp>
      <p:sp>
        <p:nvSpPr>
          <p:cNvPr id="30" name="직사각형 8"/>
          <p:cNvSpPr/>
          <p:nvPr/>
        </p:nvSpPr>
        <p:spPr>
          <a:xfrm>
            <a:off x="1136397" y="5141635"/>
            <a:ext cx="294267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en-US" altLang="ko-KR" sz="1200" b="1" dirty="0" err="1">
                <a:solidFill>
                  <a:schemeClr val="accent4"/>
                </a:solidFill>
                <a:latin typeface="+mj-lt"/>
              </a:rPr>
              <a:t>imagenet</a:t>
            </a:r>
            <a:r>
              <a:rPr lang="en-US" altLang="ko-KR" sz="1200" b="1" dirty="0">
                <a:solidFill>
                  <a:schemeClr val="accent4"/>
                </a:solidFill>
                <a:latin typeface="+mj-lt"/>
              </a:rPr>
              <a:t>, 14M (22K categories)</a:t>
            </a:r>
            <a:endParaRPr lang="ko-KR" altLang="en-US" sz="1200" b="1" dirty="0">
              <a:solidFill>
                <a:schemeClr val="accent4"/>
              </a:solidFill>
              <a:latin typeface="+mj-lt"/>
            </a:endParaRPr>
          </a:p>
        </p:txBody>
      </p:sp>
      <p:pic>
        <p:nvPicPr>
          <p:cNvPr id="33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2739" y="3755942"/>
            <a:ext cx="2849988" cy="1339262"/>
          </a:xfrm>
          <a:prstGeom prst="rect">
            <a:avLst/>
          </a:prstGeom>
        </p:spPr>
      </p:pic>
      <p:pic>
        <p:nvPicPr>
          <p:cNvPr id="34" name="그림 15" descr="그림1.png"/>
          <p:cNvPicPr>
            <a:picLocks noChangeAspect="1"/>
          </p:cNvPicPr>
          <p:nvPr/>
        </p:nvPicPr>
        <p:blipFill>
          <a:blip r:embed="rId6" cstate="print"/>
          <a:srcRect r="58983"/>
          <a:stretch>
            <a:fillRect/>
          </a:stretch>
        </p:blipFill>
        <p:spPr>
          <a:xfrm>
            <a:off x="5834590" y="3601825"/>
            <a:ext cx="1234462" cy="1717344"/>
          </a:xfrm>
          <a:prstGeom prst="rect">
            <a:avLst/>
          </a:prstGeom>
        </p:spPr>
      </p:pic>
      <p:pic>
        <p:nvPicPr>
          <p:cNvPr id="35" name="그림 16" descr="그림1.png"/>
          <p:cNvPicPr>
            <a:picLocks noChangeAspect="1"/>
          </p:cNvPicPr>
          <p:nvPr/>
        </p:nvPicPr>
        <p:blipFill>
          <a:blip r:embed="rId6" cstate="print"/>
          <a:srcRect l="55932" r="10508"/>
          <a:stretch>
            <a:fillRect/>
          </a:stretch>
        </p:blipFill>
        <p:spPr>
          <a:xfrm>
            <a:off x="6950636" y="3595520"/>
            <a:ext cx="1010014" cy="1717344"/>
          </a:xfrm>
          <a:prstGeom prst="rect">
            <a:avLst/>
          </a:prstGeom>
        </p:spPr>
      </p:pic>
      <p:sp>
        <p:nvSpPr>
          <p:cNvPr id="36" name="직사각형 17"/>
          <p:cNvSpPr/>
          <p:nvPr/>
        </p:nvSpPr>
        <p:spPr>
          <a:xfrm>
            <a:off x="5646752" y="5301772"/>
            <a:ext cx="294267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/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j-lt"/>
              </a:rPr>
              <a:t>신소재 </a:t>
            </a:r>
            <a:r>
              <a:rPr lang="en-US" altLang="ko-KR" sz="1200" b="1" dirty="0">
                <a:solidFill>
                  <a:schemeClr val="accent3">
                    <a:lumMod val="50000"/>
                  </a:schemeClr>
                </a:solidFill>
                <a:latin typeface="+mj-lt"/>
              </a:rPr>
              <a:t>AI </a:t>
            </a:r>
            <a:r>
              <a:rPr lang="ko-KR" altLang="en-US" sz="1200" b="1" dirty="0">
                <a:solidFill>
                  <a:schemeClr val="accent3">
                    <a:lumMod val="50000"/>
                  </a:schemeClr>
                </a:solidFill>
                <a:latin typeface="+mj-lt"/>
              </a:rPr>
              <a:t>빅데이터 </a:t>
            </a:r>
          </a:p>
        </p:txBody>
      </p:sp>
      <p:sp>
        <p:nvSpPr>
          <p:cNvPr id="37" name="톱니 모양의 오른쪽 화살표 18"/>
          <p:cNvSpPr/>
          <p:nvPr/>
        </p:nvSpPr>
        <p:spPr>
          <a:xfrm>
            <a:off x="4310094" y="4162426"/>
            <a:ext cx="1396718" cy="753070"/>
          </a:xfrm>
          <a:prstGeom prst="notchedRightArrow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256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25903" y="1355035"/>
            <a:ext cx="4361009" cy="3449494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9" name="모서리가 둥근 직사각형 11"/>
          <p:cNvSpPr/>
          <p:nvPr/>
        </p:nvSpPr>
        <p:spPr>
          <a:xfrm>
            <a:off x="611560" y="5624656"/>
            <a:ext cx="8117897" cy="805039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Century Gothic" panose="020B0502020202020204" pitchFamily="34" charset="0"/>
            </a:endParaRPr>
          </a:p>
        </p:txBody>
      </p:sp>
      <p:grpSp>
        <p:nvGrpSpPr>
          <p:cNvPr id="2" name="그룹 34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3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4" name="그룹 43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48" name="직사각형 47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49" name="직사각형 48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5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46" name="직사각형 45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47" name="직사각형 46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38" name="직사각형 37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사업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(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)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52" name="직사각형 51"/>
          <p:cNvSpPr/>
          <p:nvPr/>
        </p:nvSpPr>
        <p:spPr>
          <a:xfrm>
            <a:off x="213420" y="74344"/>
            <a:ext cx="611898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사업 개요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-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수집 데이터의 한계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1560" y="5651945"/>
            <a:ext cx="8085870" cy="75046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pc="-12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j-ea"/>
                <a:ea typeface="+mj-ea"/>
              </a:rPr>
              <a:t>수집 데이터는</a:t>
            </a:r>
            <a:r>
              <a:rPr lang="en-US" altLang="ko-KR" spc="-12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j-ea"/>
                <a:ea typeface="+mj-ea"/>
              </a:rPr>
              <a:t> </a:t>
            </a:r>
            <a:r>
              <a:rPr lang="ko-KR" altLang="en-US" spc="-12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j-ea"/>
                <a:ea typeface="+mj-ea"/>
              </a:rPr>
              <a:t>인공지능 학습에 필요한 데이터 중 극히 일부 </a:t>
            </a:r>
            <a:endParaRPr lang="en-US" altLang="ko-KR" spc="-120" dirty="0">
              <a:ln>
                <a:solidFill>
                  <a:schemeClr val="bg1">
                    <a:alpha val="0"/>
                  </a:schemeClr>
                </a:solidFill>
              </a:ln>
              <a:latin typeface="+mj-ea"/>
              <a:ea typeface="+mj-ea"/>
            </a:endParaRPr>
          </a:p>
          <a:p>
            <a:pPr algn="ctr">
              <a:lnSpc>
                <a:spcPct val="125000"/>
              </a:lnSpc>
            </a:pPr>
            <a:r>
              <a:rPr lang="en-US" altLang="ko-KR" spc="-12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 </a:t>
            </a:r>
            <a:r>
              <a:rPr lang="ko-KR" altLang="en-US" spc="-12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j-ea"/>
                <a:ea typeface="+mj-ea"/>
                <a:sym typeface="Wingdings" panose="05000000000000000000" pitchFamily="2" charset="2"/>
              </a:rPr>
              <a:t>데이터 수집 속도 및 시간 한계 </a:t>
            </a:r>
            <a:r>
              <a:rPr lang="ko-KR" altLang="en-US" spc="-12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+mj-ea"/>
                <a:ea typeface="+mj-ea"/>
              </a:rPr>
              <a:t> </a:t>
            </a:r>
          </a:p>
        </p:txBody>
      </p:sp>
      <p:pic>
        <p:nvPicPr>
          <p:cNvPr id="14" name="그림 3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03" y="1474116"/>
            <a:ext cx="4341427" cy="3218507"/>
          </a:xfrm>
          <a:prstGeom prst="rect">
            <a:avLst/>
          </a:prstGeom>
        </p:spPr>
      </p:pic>
      <p:grpSp>
        <p:nvGrpSpPr>
          <p:cNvPr id="15" name="그룹 20">
            <a:extLst>
              <a:ext uri="{FF2B5EF4-FFF2-40B4-BE49-F238E27FC236}">
                <a16:creationId xmlns:a16="http://schemas.microsoft.com/office/drawing/2014/main" id="{6BF64A5E-8A1B-604E-8A2D-2A83F91C972C}"/>
              </a:ext>
            </a:extLst>
          </p:cNvPr>
          <p:cNvGrpSpPr/>
          <p:nvPr/>
        </p:nvGrpSpPr>
        <p:grpSpPr>
          <a:xfrm>
            <a:off x="6866320" y="925908"/>
            <a:ext cx="1901900" cy="1984944"/>
            <a:chOff x="5804350" y="1171729"/>
            <a:chExt cx="1519153" cy="1585485"/>
          </a:xfrm>
        </p:grpSpPr>
        <p:sp>
          <p:nvSpPr>
            <p:cNvPr id="16" name="직사각형 21">
              <a:extLst>
                <a:ext uri="{FF2B5EF4-FFF2-40B4-BE49-F238E27FC236}">
                  <a16:creationId xmlns:a16="http://schemas.microsoft.com/office/drawing/2014/main" id="{53D2FBFA-122C-8F45-B075-97E32084D66D}"/>
                </a:ext>
              </a:extLst>
            </p:cNvPr>
            <p:cNvSpPr/>
            <p:nvPr/>
          </p:nvSpPr>
          <p:spPr>
            <a:xfrm>
              <a:off x="5826623" y="1199014"/>
              <a:ext cx="1465915" cy="15305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17" name="다이아몬드 22">
              <a:extLst>
                <a:ext uri="{FF2B5EF4-FFF2-40B4-BE49-F238E27FC236}">
                  <a16:creationId xmlns:a16="http://schemas.microsoft.com/office/drawing/2014/main" id="{6EF2B748-B893-0644-B2CF-ABD1E24F3132}"/>
                </a:ext>
              </a:extLst>
            </p:cNvPr>
            <p:cNvSpPr/>
            <p:nvPr/>
          </p:nvSpPr>
          <p:spPr>
            <a:xfrm>
              <a:off x="5804350" y="1171729"/>
              <a:ext cx="56544" cy="59036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18" name="타원 23">
              <a:extLst>
                <a:ext uri="{FF2B5EF4-FFF2-40B4-BE49-F238E27FC236}">
                  <a16:creationId xmlns:a16="http://schemas.microsoft.com/office/drawing/2014/main" id="{9ABFD3A6-182A-6241-AB3C-DA3EA48F7ACC}"/>
                </a:ext>
              </a:extLst>
            </p:cNvPr>
            <p:cNvSpPr/>
            <p:nvPr/>
          </p:nvSpPr>
          <p:spPr>
            <a:xfrm>
              <a:off x="5804350" y="1345398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19" name="타원 24">
              <a:extLst>
                <a:ext uri="{FF2B5EF4-FFF2-40B4-BE49-F238E27FC236}">
                  <a16:creationId xmlns:a16="http://schemas.microsoft.com/office/drawing/2014/main" id="{10553171-A070-1F4C-8755-330119005781}"/>
                </a:ext>
              </a:extLst>
            </p:cNvPr>
            <p:cNvSpPr/>
            <p:nvPr/>
          </p:nvSpPr>
          <p:spPr>
            <a:xfrm>
              <a:off x="5804350" y="1514496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20" name="다이아몬드 25">
              <a:extLst>
                <a:ext uri="{FF2B5EF4-FFF2-40B4-BE49-F238E27FC236}">
                  <a16:creationId xmlns:a16="http://schemas.microsoft.com/office/drawing/2014/main" id="{4D936D3A-8069-C44A-AACB-918FAEE0793F}"/>
                </a:ext>
              </a:extLst>
            </p:cNvPr>
            <p:cNvSpPr/>
            <p:nvPr/>
          </p:nvSpPr>
          <p:spPr>
            <a:xfrm>
              <a:off x="5804350" y="1683593"/>
              <a:ext cx="56544" cy="59036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21" name="타원 26">
              <a:extLst>
                <a:ext uri="{FF2B5EF4-FFF2-40B4-BE49-F238E27FC236}">
                  <a16:creationId xmlns:a16="http://schemas.microsoft.com/office/drawing/2014/main" id="{B736B5FD-BE26-5F41-80A7-F985867672E2}"/>
                </a:ext>
              </a:extLst>
            </p:cNvPr>
            <p:cNvSpPr/>
            <p:nvPr/>
          </p:nvSpPr>
          <p:spPr>
            <a:xfrm>
              <a:off x="5804350" y="1852691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22" name="타원 27">
              <a:extLst>
                <a:ext uri="{FF2B5EF4-FFF2-40B4-BE49-F238E27FC236}">
                  <a16:creationId xmlns:a16="http://schemas.microsoft.com/office/drawing/2014/main" id="{7FFC12F5-98E8-444F-B2C8-4A0B89209B10}"/>
                </a:ext>
              </a:extLst>
            </p:cNvPr>
            <p:cNvSpPr/>
            <p:nvPr/>
          </p:nvSpPr>
          <p:spPr>
            <a:xfrm>
              <a:off x="5804350" y="2021788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23" name="다이아몬드 28">
              <a:extLst>
                <a:ext uri="{FF2B5EF4-FFF2-40B4-BE49-F238E27FC236}">
                  <a16:creationId xmlns:a16="http://schemas.microsoft.com/office/drawing/2014/main" id="{F57C2EE8-3930-AB48-AEB3-19348769DCDA}"/>
                </a:ext>
              </a:extLst>
            </p:cNvPr>
            <p:cNvSpPr/>
            <p:nvPr/>
          </p:nvSpPr>
          <p:spPr>
            <a:xfrm>
              <a:off x="5804350" y="2190885"/>
              <a:ext cx="56544" cy="59036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24" name="타원 29">
              <a:extLst>
                <a:ext uri="{FF2B5EF4-FFF2-40B4-BE49-F238E27FC236}">
                  <a16:creationId xmlns:a16="http://schemas.microsoft.com/office/drawing/2014/main" id="{4BDD7F8C-3A84-314E-A5C8-69C383BEE21C}"/>
                </a:ext>
              </a:extLst>
            </p:cNvPr>
            <p:cNvSpPr/>
            <p:nvPr/>
          </p:nvSpPr>
          <p:spPr>
            <a:xfrm>
              <a:off x="5804350" y="2359983"/>
              <a:ext cx="45894" cy="47917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sz="1463">
                <a:solidFill>
                  <a:srgbClr val="FF0000"/>
                </a:solidFill>
              </a:endParaRPr>
            </a:p>
          </p:txBody>
        </p:sp>
        <p:sp>
          <p:nvSpPr>
            <p:cNvPr id="25" name="타원 30">
              <a:extLst>
                <a:ext uri="{FF2B5EF4-FFF2-40B4-BE49-F238E27FC236}">
                  <a16:creationId xmlns:a16="http://schemas.microsoft.com/office/drawing/2014/main" id="{6F9442AC-E2F9-7F48-AEFB-807BBBD7F8D9}"/>
                </a:ext>
              </a:extLst>
            </p:cNvPr>
            <p:cNvSpPr/>
            <p:nvPr/>
          </p:nvSpPr>
          <p:spPr>
            <a:xfrm>
              <a:off x="5804350" y="2529080"/>
              <a:ext cx="45894" cy="47917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sz="1463">
                <a:solidFill>
                  <a:srgbClr val="FF0000"/>
                </a:solidFill>
              </a:endParaRPr>
            </a:p>
          </p:txBody>
        </p:sp>
        <p:sp>
          <p:nvSpPr>
            <p:cNvPr id="26" name="타원 31">
              <a:extLst>
                <a:ext uri="{FF2B5EF4-FFF2-40B4-BE49-F238E27FC236}">
                  <a16:creationId xmlns:a16="http://schemas.microsoft.com/office/drawing/2014/main" id="{2BE78391-4A0B-8A4B-B332-2765B9B4FD67}"/>
                </a:ext>
              </a:extLst>
            </p:cNvPr>
            <p:cNvSpPr/>
            <p:nvPr/>
          </p:nvSpPr>
          <p:spPr>
            <a:xfrm>
              <a:off x="5804350" y="2698178"/>
              <a:ext cx="45894" cy="47917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sz="1463">
                <a:solidFill>
                  <a:srgbClr val="FF0000"/>
                </a:solidFill>
              </a:endParaRPr>
            </a:p>
          </p:txBody>
        </p:sp>
        <p:sp>
          <p:nvSpPr>
            <p:cNvPr id="27" name="타원 32">
              <a:extLst>
                <a:ext uri="{FF2B5EF4-FFF2-40B4-BE49-F238E27FC236}">
                  <a16:creationId xmlns:a16="http://schemas.microsoft.com/office/drawing/2014/main" id="{835DEEBC-4C6C-9C4D-A793-9EA4F3879AB8}"/>
                </a:ext>
              </a:extLst>
            </p:cNvPr>
            <p:cNvSpPr/>
            <p:nvPr/>
          </p:nvSpPr>
          <p:spPr>
            <a:xfrm>
              <a:off x="6129374" y="1177289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28" name="타원 33">
              <a:extLst>
                <a:ext uri="{FF2B5EF4-FFF2-40B4-BE49-F238E27FC236}">
                  <a16:creationId xmlns:a16="http://schemas.microsoft.com/office/drawing/2014/main" id="{FBF5D031-D6CF-AA43-8EFC-38F15FDFF8F7}"/>
                </a:ext>
              </a:extLst>
            </p:cNvPr>
            <p:cNvSpPr/>
            <p:nvPr/>
          </p:nvSpPr>
          <p:spPr>
            <a:xfrm>
              <a:off x="6129374" y="1345398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29" name="타원 34">
              <a:extLst>
                <a:ext uri="{FF2B5EF4-FFF2-40B4-BE49-F238E27FC236}">
                  <a16:creationId xmlns:a16="http://schemas.microsoft.com/office/drawing/2014/main" id="{219B464F-1568-F842-A46D-1C7B8B803A95}"/>
                </a:ext>
              </a:extLst>
            </p:cNvPr>
            <p:cNvSpPr/>
            <p:nvPr/>
          </p:nvSpPr>
          <p:spPr>
            <a:xfrm>
              <a:off x="6129374" y="1514496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30" name="타원 35">
              <a:extLst>
                <a:ext uri="{FF2B5EF4-FFF2-40B4-BE49-F238E27FC236}">
                  <a16:creationId xmlns:a16="http://schemas.microsoft.com/office/drawing/2014/main" id="{82A1F304-2021-1548-91DA-1CA3B76CF56E}"/>
                </a:ext>
              </a:extLst>
            </p:cNvPr>
            <p:cNvSpPr/>
            <p:nvPr/>
          </p:nvSpPr>
          <p:spPr>
            <a:xfrm>
              <a:off x="6129374" y="1683593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31" name="타원 36">
              <a:extLst>
                <a:ext uri="{FF2B5EF4-FFF2-40B4-BE49-F238E27FC236}">
                  <a16:creationId xmlns:a16="http://schemas.microsoft.com/office/drawing/2014/main" id="{5A34986C-A5B9-FD47-BE57-1F788A284384}"/>
                </a:ext>
              </a:extLst>
            </p:cNvPr>
            <p:cNvSpPr/>
            <p:nvPr/>
          </p:nvSpPr>
          <p:spPr>
            <a:xfrm>
              <a:off x="6129374" y="1852691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32" name="타원 37">
              <a:extLst>
                <a:ext uri="{FF2B5EF4-FFF2-40B4-BE49-F238E27FC236}">
                  <a16:creationId xmlns:a16="http://schemas.microsoft.com/office/drawing/2014/main" id="{70BFBCBC-AC10-1645-B9B0-3BD3696E6022}"/>
                </a:ext>
              </a:extLst>
            </p:cNvPr>
            <p:cNvSpPr/>
            <p:nvPr/>
          </p:nvSpPr>
          <p:spPr>
            <a:xfrm>
              <a:off x="6129374" y="2021788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33" name="타원 38">
              <a:extLst>
                <a:ext uri="{FF2B5EF4-FFF2-40B4-BE49-F238E27FC236}">
                  <a16:creationId xmlns:a16="http://schemas.microsoft.com/office/drawing/2014/main" id="{DC4A230C-35BA-AD46-8203-A1E760398C4F}"/>
                </a:ext>
              </a:extLst>
            </p:cNvPr>
            <p:cNvSpPr/>
            <p:nvPr/>
          </p:nvSpPr>
          <p:spPr>
            <a:xfrm>
              <a:off x="6129374" y="2190885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34" name="타원 39">
              <a:extLst>
                <a:ext uri="{FF2B5EF4-FFF2-40B4-BE49-F238E27FC236}">
                  <a16:creationId xmlns:a16="http://schemas.microsoft.com/office/drawing/2014/main" id="{221DA585-119A-D447-93D8-2B9A34457BAB}"/>
                </a:ext>
              </a:extLst>
            </p:cNvPr>
            <p:cNvSpPr/>
            <p:nvPr/>
          </p:nvSpPr>
          <p:spPr>
            <a:xfrm>
              <a:off x="6129374" y="2359983"/>
              <a:ext cx="45894" cy="47917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sz="1463">
                <a:solidFill>
                  <a:srgbClr val="FF0000"/>
                </a:solidFill>
              </a:endParaRPr>
            </a:p>
          </p:txBody>
        </p:sp>
        <p:sp>
          <p:nvSpPr>
            <p:cNvPr id="35" name="타원 40">
              <a:extLst>
                <a:ext uri="{FF2B5EF4-FFF2-40B4-BE49-F238E27FC236}">
                  <a16:creationId xmlns:a16="http://schemas.microsoft.com/office/drawing/2014/main" id="{BD6158D0-6B58-814B-9C4C-2F0620584B17}"/>
                </a:ext>
              </a:extLst>
            </p:cNvPr>
            <p:cNvSpPr/>
            <p:nvPr/>
          </p:nvSpPr>
          <p:spPr>
            <a:xfrm>
              <a:off x="6129374" y="2529080"/>
              <a:ext cx="45894" cy="47917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sz="1463">
                <a:solidFill>
                  <a:srgbClr val="FF0000"/>
                </a:solidFill>
              </a:endParaRPr>
            </a:p>
          </p:txBody>
        </p:sp>
        <p:sp>
          <p:nvSpPr>
            <p:cNvPr id="36" name="타원 41">
              <a:extLst>
                <a:ext uri="{FF2B5EF4-FFF2-40B4-BE49-F238E27FC236}">
                  <a16:creationId xmlns:a16="http://schemas.microsoft.com/office/drawing/2014/main" id="{47548EE6-AB00-9D42-B1A4-126302D8EA1B}"/>
                </a:ext>
              </a:extLst>
            </p:cNvPr>
            <p:cNvSpPr/>
            <p:nvPr/>
          </p:nvSpPr>
          <p:spPr>
            <a:xfrm>
              <a:off x="6129374" y="2698178"/>
              <a:ext cx="45894" cy="47917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sz="1463">
                <a:solidFill>
                  <a:srgbClr val="FF0000"/>
                </a:solidFill>
              </a:endParaRPr>
            </a:p>
          </p:txBody>
        </p:sp>
        <p:sp>
          <p:nvSpPr>
            <p:cNvPr id="37" name="다이아몬드 42">
              <a:extLst>
                <a:ext uri="{FF2B5EF4-FFF2-40B4-BE49-F238E27FC236}">
                  <a16:creationId xmlns:a16="http://schemas.microsoft.com/office/drawing/2014/main" id="{242365E1-7BB8-4342-9D0E-F976C859C904}"/>
                </a:ext>
              </a:extLst>
            </p:cNvPr>
            <p:cNvSpPr/>
            <p:nvPr/>
          </p:nvSpPr>
          <p:spPr>
            <a:xfrm>
              <a:off x="6291887" y="1171729"/>
              <a:ext cx="56544" cy="59036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39" name="타원 43">
              <a:extLst>
                <a:ext uri="{FF2B5EF4-FFF2-40B4-BE49-F238E27FC236}">
                  <a16:creationId xmlns:a16="http://schemas.microsoft.com/office/drawing/2014/main" id="{E681146E-31AC-0949-BD16-B5C3C9EB3263}"/>
                </a:ext>
              </a:extLst>
            </p:cNvPr>
            <p:cNvSpPr/>
            <p:nvPr/>
          </p:nvSpPr>
          <p:spPr>
            <a:xfrm>
              <a:off x="6291887" y="1345398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40" name="타원 44">
              <a:extLst>
                <a:ext uri="{FF2B5EF4-FFF2-40B4-BE49-F238E27FC236}">
                  <a16:creationId xmlns:a16="http://schemas.microsoft.com/office/drawing/2014/main" id="{05C2B485-98C2-0E41-8224-626A643D36F1}"/>
                </a:ext>
              </a:extLst>
            </p:cNvPr>
            <p:cNvSpPr/>
            <p:nvPr/>
          </p:nvSpPr>
          <p:spPr>
            <a:xfrm>
              <a:off x="6291887" y="1514496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41" name="다이아몬드 45">
              <a:extLst>
                <a:ext uri="{FF2B5EF4-FFF2-40B4-BE49-F238E27FC236}">
                  <a16:creationId xmlns:a16="http://schemas.microsoft.com/office/drawing/2014/main" id="{16907672-17B1-2949-9782-FF8E470BF9AD}"/>
                </a:ext>
              </a:extLst>
            </p:cNvPr>
            <p:cNvSpPr/>
            <p:nvPr/>
          </p:nvSpPr>
          <p:spPr>
            <a:xfrm>
              <a:off x="6291887" y="1683593"/>
              <a:ext cx="56544" cy="59036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42" name="타원 46">
              <a:extLst>
                <a:ext uri="{FF2B5EF4-FFF2-40B4-BE49-F238E27FC236}">
                  <a16:creationId xmlns:a16="http://schemas.microsoft.com/office/drawing/2014/main" id="{8319F7EF-B679-1849-8D79-3A3D80A90BD7}"/>
                </a:ext>
              </a:extLst>
            </p:cNvPr>
            <p:cNvSpPr/>
            <p:nvPr/>
          </p:nvSpPr>
          <p:spPr>
            <a:xfrm>
              <a:off x="6291887" y="1852691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43" name="타원 47">
              <a:extLst>
                <a:ext uri="{FF2B5EF4-FFF2-40B4-BE49-F238E27FC236}">
                  <a16:creationId xmlns:a16="http://schemas.microsoft.com/office/drawing/2014/main" id="{B5E15DAD-3598-F945-A1B4-01F88F49F813}"/>
                </a:ext>
              </a:extLst>
            </p:cNvPr>
            <p:cNvSpPr/>
            <p:nvPr/>
          </p:nvSpPr>
          <p:spPr>
            <a:xfrm>
              <a:off x="6291887" y="2021788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44" name="다이아몬드 48">
              <a:extLst>
                <a:ext uri="{FF2B5EF4-FFF2-40B4-BE49-F238E27FC236}">
                  <a16:creationId xmlns:a16="http://schemas.microsoft.com/office/drawing/2014/main" id="{5C080A54-5ADA-8040-9ABC-D6C59DB4B56C}"/>
                </a:ext>
              </a:extLst>
            </p:cNvPr>
            <p:cNvSpPr/>
            <p:nvPr/>
          </p:nvSpPr>
          <p:spPr>
            <a:xfrm>
              <a:off x="6291887" y="2190885"/>
              <a:ext cx="56544" cy="59036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45" name="타원 49">
              <a:extLst>
                <a:ext uri="{FF2B5EF4-FFF2-40B4-BE49-F238E27FC236}">
                  <a16:creationId xmlns:a16="http://schemas.microsoft.com/office/drawing/2014/main" id="{EC19C3FD-580E-4D40-9A70-08AED9504518}"/>
                </a:ext>
              </a:extLst>
            </p:cNvPr>
            <p:cNvSpPr/>
            <p:nvPr/>
          </p:nvSpPr>
          <p:spPr>
            <a:xfrm>
              <a:off x="6291887" y="2359983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50" name="타원 50">
              <a:extLst>
                <a:ext uri="{FF2B5EF4-FFF2-40B4-BE49-F238E27FC236}">
                  <a16:creationId xmlns:a16="http://schemas.microsoft.com/office/drawing/2014/main" id="{5905C656-F349-B744-A5C5-BF167ABC2981}"/>
                </a:ext>
              </a:extLst>
            </p:cNvPr>
            <p:cNvSpPr/>
            <p:nvPr/>
          </p:nvSpPr>
          <p:spPr>
            <a:xfrm>
              <a:off x="6291887" y="2529080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51" name="다이아몬드 51">
              <a:extLst>
                <a:ext uri="{FF2B5EF4-FFF2-40B4-BE49-F238E27FC236}">
                  <a16:creationId xmlns:a16="http://schemas.microsoft.com/office/drawing/2014/main" id="{4C267495-2CFF-2A48-8F18-26E270817241}"/>
                </a:ext>
              </a:extLst>
            </p:cNvPr>
            <p:cNvSpPr/>
            <p:nvPr/>
          </p:nvSpPr>
          <p:spPr>
            <a:xfrm>
              <a:off x="6291887" y="2698178"/>
              <a:ext cx="56544" cy="59036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53" name="타원 52">
              <a:extLst>
                <a:ext uri="{FF2B5EF4-FFF2-40B4-BE49-F238E27FC236}">
                  <a16:creationId xmlns:a16="http://schemas.microsoft.com/office/drawing/2014/main" id="{58045C50-2BCB-9B40-8461-1F42B17B0E59}"/>
                </a:ext>
              </a:extLst>
            </p:cNvPr>
            <p:cNvSpPr/>
            <p:nvPr/>
          </p:nvSpPr>
          <p:spPr>
            <a:xfrm>
              <a:off x="6454399" y="1177289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54" name="타원 53">
              <a:extLst>
                <a:ext uri="{FF2B5EF4-FFF2-40B4-BE49-F238E27FC236}">
                  <a16:creationId xmlns:a16="http://schemas.microsoft.com/office/drawing/2014/main" id="{D565DC66-6D36-EA46-9ED2-8A69FC258309}"/>
                </a:ext>
              </a:extLst>
            </p:cNvPr>
            <p:cNvSpPr/>
            <p:nvPr/>
          </p:nvSpPr>
          <p:spPr>
            <a:xfrm>
              <a:off x="6454399" y="1345398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55" name="타원 54">
              <a:extLst>
                <a:ext uri="{FF2B5EF4-FFF2-40B4-BE49-F238E27FC236}">
                  <a16:creationId xmlns:a16="http://schemas.microsoft.com/office/drawing/2014/main" id="{679F4DD8-3D4A-1042-B58C-96D2B91826FB}"/>
                </a:ext>
              </a:extLst>
            </p:cNvPr>
            <p:cNvSpPr/>
            <p:nvPr/>
          </p:nvSpPr>
          <p:spPr>
            <a:xfrm>
              <a:off x="6454399" y="1514496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56" name="타원 55">
              <a:extLst>
                <a:ext uri="{FF2B5EF4-FFF2-40B4-BE49-F238E27FC236}">
                  <a16:creationId xmlns:a16="http://schemas.microsoft.com/office/drawing/2014/main" id="{36BC532D-3026-A546-BBAC-AF5BB76BF902}"/>
                </a:ext>
              </a:extLst>
            </p:cNvPr>
            <p:cNvSpPr/>
            <p:nvPr/>
          </p:nvSpPr>
          <p:spPr>
            <a:xfrm>
              <a:off x="6454399" y="1683593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57" name="타원 56">
              <a:extLst>
                <a:ext uri="{FF2B5EF4-FFF2-40B4-BE49-F238E27FC236}">
                  <a16:creationId xmlns:a16="http://schemas.microsoft.com/office/drawing/2014/main" id="{301684A2-3A04-C24C-9F5B-A6A373D22FA7}"/>
                </a:ext>
              </a:extLst>
            </p:cNvPr>
            <p:cNvSpPr/>
            <p:nvPr/>
          </p:nvSpPr>
          <p:spPr>
            <a:xfrm>
              <a:off x="6454399" y="1852691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58" name="타원 57">
              <a:extLst>
                <a:ext uri="{FF2B5EF4-FFF2-40B4-BE49-F238E27FC236}">
                  <a16:creationId xmlns:a16="http://schemas.microsoft.com/office/drawing/2014/main" id="{7D96FE3D-7547-444D-8F57-77068A043041}"/>
                </a:ext>
              </a:extLst>
            </p:cNvPr>
            <p:cNvSpPr/>
            <p:nvPr/>
          </p:nvSpPr>
          <p:spPr>
            <a:xfrm>
              <a:off x="6454399" y="2021788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59" name="타원 58">
              <a:extLst>
                <a:ext uri="{FF2B5EF4-FFF2-40B4-BE49-F238E27FC236}">
                  <a16:creationId xmlns:a16="http://schemas.microsoft.com/office/drawing/2014/main" id="{4DF52B38-4E9C-2848-9EF8-AF4A60A9F355}"/>
                </a:ext>
              </a:extLst>
            </p:cNvPr>
            <p:cNvSpPr/>
            <p:nvPr/>
          </p:nvSpPr>
          <p:spPr>
            <a:xfrm>
              <a:off x="6454399" y="2190885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CA1DFBF5-E617-854E-B69C-F51BD42C2376}"/>
                </a:ext>
              </a:extLst>
            </p:cNvPr>
            <p:cNvSpPr/>
            <p:nvPr/>
          </p:nvSpPr>
          <p:spPr>
            <a:xfrm>
              <a:off x="6454399" y="2359983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C9D003AA-80E8-874F-90E2-76972808DB7A}"/>
                </a:ext>
              </a:extLst>
            </p:cNvPr>
            <p:cNvSpPr/>
            <p:nvPr/>
          </p:nvSpPr>
          <p:spPr>
            <a:xfrm>
              <a:off x="6454399" y="2529080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62" name="타원 61">
              <a:extLst>
                <a:ext uri="{FF2B5EF4-FFF2-40B4-BE49-F238E27FC236}">
                  <a16:creationId xmlns:a16="http://schemas.microsoft.com/office/drawing/2014/main" id="{4D38C43C-7421-CC41-AC36-2CE00EBA2BEA}"/>
                </a:ext>
              </a:extLst>
            </p:cNvPr>
            <p:cNvSpPr/>
            <p:nvPr/>
          </p:nvSpPr>
          <p:spPr>
            <a:xfrm>
              <a:off x="6454399" y="2698178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63" name="다이아몬드 62">
              <a:extLst>
                <a:ext uri="{FF2B5EF4-FFF2-40B4-BE49-F238E27FC236}">
                  <a16:creationId xmlns:a16="http://schemas.microsoft.com/office/drawing/2014/main" id="{97940E0A-4A9F-F64D-B394-4CE09AF5B918}"/>
                </a:ext>
              </a:extLst>
            </p:cNvPr>
            <p:cNvSpPr/>
            <p:nvPr/>
          </p:nvSpPr>
          <p:spPr>
            <a:xfrm>
              <a:off x="6779423" y="1171729"/>
              <a:ext cx="56544" cy="59036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64" name="타원 63">
              <a:extLst>
                <a:ext uri="{FF2B5EF4-FFF2-40B4-BE49-F238E27FC236}">
                  <a16:creationId xmlns:a16="http://schemas.microsoft.com/office/drawing/2014/main" id="{2D769131-5525-D947-B229-EAA11F438659}"/>
                </a:ext>
              </a:extLst>
            </p:cNvPr>
            <p:cNvSpPr/>
            <p:nvPr/>
          </p:nvSpPr>
          <p:spPr>
            <a:xfrm>
              <a:off x="6779423" y="1345398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65" name="타원 64">
              <a:extLst>
                <a:ext uri="{FF2B5EF4-FFF2-40B4-BE49-F238E27FC236}">
                  <a16:creationId xmlns:a16="http://schemas.microsoft.com/office/drawing/2014/main" id="{C0AF2AB2-0490-FD45-A54B-B5CAE1BC5B26}"/>
                </a:ext>
              </a:extLst>
            </p:cNvPr>
            <p:cNvSpPr/>
            <p:nvPr/>
          </p:nvSpPr>
          <p:spPr>
            <a:xfrm>
              <a:off x="6779423" y="1514496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66" name="다이아몬드 65">
              <a:extLst>
                <a:ext uri="{FF2B5EF4-FFF2-40B4-BE49-F238E27FC236}">
                  <a16:creationId xmlns:a16="http://schemas.microsoft.com/office/drawing/2014/main" id="{21B21F98-F521-B244-8A48-3DF499D0DE6A}"/>
                </a:ext>
              </a:extLst>
            </p:cNvPr>
            <p:cNvSpPr/>
            <p:nvPr/>
          </p:nvSpPr>
          <p:spPr>
            <a:xfrm>
              <a:off x="6779423" y="1683593"/>
              <a:ext cx="56544" cy="59036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67" name="타원 66">
              <a:extLst>
                <a:ext uri="{FF2B5EF4-FFF2-40B4-BE49-F238E27FC236}">
                  <a16:creationId xmlns:a16="http://schemas.microsoft.com/office/drawing/2014/main" id="{8A7DB534-57EC-264B-98F8-292E9B1B6AF5}"/>
                </a:ext>
              </a:extLst>
            </p:cNvPr>
            <p:cNvSpPr/>
            <p:nvPr/>
          </p:nvSpPr>
          <p:spPr>
            <a:xfrm>
              <a:off x="6779423" y="1852691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68" name="타원 67">
              <a:extLst>
                <a:ext uri="{FF2B5EF4-FFF2-40B4-BE49-F238E27FC236}">
                  <a16:creationId xmlns:a16="http://schemas.microsoft.com/office/drawing/2014/main" id="{E70CD146-9BEE-ED4F-8FE3-9B71C34CF01B}"/>
                </a:ext>
              </a:extLst>
            </p:cNvPr>
            <p:cNvSpPr/>
            <p:nvPr/>
          </p:nvSpPr>
          <p:spPr>
            <a:xfrm>
              <a:off x="6779423" y="2021788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69" name="다이아몬드 68">
              <a:extLst>
                <a:ext uri="{FF2B5EF4-FFF2-40B4-BE49-F238E27FC236}">
                  <a16:creationId xmlns:a16="http://schemas.microsoft.com/office/drawing/2014/main" id="{E5D20D50-B3DD-5B45-909D-C4FDAFA4D2F5}"/>
                </a:ext>
              </a:extLst>
            </p:cNvPr>
            <p:cNvSpPr/>
            <p:nvPr/>
          </p:nvSpPr>
          <p:spPr>
            <a:xfrm>
              <a:off x="6779423" y="2190885"/>
              <a:ext cx="56544" cy="59036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70" name="타원 69">
              <a:extLst>
                <a:ext uri="{FF2B5EF4-FFF2-40B4-BE49-F238E27FC236}">
                  <a16:creationId xmlns:a16="http://schemas.microsoft.com/office/drawing/2014/main" id="{569F9E5F-707C-EF46-9DDF-294FC4ED67FF}"/>
                </a:ext>
              </a:extLst>
            </p:cNvPr>
            <p:cNvSpPr/>
            <p:nvPr/>
          </p:nvSpPr>
          <p:spPr>
            <a:xfrm>
              <a:off x="6779423" y="2359983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71" name="타원 70">
              <a:extLst>
                <a:ext uri="{FF2B5EF4-FFF2-40B4-BE49-F238E27FC236}">
                  <a16:creationId xmlns:a16="http://schemas.microsoft.com/office/drawing/2014/main" id="{5201AFB1-19EA-614B-9F5F-AAD709189215}"/>
                </a:ext>
              </a:extLst>
            </p:cNvPr>
            <p:cNvSpPr/>
            <p:nvPr/>
          </p:nvSpPr>
          <p:spPr>
            <a:xfrm>
              <a:off x="6779423" y="2529080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72" name="다이아몬드 71">
              <a:extLst>
                <a:ext uri="{FF2B5EF4-FFF2-40B4-BE49-F238E27FC236}">
                  <a16:creationId xmlns:a16="http://schemas.microsoft.com/office/drawing/2014/main" id="{0138ED78-50C2-2D44-BBD3-52CB12FA1EBF}"/>
                </a:ext>
              </a:extLst>
            </p:cNvPr>
            <p:cNvSpPr/>
            <p:nvPr/>
          </p:nvSpPr>
          <p:spPr>
            <a:xfrm>
              <a:off x="6779423" y="2698178"/>
              <a:ext cx="56544" cy="59036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BB3CCD17-5993-CC40-84B2-B9200DECCFBB}"/>
                </a:ext>
              </a:extLst>
            </p:cNvPr>
            <p:cNvSpPr/>
            <p:nvPr/>
          </p:nvSpPr>
          <p:spPr>
            <a:xfrm>
              <a:off x="6941936" y="1177289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74" name="타원 73">
              <a:extLst>
                <a:ext uri="{FF2B5EF4-FFF2-40B4-BE49-F238E27FC236}">
                  <a16:creationId xmlns:a16="http://schemas.microsoft.com/office/drawing/2014/main" id="{DDD2B346-372C-2A4F-8160-C74600A1E79C}"/>
                </a:ext>
              </a:extLst>
            </p:cNvPr>
            <p:cNvSpPr/>
            <p:nvPr/>
          </p:nvSpPr>
          <p:spPr>
            <a:xfrm>
              <a:off x="6941936" y="1345398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75" name="타원 74">
              <a:extLst>
                <a:ext uri="{FF2B5EF4-FFF2-40B4-BE49-F238E27FC236}">
                  <a16:creationId xmlns:a16="http://schemas.microsoft.com/office/drawing/2014/main" id="{28C53311-877D-2847-B6B3-9A24858CDA2D}"/>
                </a:ext>
              </a:extLst>
            </p:cNvPr>
            <p:cNvSpPr/>
            <p:nvPr/>
          </p:nvSpPr>
          <p:spPr>
            <a:xfrm>
              <a:off x="6941936" y="1514496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76" name="타원 75">
              <a:extLst>
                <a:ext uri="{FF2B5EF4-FFF2-40B4-BE49-F238E27FC236}">
                  <a16:creationId xmlns:a16="http://schemas.microsoft.com/office/drawing/2014/main" id="{AE7E3C61-D874-A246-987E-8BE623CAC638}"/>
                </a:ext>
              </a:extLst>
            </p:cNvPr>
            <p:cNvSpPr/>
            <p:nvPr/>
          </p:nvSpPr>
          <p:spPr>
            <a:xfrm>
              <a:off x="6941936" y="1683593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77" name="타원 76">
              <a:extLst>
                <a:ext uri="{FF2B5EF4-FFF2-40B4-BE49-F238E27FC236}">
                  <a16:creationId xmlns:a16="http://schemas.microsoft.com/office/drawing/2014/main" id="{5354129F-46B4-AE43-8429-3DF4207CBFF8}"/>
                </a:ext>
              </a:extLst>
            </p:cNvPr>
            <p:cNvSpPr/>
            <p:nvPr/>
          </p:nvSpPr>
          <p:spPr>
            <a:xfrm>
              <a:off x="6941936" y="1852691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78" name="타원 77">
              <a:extLst>
                <a:ext uri="{FF2B5EF4-FFF2-40B4-BE49-F238E27FC236}">
                  <a16:creationId xmlns:a16="http://schemas.microsoft.com/office/drawing/2014/main" id="{986191D5-8753-A041-B1BC-DAE54BB5D84B}"/>
                </a:ext>
              </a:extLst>
            </p:cNvPr>
            <p:cNvSpPr/>
            <p:nvPr/>
          </p:nvSpPr>
          <p:spPr>
            <a:xfrm>
              <a:off x="6941936" y="2021788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79" name="타원 78">
              <a:extLst>
                <a:ext uri="{FF2B5EF4-FFF2-40B4-BE49-F238E27FC236}">
                  <a16:creationId xmlns:a16="http://schemas.microsoft.com/office/drawing/2014/main" id="{0E8D7C45-035D-A74E-8C97-080FDDD7BF49}"/>
                </a:ext>
              </a:extLst>
            </p:cNvPr>
            <p:cNvSpPr/>
            <p:nvPr/>
          </p:nvSpPr>
          <p:spPr>
            <a:xfrm>
              <a:off x="6941936" y="2190885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80" name="타원 79">
              <a:extLst>
                <a:ext uri="{FF2B5EF4-FFF2-40B4-BE49-F238E27FC236}">
                  <a16:creationId xmlns:a16="http://schemas.microsoft.com/office/drawing/2014/main" id="{91F4096C-ED53-DA4B-B346-E4262B612FE3}"/>
                </a:ext>
              </a:extLst>
            </p:cNvPr>
            <p:cNvSpPr/>
            <p:nvPr/>
          </p:nvSpPr>
          <p:spPr>
            <a:xfrm>
              <a:off x="6941936" y="2359983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81" name="타원 80">
              <a:extLst>
                <a:ext uri="{FF2B5EF4-FFF2-40B4-BE49-F238E27FC236}">
                  <a16:creationId xmlns:a16="http://schemas.microsoft.com/office/drawing/2014/main" id="{66E30746-F6B7-AA4A-9195-E0F58100DAFB}"/>
                </a:ext>
              </a:extLst>
            </p:cNvPr>
            <p:cNvSpPr/>
            <p:nvPr/>
          </p:nvSpPr>
          <p:spPr>
            <a:xfrm>
              <a:off x="6941936" y="2529080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82" name="타원 81">
              <a:extLst>
                <a:ext uri="{FF2B5EF4-FFF2-40B4-BE49-F238E27FC236}">
                  <a16:creationId xmlns:a16="http://schemas.microsoft.com/office/drawing/2014/main" id="{1DF0C712-3B02-7B40-9DE1-9C88ADE62254}"/>
                </a:ext>
              </a:extLst>
            </p:cNvPr>
            <p:cNvSpPr/>
            <p:nvPr/>
          </p:nvSpPr>
          <p:spPr>
            <a:xfrm>
              <a:off x="6941936" y="2698178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83" name="타원 82">
              <a:extLst>
                <a:ext uri="{FF2B5EF4-FFF2-40B4-BE49-F238E27FC236}">
                  <a16:creationId xmlns:a16="http://schemas.microsoft.com/office/drawing/2014/main" id="{A8683CC8-9C0E-9E45-8C09-6C98E6129C19}"/>
                </a:ext>
              </a:extLst>
            </p:cNvPr>
            <p:cNvSpPr/>
            <p:nvPr/>
          </p:nvSpPr>
          <p:spPr>
            <a:xfrm>
              <a:off x="6616911" y="1177289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84" name="타원 83">
              <a:extLst>
                <a:ext uri="{FF2B5EF4-FFF2-40B4-BE49-F238E27FC236}">
                  <a16:creationId xmlns:a16="http://schemas.microsoft.com/office/drawing/2014/main" id="{A63DEE71-047A-B246-A38D-9B63E809C119}"/>
                </a:ext>
              </a:extLst>
            </p:cNvPr>
            <p:cNvSpPr/>
            <p:nvPr/>
          </p:nvSpPr>
          <p:spPr>
            <a:xfrm>
              <a:off x="6616911" y="1345398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85" name="타원 84">
              <a:extLst>
                <a:ext uri="{FF2B5EF4-FFF2-40B4-BE49-F238E27FC236}">
                  <a16:creationId xmlns:a16="http://schemas.microsoft.com/office/drawing/2014/main" id="{7E600303-131A-2E42-A241-F3890C2FD640}"/>
                </a:ext>
              </a:extLst>
            </p:cNvPr>
            <p:cNvSpPr/>
            <p:nvPr/>
          </p:nvSpPr>
          <p:spPr>
            <a:xfrm>
              <a:off x="6616911" y="1514496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86" name="타원 85">
              <a:extLst>
                <a:ext uri="{FF2B5EF4-FFF2-40B4-BE49-F238E27FC236}">
                  <a16:creationId xmlns:a16="http://schemas.microsoft.com/office/drawing/2014/main" id="{AE9BE8B0-52E0-9F4A-A17A-324AAC96F084}"/>
                </a:ext>
              </a:extLst>
            </p:cNvPr>
            <p:cNvSpPr/>
            <p:nvPr/>
          </p:nvSpPr>
          <p:spPr>
            <a:xfrm>
              <a:off x="6616911" y="1683593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87" name="타원 86">
              <a:extLst>
                <a:ext uri="{FF2B5EF4-FFF2-40B4-BE49-F238E27FC236}">
                  <a16:creationId xmlns:a16="http://schemas.microsoft.com/office/drawing/2014/main" id="{9CA983FA-3DCD-A242-919D-E37EC4E1D2D5}"/>
                </a:ext>
              </a:extLst>
            </p:cNvPr>
            <p:cNvSpPr/>
            <p:nvPr/>
          </p:nvSpPr>
          <p:spPr>
            <a:xfrm>
              <a:off x="6616911" y="1852691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88" name="타원 87">
              <a:extLst>
                <a:ext uri="{FF2B5EF4-FFF2-40B4-BE49-F238E27FC236}">
                  <a16:creationId xmlns:a16="http://schemas.microsoft.com/office/drawing/2014/main" id="{BFC56AA7-1E60-F741-ABE9-5A2333A2641D}"/>
                </a:ext>
              </a:extLst>
            </p:cNvPr>
            <p:cNvSpPr/>
            <p:nvPr/>
          </p:nvSpPr>
          <p:spPr>
            <a:xfrm>
              <a:off x="6616911" y="2021788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89" name="타원 88">
              <a:extLst>
                <a:ext uri="{FF2B5EF4-FFF2-40B4-BE49-F238E27FC236}">
                  <a16:creationId xmlns:a16="http://schemas.microsoft.com/office/drawing/2014/main" id="{DF629C67-AA65-DE4B-8DFA-D6EAFDF6F3F5}"/>
                </a:ext>
              </a:extLst>
            </p:cNvPr>
            <p:cNvSpPr/>
            <p:nvPr/>
          </p:nvSpPr>
          <p:spPr>
            <a:xfrm>
              <a:off x="6616911" y="2190885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90" name="타원 89">
              <a:extLst>
                <a:ext uri="{FF2B5EF4-FFF2-40B4-BE49-F238E27FC236}">
                  <a16:creationId xmlns:a16="http://schemas.microsoft.com/office/drawing/2014/main" id="{18751879-3A7E-1843-9331-21CFB80D73DF}"/>
                </a:ext>
              </a:extLst>
            </p:cNvPr>
            <p:cNvSpPr/>
            <p:nvPr/>
          </p:nvSpPr>
          <p:spPr>
            <a:xfrm>
              <a:off x="6616911" y="2359983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91" name="타원 90">
              <a:extLst>
                <a:ext uri="{FF2B5EF4-FFF2-40B4-BE49-F238E27FC236}">
                  <a16:creationId xmlns:a16="http://schemas.microsoft.com/office/drawing/2014/main" id="{5EC280C9-82EE-054D-836C-810EAA6F4DB8}"/>
                </a:ext>
              </a:extLst>
            </p:cNvPr>
            <p:cNvSpPr/>
            <p:nvPr/>
          </p:nvSpPr>
          <p:spPr>
            <a:xfrm>
              <a:off x="6616911" y="2529080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92" name="타원 91">
              <a:extLst>
                <a:ext uri="{FF2B5EF4-FFF2-40B4-BE49-F238E27FC236}">
                  <a16:creationId xmlns:a16="http://schemas.microsoft.com/office/drawing/2014/main" id="{CE9514E7-21C6-3F4E-8996-F5935319A205}"/>
                </a:ext>
              </a:extLst>
            </p:cNvPr>
            <p:cNvSpPr/>
            <p:nvPr/>
          </p:nvSpPr>
          <p:spPr>
            <a:xfrm>
              <a:off x="6616911" y="2698178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93" name="타원 92">
              <a:extLst>
                <a:ext uri="{FF2B5EF4-FFF2-40B4-BE49-F238E27FC236}">
                  <a16:creationId xmlns:a16="http://schemas.microsoft.com/office/drawing/2014/main" id="{43BE4D56-0218-3542-9C55-F8DE2FA756DE}"/>
                </a:ext>
              </a:extLst>
            </p:cNvPr>
            <p:cNvSpPr/>
            <p:nvPr/>
          </p:nvSpPr>
          <p:spPr>
            <a:xfrm>
              <a:off x="7104448" y="1177289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94" name="타원 93">
              <a:extLst>
                <a:ext uri="{FF2B5EF4-FFF2-40B4-BE49-F238E27FC236}">
                  <a16:creationId xmlns:a16="http://schemas.microsoft.com/office/drawing/2014/main" id="{F10F932B-8B5B-2A4E-BEA7-557039429D6A}"/>
                </a:ext>
              </a:extLst>
            </p:cNvPr>
            <p:cNvSpPr/>
            <p:nvPr/>
          </p:nvSpPr>
          <p:spPr>
            <a:xfrm>
              <a:off x="7104448" y="1345398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95" name="타원 94">
              <a:extLst>
                <a:ext uri="{FF2B5EF4-FFF2-40B4-BE49-F238E27FC236}">
                  <a16:creationId xmlns:a16="http://schemas.microsoft.com/office/drawing/2014/main" id="{361B7862-1BBD-8E4E-91B5-061A8904F005}"/>
                </a:ext>
              </a:extLst>
            </p:cNvPr>
            <p:cNvSpPr/>
            <p:nvPr/>
          </p:nvSpPr>
          <p:spPr>
            <a:xfrm>
              <a:off x="7104448" y="1514496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96" name="타원 95">
              <a:extLst>
                <a:ext uri="{FF2B5EF4-FFF2-40B4-BE49-F238E27FC236}">
                  <a16:creationId xmlns:a16="http://schemas.microsoft.com/office/drawing/2014/main" id="{3865C7DD-D824-4B47-871F-6696043520CE}"/>
                </a:ext>
              </a:extLst>
            </p:cNvPr>
            <p:cNvSpPr/>
            <p:nvPr/>
          </p:nvSpPr>
          <p:spPr>
            <a:xfrm>
              <a:off x="7104448" y="1683593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97" name="타원 96">
              <a:extLst>
                <a:ext uri="{FF2B5EF4-FFF2-40B4-BE49-F238E27FC236}">
                  <a16:creationId xmlns:a16="http://schemas.microsoft.com/office/drawing/2014/main" id="{839A3688-49B9-B646-88F2-144D085904EA}"/>
                </a:ext>
              </a:extLst>
            </p:cNvPr>
            <p:cNvSpPr/>
            <p:nvPr/>
          </p:nvSpPr>
          <p:spPr>
            <a:xfrm>
              <a:off x="7104448" y="1852691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98" name="타원 97">
              <a:extLst>
                <a:ext uri="{FF2B5EF4-FFF2-40B4-BE49-F238E27FC236}">
                  <a16:creationId xmlns:a16="http://schemas.microsoft.com/office/drawing/2014/main" id="{C7C21889-ABD6-6F4E-A69E-6CA566525E55}"/>
                </a:ext>
              </a:extLst>
            </p:cNvPr>
            <p:cNvSpPr/>
            <p:nvPr/>
          </p:nvSpPr>
          <p:spPr>
            <a:xfrm>
              <a:off x="7104448" y="2021788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99" name="타원 98">
              <a:extLst>
                <a:ext uri="{FF2B5EF4-FFF2-40B4-BE49-F238E27FC236}">
                  <a16:creationId xmlns:a16="http://schemas.microsoft.com/office/drawing/2014/main" id="{A3E6CBA4-4EEC-8F4D-B9AA-E76AF0146490}"/>
                </a:ext>
              </a:extLst>
            </p:cNvPr>
            <p:cNvSpPr/>
            <p:nvPr/>
          </p:nvSpPr>
          <p:spPr>
            <a:xfrm>
              <a:off x="7104448" y="2190885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100" name="타원 99">
              <a:extLst>
                <a:ext uri="{FF2B5EF4-FFF2-40B4-BE49-F238E27FC236}">
                  <a16:creationId xmlns:a16="http://schemas.microsoft.com/office/drawing/2014/main" id="{3B6A5F4E-84B6-594E-8788-80A78F5850DD}"/>
                </a:ext>
              </a:extLst>
            </p:cNvPr>
            <p:cNvSpPr/>
            <p:nvPr/>
          </p:nvSpPr>
          <p:spPr>
            <a:xfrm>
              <a:off x="7104448" y="2359983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101" name="타원 100">
              <a:extLst>
                <a:ext uri="{FF2B5EF4-FFF2-40B4-BE49-F238E27FC236}">
                  <a16:creationId xmlns:a16="http://schemas.microsoft.com/office/drawing/2014/main" id="{1C9BED6E-BA1B-A941-82C5-E45D79C54EA4}"/>
                </a:ext>
              </a:extLst>
            </p:cNvPr>
            <p:cNvSpPr/>
            <p:nvPr/>
          </p:nvSpPr>
          <p:spPr>
            <a:xfrm>
              <a:off x="7104448" y="2529080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102" name="타원 101">
              <a:extLst>
                <a:ext uri="{FF2B5EF4-FFF2-40B4-BE49-F238E27FC236}">
                  <a16:creationId xmlns:a16="http://schemas.microsoft.com/office/drawing/2014/main" id="{C33973CC-5BE2-E94A-A450-925D93BCA990}"/>
                </a:ext>
              </a:extLst>
            </p:cNvPr>
            <p:cNvSpPr/>
            <p:nvPr/>
          </p:nvSpPr>
          <p:spPr>
            <a:xfrm>
              <a:off x="7104448" y="2698178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103" name="다이아몬드 102">
              <a:extLst>
                <a:ext uri="{FF2B5EF4-FFF2-40B4-BE49-F238E27FC236}">
                  <a16:creationId xmlns:a16="http://schemas.microsoft.com/office/drawing/2014/main" id="{899A2811-3DA6-B14E-AD11-5EE9BDA57F50}"/>
                </a:ext>
              </a:extLst>
            </p:cNvPr>
            <p:cNvSpPr/>
            <p:nvPr/>
          </p:nvSpPr>
          <p:spPr>
            <a:xfrm>
              <a:off x="7266959" y="1171729"/>
              <a:ext cx="56544" cy="59036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104" name="타원 103">
              <a:extLst>
                <a:ext uri="{FF2B5EF4-FFF2-40B4-BE49-F238E27FC236}">
                  <a16:creationId xmlns:a16="http://schemas.microsoft.com/office/drawing/2014/main" id="{31CC3805-3D87-2547-9755-A1C953B94652}"/>
                </a:ext>
              </a:extLst>
            </p:cNvPr>
            <p:cNvSpPr/>
            <p:nvPr/>
          </p:nvSpPr>
          <p:spPr>
            <a:xfrm>
              <a:off x="7266959" y="1345398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105" name="타원 104">
              <a:extLst>
                <a:ext uri="{FF2B5EF4-FFF2-40B4-BE49-F238E27FC236}">
                  <a16:creationId xmlns:a16="http://schemas.microsoft.com/office/drawing/2014/main" id="{65BAD29F-F8C5-0348-8C1F-8C2B9F862D88}"/>
                </a:ext>
              </a:extLst>
            </p:cNvPr>
            <p:cNvSpPr/>
            <p:nvPr/>
          </p:nvSpPr>
          <p:spPr>
            <a:xfrm>
              <a:off x="7266959" y="1514496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106" name="다이아몬드 105">
              <a:extLst>
                <a:ext uri="{FF2B5EF4-FFF2-40B4-BE49-F238E27FC236}">
                  <a16:creationId xmlns:a16="http://schemas.microsoft.com/office/drawing/2014/main" id="{775D26FC-4D84-2A45-B0AB-6E0BA4085ED8}"/>
                </a:ext>
              </a:extLst>
            </p:cNvPr>
            <p:cNvSpPr/>
            <p:nvPr/>
          </p:nvSpPr>
          <p:spPr>
            <a:xfrm>
              <a:off x="7266959" y="1683593"/>
              <a:ext cx="56544" cy="59036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107" name="타원 106">
              <a:extLst>
                <a:ext uri="{FF2B5EF4-FFF2-40B4-BE49-F238E27FC236}">
                  <a16:creationId xmlns:a16="http://schemas.microsoft.com/office/drawing/2014/main" id="{5552DDA5-69BF-FF43-9411-D67727FA5F7C}"/>
                </a:ext>
              </a:extLst>
            </p:cNvPr>
            <p:cNvSpPr/>
            <p:nvPr/>
          </p:nvSpPr>
          <p:spPr>
            <a:xfrm>
              <a:off x="7266959" y="1852691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108" name="타원 107">
              <a:extLst>
                <a:ext uri="{FF2B5EF4-FFF2-40B4-BE49-F238E27FC236}">
                  <a16:creationId xmlns:a16="http://schemas.microsoft.com/office/drawing/2014/main" id="{DC03CBC4-2090-FF49-9499-9E4DA32D4CB0}"/>
                </a:ext>
              </a:extLst>
            </p:cNvPr>
            <p:cNvSpPr/>
            <p:nvPr/>
          </p:nvSpPr>
          <p:spPr>
            <a:xfrm>
              <a:off x="7266959" y="2021788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109" name="다이아몬드 108">
              <a:extLst>
                <a:ext uri="{FF2B5EF4-FFF2-40B4-BE49-F238E27FC236}">
                  <a16:creationId xmlns:a16="http://schemas.microsoft.com/office/drawing/2014/main" id="{71B9ECAB-39AC-C148-BA27-786613A98E56}"/>
                </a:ext>
              </a:extLst>
            </p:cNvPr>
            <p:cNvSpPr/>
            <p:nvPr/>
          </p:nvSpPr>
          <p:spPr>
            <a:xfrm>
              <a:off x="7266959" y="2190885"/>
              <a:ext cx="56544" cy="59036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110" name="타원 109">
              <a:extLst>
                <a:ext uri="{FF2B5EF4-FFF2-40B4-BE49-F238E27FC236}">
                  <a16:creationId xmlns:a16="http://schemas.microsoft.com/office/drawing/2014/main" id="{0EEC34BD-8021-1347-BF83-9C6B507568CE}"/>
                </a:ext>
              </a:extLst>
            </p:cNvPr>
            <p:cNvSpPr/>
            <p:nvPr/>
          </p:nvSpPr>
          <p:spPr>
            <a:xfrm>
              <a:off x="7266959" y="2359983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111" name="타원 110">
              <a:extLst>
                <a:ext uri="{FF2B5EF4-FFF2-40B4-BE49-F238E27FC236}">
                  <a16:creationId xmlns:a16="http://schemas.microsoft.com/office/drawing/2014/main" id="{BDEFA0B3-B15B-0D41-8816-EA98C958A655}"/>
                </a:ext>
              </a:extLst>
            </p:cNvPr>
            <p:cNvSpPr/>
            <p:nvPr/>
          </p:nvSpPr>
          <p:spPr>
            <a:xfrm>
              <a:off x="7266959" y="2529080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112" name="다이아몬드 111">
              <a:extLst>
                <a:ext uri="{FF2B5EF4-FFF2-40B4-BE49-F238E27FC236}">
                  <a16:creationId xmlns:a16="http://schemas.microsoft.com/office/drawing/2014/main" id="{A43CDC27-F376-2C42-A839-6B157109FA94}"/>
                </a:ext>
              </a:extLst>
            </p:cNvPr>
            <p:cNvSpPr/>
            <p:nvPr/>
          </p:nvSpPr>
          <p:spPr>
            <a:xfrm>
              <a:off x="7266959" y="2698178"/>
              <a:ext cx="56544" cy="59036"/>
            </a:xfrm>
            <a:prstGeom prst="diamond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113" name="타원 112">
              <a:extLst>
                <a:ext uri="{FF2B5EF4-FFF2-40B4-BE49-F238E27FC236}">
                  <a16:creationId xmlns:a16="http://schemas.microsoft.com/office/drawing/2014/main" id="{D6441352-5B08-1B42-97B3-F0C5BACF9AB3}"/>
                </a:ext>
              </a:extLst>
            </p:cNvPr>
            <p:cNvSpPr/>
            <p:nvPr/>
          </p:nvSpPr>
          <p:spPr>
            <a:xfrm>
              <a:off x="5966862" y="1177289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114" name="타원 113">
              <a:extLst>
                <a:ext uri="{FF2B5EF4-FFF2-40B4-BE49-F238E27FC236}">
                  <a16:creationId xmlns:a16="http://schemas.microsoft.com/office/drawing/2014/main" id="{1D37A898-E0E7-844B-9587-96BB3EEF7203}"/>
                </a:ext>
              </a:extLst>
            </p:cNvPr>
            <p:cNvSpPr/>
            <p:nvPr/>
          </p:nvSpPr>
          <p:spPr>
            <a:xfrm>
              <a:off x="5966862" y="1345398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115" name="타원 114">
              <a:extLst>
                <a:ext uri="{FF2B5EF4-FFF2-40B4-BE49-F238E27FC236}">
                  <a16:creationId xmlns:a16="http://schemas.microsoft.com/office/drawing/2014/main" id="{235C7C25-8F0D-314C-807C-DB1A6A631348}"/>
                </a:ext>
              </a:extLst>
            </p:cNvPr>
            <p:cNvSpPr/>
            <p:nvPr/>
          </p:nvSpPr>
          <p:spPr>
            <a:xfrm>
              <a:off x="5966862" y="1514496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116" name="타원 115">
              <a:extLst>
                <a:ext uri="{FF2B5EF4-FFF2-40B4-BE49-F238E27FC236}">
                  <a16:creationId xmlns:a16="http://schemas.microsoft.com/office/drawing/2014/main" id="{D8B1E2AE-EB59-8E46-9341-5B415958C363}"/>
                </a:ext>
              </a:extLst>
            </p:cNvPr>
            <p:cNvSpPr/>
            <p:nvPr/>
          </p:nvSpPr>
          <p:spPr>
            <a:xfrm>
              <a:off x="5966862" y="1683593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117" name="타원 116">
              <a:extLst>
                <a:ext uri="{FF2B5EF4-FFF2-40B4-BE49-F238E27FC236}">
                  <a16:creationId xmlns:a16="http://schemas.microsoft.com/office/drawing/2014/main" id="{9AD0186D-25EC-5547-B128-8EE836D58271}"/>
                </a:ext>
              </a:extLst>
            </p:cNvPr>
            <p:cNvSpPr/>
            <p:nvPr/>
          </p:nvSpPr>
          <p:spPr>
            <a:xfrm>
              <a:off x="5966862" y="1852691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118" name="타원 117">
              <a:extLst>
                <a:ext uri="{FF2B5EF4-FFF2-40B4-BE49-F238E27FC236}">
                  <a16:creationId xmlns:a16="http://schemas.microsoft.com/office/drawing/2014/main" id="{01B199FC-E780-6A45-BAF2-87B9BEF2B66B}"/>
                </a:ext>
              </a:extLst>
            </p:cNvPr>
            <p:cNvSpPr/>
            <p:nvPr/>
          </p:nvSpPr>
          <p:spPr>
            <a:xfrm>
              <a:off x="5966862" y="2021788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119" name="타원 118">
              <a:extLst>
                <a:ext uri="{FF2B5EF4-FFF2-40B4-BE49-F238E27FC236}">
                  <a16:creationId xmlns:a16="http://schemas.microsoft.com/office/drawing/2014/main" id="{AF5EF118-00C0-E549-91E9-77E8F4A6F230}"/>
                </a:ext>
              </a:extLst>
            </p:cNvPr>
            <p:cNvSpPr/>
            <p:nvPr/>
          </p:nvSpPr>
          <p:spPr>
            <a:xfrm>
              <a:off x="5966862" y="2190885"/>
              <a:ext cx="45894" cy="47917"/>
            </a:xfrm>
            <a:prstGeom prst="ellipse">
              <a:avLst/>
            </a:prstGeom>
            <a:solidFill>
              <a:srgbClr val="129F0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 sz="1463"/>
            </a:p>
          </p:txBody>
        </p:sp>
        <p:sp>
          <p:nvSpPr>
            <p:cNvPr id="120" name="타원 119">
              <a:extLst>
                <a:ext uri="{FF2B5EF4-FFF2-40B4-BE49-F238E27FC236}">
                  <a16:creationId xmlns:a16="http://schemas.microsoft.com/office/drawing/2014/main" id="{8F15FF36-1C9E-A846-AF2C-EECFC20B9326}"/>
                </a:ext>
              </a:extLst>
            </p:cNvPr>
            <p:cNvSpPr/>
            <p:nvPr/>
          </p:nvSpPr>
          <p:spPr>
            <a:xfrm>
              <a:off x="5966862" y="2359983"/>
              <a:ext cx="45894" cy="47917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sz="1463">
                <a:solidFill>
                  <a:srgbClr val="FF0000"/>
                </a:solidFill>
              </a:endParaRPr>
            </a:p>
          </p:txBody>
        </p:sp>
        <p:sp>
          <p:nvSpPr>
            <p:cNvPr id="121" name="타원 120">
              <a:extLst>
                <a:ext uri="{FF2B5EF4-FFF2-40B4-BE49-F238E27FC236}">
                  <a16:creationId xmlns:a16="http://schemas.microsoft.com/office/drawing/2014/main" id="{06A24B84-F52C-3648-BB20-2BF67BCB44C2}"/>
                </a:ext>
              </a:extLst>
            </p:cNvPr>
            <p:cNvSpPr/>
            <p:nvPr/>
          </p:nvSpPr>
          <p:spPr>
            <a:xfrm>
              <a:off x="5966862" y="2529080"/>
              <a:ext cx="45894" cy="47917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sz="1463">
                <a:solidFill>
                  <a:srgbClr val="FF0000"/>
                </a:solidFill>
              </a:endParaRPr>
            </a:p>
          </p:txBody>
        </p:sp>
        <p:sp>
          <p:nvSpPr>
            <p:cNvPr id="122" name="타원 121">
              <a:extLst>
                <a:ext uri="{FF2B5EF4-FFF2-40B4-BE49-F238E27FC236}">
                  <a16:creationId xmlns:a16="http://schemas.microsoft.com/office/drawing/2014/main" id="{F285335F-D291-5542-B8C5-CBD4ECDD3B6F}"/>
                </a:ext>
              </a:extLst>
            </p:cNvPr>
            <p:cNvSpPr/>
            <p:nvPr/>
          </p:nvSpPr>
          <p:spPr>
            <a:xfrm>
              <a:off x="5966862" y="2698178"/>
              <a:ext cx="45894" cy="47917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ko-KR" altLang="en-US" sz="1463">
                <a:solidFill>
                  <a:srgbClr val="FF0000"/>
                </a:solidFill>
              </a:endParaRPr>
            </a:p>
          </p:txBody>
        </p:sp>
      </p:grpSp>
      <p:sp>
        <p:nvSpPr>
          <p:cNvPr id="123" name="TextBox 122">
            <a:extLst>
              <a:ext uri="{FF2B5EF4-FFF2-40B4-BE49-F238E27FC236}">
                <a16:creationId xmlns:a16="http://schemas.microsoft.com/office/drawing/2014/main" id="{37A6906F-3E0F-BA4F-A11C-E24603FF4389}"/>
              </a:ext>
            </a:extLst>
          </p:cNvPr>
          <p:cNvSpPr txBox="1"/>
          <p:nvPr/>
        </p:nvSpPr>
        <p:spPr>
          <a:xfrm>
            <a:off x="4644008" y="1706097"/>
            <a:ext cx="222231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2000" b="1" dirty="0">
                <a:solidFill>
                  <a:srgbClr val="011893"/>
                </a:solidFill>
                <a:latin typeface="+mj-ea"/>
                <a:ea typeface="+mj-ea"/>
                <a:cs typeface="Arial" panose="020B0604020202020204" pitchFamily="34" charset="0"/>
              </a:rPr>
              <a:t>인공지능</a:t>
            </a:r>
            <a:r>
              <a:rPr kumimoji="1" lang="en-US" altLang="ko-KR" sz="2000" b="1" dirty="0">
                <a:solidFill>
                  <a:srgbClr val="011893"/>
                </a:solidFill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kumimoji="1" lang="ko-KR" altLang="en-US" sz="2000" b="1" dirty="0">
                <a:solidFill>
                  <a:srgbClr val="011893"/>
                </a:solidFill>
                <a:latin typeface="+mj-ea"/>
                <a:ea typeface="+mj-ea"/>
                <a:cs typeface="Arial" panose="020B0604020202020204" pitchFamily="34" charset="0"/>
              </a:rPr>
              <a:t>개발</a:t>
            </a:r>
            <a:endParaRPr kumimoji="1" lang="en-US" altLang="ko-KR" sz="2000" b="1" dirty="0">
              <a:solidFill>
                <a:srgbClr val="011893"/>
              </a:solidFill>
              <a:latin typeface="+mj-ea"/>
              <a:ea typeface="+mj-ea"/>
              <a:cs typeface="Arial" panose="020B0604020202020204" pitchFamily="34" charset="0"/>
            </a:endParaRPr>
          </a:p>
          <a:p>
            <a:pPr algn="ctr"/>
            <a:r>
              <a:rPr kumimoji="1" lang="ko-KR" altLang="en-US" sz="2000" b="1" dirty="0">
                <a:solidFill>
                  <a:srgbClr val="011893"/>
                </a:solidFill>
                <a:latin typeface="+mj-ea"/>
                <a:ea typeface="+mj-ea"/>
                <a:cs typeface="Arial" panose="020B0604020202020204" pitchFamily="34" charset="0"/>
              </a:rPr>
              <a:t>필요</a:t>
            </a:r>
            <a:r>
              <a:rPr kumimoji="1" lang="en-US" altLang="ko-KR" sz="2000" b="1" dirty="0">
                <a:solidFill>
                  <a:srgbClr val="011893"/>
                </a:solidFill>
                <a:latin typeface="+mj-ea"/>
                <a:ea typeface="+mj-ea"/>
                <a:cs typeface="Arial" panose="020B0604020202020204" pitchFamily="34" charset="0"/>
              </a:rPr>
              <a:t> </a:t>
            </a:r>
            <a:r>
              <a:rPr kumimoji="1" lang="ko-KR" altLang="en-US" sz="2000" b="1" dirty="0">
                <a:solidFill>
                  <a:srgbClr val="011893"/>
                </a:solidFill>
                <a:latin typeface="+mj-ea"/>
                <a:ea typeface="+mj-ea"/>
                <a:cs typeface="Arial" panose="020B0604020202020204" pitchFamily="34" charset="0"/>
              </a:rPr>
              <a:t>데이터 영역</a:t>
            </a:r>
            <a:endParaRPr kumimoji="1" lang="en-US" altLang="ko-KR" sz="2000" b="1" dirty="0">
              <a:solidFill>
                <a:srgbClr val="011893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24" name="직사각형 126">
            <a:extLst>
              <a:ext uri="{FF2B5EF4-FFF2-40B4-BE49-F238E27FC236}">
                <a16:creationId xmlns:a16="http://schemas.microsoft.com/office/drawing/2014/main" id="{53D2FBFA-122C-8F45-B075-97E32084D66D}"/>
              </a:ext>
            </a:extLst>
          </p:cNvPr>
          <p:cNvSpPr/>
          <p:nvPr/>
        </p:nvSpPr>
        <p:spPr>
          <a:xfrm>
            <a:off x="6899535" y="3291066"/>
            <a:ext cx="1835249" cy="1916133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125" name="타원 138">
            <a:extLst>
              <a:ext uri="{FF2B5EF4-FFF2-40B4-BE49-F238E27FC236}">
                <a16:creationId xmlns:a16="http://schemas.microsoft.com/office/drawing/2014/main" id="{FBF5D031-D6CF-AA43-8EFC-38F15FDFF8F7}"/>
              </a:ext>
            </a:extLst>
          </p:cNvPr>
          <p:cNvSpPr/>
          <p:nvPr/>
        </p:nvSpPr>
        <p:spPr>
          <a:xfrm>
            <a:off x="7278563" y="3474331"/>
            <a:ext cx="57457" cy="59990"/>
          </a:xfrm>
          <a:prstGeom prst="ellipse">
            <a:avLst/>
          </a:prstGeom>
          <a:solidFill>
            <a:srgbClr val="129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126" name="타원 139">
            <a:extLst>
              <a:ext uri="{FF2B5EF4-FFF2-40B4-BE49-F238E27FC236}">
                <a16:creationId xmlns:a16="http://schemas.microsoft.com/office/drawing/2014/main" id="{219B464F-1568-F842-A46D-1C7B8B803A95}"/>
              </a:ext>
            </a:extLst>
          </p:cNvPr>
          <p:cNvSpPr/>
          <p:nvPr/>
        </p:nvSpPr>
        <p:spPr>
          <a:xfrm>
            <a:off x="7278563" y="3686033"/>
            <a:ext cx="57457" cy="59990"/>
          </a:xfrm>
          <a:prstGeom prst="ellipse">
            <a:avLst/>
          </a:prstGeom>
          <a:solidFill>
            <a:srgbClr val="129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127" name="타원 140">
            <a:extLst>
              <a:ext uri="{FF2B5EF4-FFF2-40B4-BE49-F238E27FC236}">
                <a16:creationId xmlns:a16="http://schemas.microsoft.com/office/drawing/2014/main" id="{82A1F304-2021-1548-91DA-1CA3B76CF56E}"/>
              </a:ext>
            </a:extLst>
          </p:cNvPr>
          <p:cNvSpPr/>
          <p:nvPr/>
        </p:nvSpPr>
        <p:spPr>
          <a:xfrm>
            <a:off x="7278563" y="3897733"/>
            <a:ext cx="57457" cy="59990"/>
          </a:xfrm>
          <a:prstGeom prst="ellipse">
            <a:avLst/>
          </a:prstGeom>
          <a:solidFill>
            <a:srgbClr val="129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128" name="타원 143">
            <a:extLst>
              <a:ext uri="{FF2B5EF4-FFF2-40B4-BE49-F238E27FC236}">
                <a16:creationId xmlns:a16="http://schemas.microsoft.com/office/drawing/2014/main" id="{DC4A230C-35BA-AD46-8203-A1E760398C4F}"/>
              </a:ext>
            </a:extLst>
          </p:cNvPr>
          <p:cNvSpPr/>
          <p:nvPr/>
        </p:nvSpPr>
        <p:spPr>
          <a:xfrm>
            <a:off x="7278563" y="4532836"/>
            <a:ext cx="57457" cy="59990"/>
          </a:xfrm>
          <a:prstGeom prst="ellipse">
            <a:avLst/>
          </a:prstGeom>
          <a:solidFill>
            <a:srgbClr val="129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129" name="타원 144">
            <a:extLst>
              <a:ext uri="{FF2B5EF4-FFF2-40B4-BE49-F238E27FC236}">
                <a16:creationId xmlns:a16="http://schemas.microsoft.com/office/drawing/2014/main" id="{221DA585-119A-D447-93D8-2B9A34457BAB}"/>
              </a:ext>
            </a:extLst>
          </p:cNvPr>
          <p:cNvSpPr/>
          <p:nvPr/>
        </p:nvSpPr>
        <p:spPr>
          <a:xfrm>
            <a:off x="7278563" y="4744538"/>
            <a:ext cx="57457" cy="5999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463">
              <a:solidFill>
                <a:srgbClr val="FF0000"/>
              </a:solidFill>
            </a:endParaRPr>
          </a:p>
        </p:txBody>
      </p:sp>
      <p:sp>
        <p:nvSpPr>
          <p:cNvPr id="130" name="타원 145">
            <a:extLst>
              <a:ext uri="{FF2B5EF4-FFF2-40B4-BE49-F238E27FC236}">
                <a16:creationId xmlns:a16="http://schemas.microsoft.com/office/drawing/2014/main" id="{BD6158D0-6B58-814B-9C4C-2F0620584B17}"/>
              </a:ext>
            </a:extLst>
          </p:cNvPr>
          <p:cNvSpPr/>
          <p:nvPr/>
        </p:nvSpPr>
        <p:spPr>
          <a:xfrm>
            <a:off x="7278563" y="4956239"/>
            <a:ext cx="57457" cy="59990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ko-KR" altLang="en-US" sz="1463">
              <a:solidFill>
                <a:srgbClr val="FF0000"/>
              </a:solidFill>
            </a:endParaRPr>
          </a:p>
        </p:txBody>
      </p:sp>
      <p:sp>
        <p:nvSpPr>
          <p:cNvPr id="131" name="타원 148">
            <a:extLst>
              <a:ext uri="{FF2B5EF4-FFF2-40B4-BE49-F238E27FC236}">
                <a16:creationId xmlns:a16="http://schemas.microsoft.com/office/drawing/2014/main" id="{E681146E-31AC-0949-BD16-B5C3C9EB3263}"/>
              </a:ext>
            </a:extLst>
          </p:cNvPr>
          <p:cNvSpPr/>
          <p:nvPr/>
        </p:nvSpPr>
        <p:spPr>
          <a:xfrm>
            <a:off x="7482021" y="3474331"/>
            <a:ext cx="57457" cy="59990"/>
          </a:xfrm>
          <a:prstGeom prst="ellipse">
            <a:avLst/>
          </a:prstGeom>
          <a:solidFill>
            <a:srgbClr val="129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132" name="타원 149">
            <a:extLst>
              <a:ext uri="{FF2B5EF4-FFF2-40B4-BE49-F238E27FC236}">
                <a16:creationId xmlns:a16="http://schemas.microsoft.com/office/drawing/2014/main" id="{05C2B485-98C2-0E41-8224-626A643D36F1}"/>
              </a:ext>
            </a:extLst>
          </p:cNvPr>
          <p:cNvSpPr/>
          <p:nvPr/>
        </p:nvSpPr>
        <p:spPr>
          <a:xfrm>
            <a:off x="7482021" y="3686033"/>
            <a:ext cx="57457" cy="59990"/>
          </a:xfrm>
          <a:prstGeom prst="ellipse">
            <a:avLst/>
          </a:prstGeom>
          <a:solidFill>
            <a:srgbClr val="129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133" name="다이아몬드 150">
            <a:extLst>
              <a:ext uri="{FF2B5EF4-FFF2-40B4-BE49-F238E27FC236}">
                <a16:creationId xmlns:a16="http://schemas.microsoft.com/office/drawing/2014/main" id="{16907672-17B1-2949-9782-FF8E470BF9AD}"/>
              </a:ext>
            </a:extLst>
          </p:cNvPr>
          <p:cNvSpPr/>
          <p:nvPr/>
        </p:nvSpPr>
        <p:spPr>
          <a:xfrm>
            <a:off x="7482021" y="3897733"/>
            <a:ext cx="70790" cy="7391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134" name="다이아몬드 153">
            <a:extLst>
              <a:ext uri="{FF2B5EF4-FFF2-40B4-BE49-F238E27FC236}">
                <a16:creationId xmlns:a16="http://schemas.microsoft.com/office/drawing/2014/main" id="{5C080A54-5ADA-8040-9ABC-D6C59DB4B56C}"/>
              </a:ext>
            </a:extLst>
          </p:cNvPr>
          <p:cNvSpPr/>
          <p:nvPr/>
        </p:nvSpPr>
        <p:spPr>
          <a:xfrm>
            <a:off x="7482021" y="4532836"/>
            <a:ext cx="70790" cy="7391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135" name="타원 154">
            <a:extLst>
              <a:ext uri="{FF2B5EF4-FFF2-40B4-BE49-F238E27FC236}">
                <a16:creationId xmlns:a16="http://schemas.microsoft.com/office/drawing/2014/main" id="{EC19C3FD-580E-4D40-9A70-08AED9504518}"/>
              </a:ext>
            </a:extLst>
          </p:cNvPr>
          <p:cNvSpPr/>
          <p:nvPr/>
        </p:nvSpPr>
        <p:spPr>
          <a:xfrm>
            <a:off x="7482021" y="4744538"/>
            <a:ext cx="57457" cy="59990"/>
          </a:xfrm>
          <a:prstGeom prst="ellipse">
            <a:avLst/>
          </a:prstGeom>
          <a:solidFill>
            <a:srgbClr val="129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136" name="타원 155">
            <a:extLst>
              <a:ext uri="{FF2B5EF4-FFF2-40B4-BE49-F238E27FC236}">
                <a16:creationId xmlns:a16="http://schemas.microsoft.com/office/drawing/2014/main" id="{5905C656-F349-B744-A5C5-BF167ABC2981}"/>
              </a:ext>
            </a:extLst>
          </p:cNvPr>
          <p:cNvSpPr/>
          <p:nvPr/>
        </p:nvSpPr>
        <p:spPr>
          <a:xfrm>
            <a:off x="7482021" y="4956239"/>
            <a:ext cx="57457" cy="59990"/>
          </a:xfrm>
          <a:prstGeom prst="ellipse">
            <a:avLst/>
          </a:prstGeom>
          <a:solidFill>
            <a:srgbClr val="129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137" name="타원 158">
            <a:extLst>
              <a:ext uri="{FF2B5EF4-FFF2-40B4-BE49-F238E27FC236}">
                <a16:creationId xmlns:a16="http://schemas.microsoft.com/office/drawing/2014/main" id="{D565DC66-6D36-EA46-9ED2-8A69FC258309}"/>
              </a:ext>
            </a:extLst>
          </p:cNvPr>
          <p:cNvSpPr/>
          <p:nvPr/>
        </p:nvSpPr>
        <p:spPr>
          <a:xfrm>
            <a:off x="7685477" y="3474331"/>
            <a:ext cx="57457" cy="59990"/>
          </a:xfrm>
          <a:prstGeom prst="ellipse">
            <a:avLst/>
          </a:prstGeom>
          <a:solidFill>
            <a:srgbClr val="129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138" name="타원 159">
            <a:extLst>
              <a:ext uri="{FF2B5EF4-FFF2-40B4-BE49-F238E27FC236}">
                <a16:creationId xmlns:a16="http://schemas.microsoft.com/office/drawing/2014/main" id="{679F4DD8-3D4A-1042-B58C-96D2B91826FB}"/>
              </a:ext>
            </a:extLst>
          </p:cNvPr>
          <p:cNvSpPr/>
          <p:nvPr/>
        </p:nvSpPr>
        <p:spPr>
          <a:xfrm>
            <a:off x="7685477" y="3686033"/>
            <a:ext cx="57457" cy="59990"/>
          </a:xfrm>
          <a:prstGeom prst="ellipse">
            <a:avLst/>
          </a:prstGeom>
          <a:solidFill>
            <a:srgbClr val="129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139" name="타원 160">
            <a:extLst>
              <a:ext uri="{FF2B5EF4-FFF2-40B4-BE49-F238E27FC236}">
                <a16:creationId xmlns:a16="http://schemas.microsoft.com/office/drawing/2014/main" id="{36BC532D-3026-A546-BBAC-AF5BB76BF902}"/>
              </a:ext>
            </a:extLst>
          </p:cNvPr>
          <p:cNvSpPr/>
          <p:nvPr/>
        </p:nvSpPr>
        <p:spPr>
          <a:xfrm>
            <a:off x="7685477" y="3897733"/>
            <a:ext cx="57457" cy="59990"/>
          </a:xfrm>
          <a:prstGeom prst="ellipse">
            <a:avLst/>
          </a:prstGeom>
          <a:solidFill>
            <a:srgbClr val="129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140" name="타원 163">
            <a:extLst>
              <a:ext uri="{FF2B5EF4-FFF2-40B4-BE49-F238E27FC236}">
                <a16:creationId xmlns:a16="http://schemas.microsoft.com/office/drawing/2014/main" id="{4DF52B38-4E9C-2848-9EF8-AF4A60A9F355}"/>
              </a:ext>
            </a:extLst>
          </p:cNvPr>
          <p:cNvSpPr/>
          <p:nvPr/>
        </p:nvSpPr>
        <p:spPr>
          <a:xfrm>
            <a:off x="7685477" y="4532836"/>
            <a:ext cx="57457" cy="59990"/>
          </a:xfrm>
          <a:prstGeom prst="ellipse">
            <a:avLst/>
          </a:prstGeom>
          <a:solidFill>
            <a:srgbClr val="129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141" name="타원 164">
            <a:extLst>
              <a:ext uri="{FF2B5EF4-FFF2-40B4-BE49-F238E27FC236}">
                <a16:creationId xmlns:a16="http://schemas.microsoft.com/office/drawing/2014/main" id="{CA1DFBF5-E617-854E-B69C-F51BD42C2376}"/>
              </a:ext>
            </a:extLst>
          </p:cNvPr>
          <p:cNvSpPr/>
          <p:nvPr/>
        </p:nvSpPr>
        <p:spPr>
          <a:xfrm>
            <a:off x="7685477" y="4744538"/>
            <a:ext cx="57457" cy="59990"/>
          </a:xfrm>
          <a:prstGeom prst="ellipse">
            <a:avLst/>
          </a:prstGeom>
          <a:solidFill>
            <a:srgbClr val="129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142" name="타원 165">
            <a:extLst>
              <a:ext uri="{FF2B5EF4-FFF2-40B4-BE49-F238E27FC236}">
                <a16:creationId xmlns:a16="http://schemas.microsoft.com/office/drawing/2014/main" id="{C9D003AA-80E8-874F-90E2-76972808DB7A}"/>
              </a:ext>
            </a:extLst>
          </p:cNvPr>
          <p:cNvSpPr/>
          <p:nvPr/>
        </p:nvSpPr>
        <p:spPr>
          <a:xfrm>
            <a:off x="7685477" y="4956239"/>
            <a:ext cx="57457" cy="59990"/>
          </a:xfrm>
          <a:prstGeom prst="ellipse">
            <a:avLst/>
          </a:prstGeom>
          <a:solidFill>
            <a:srgbClr val="129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143" name="다이아몬드 173">
            <a:extLst>
              <a:ext uri="{FF2B5EF4-FFF2-40B4-BE49-F238E27FC236}">
                <a16:creationId xmlns:a16="http://schemas.microsoft.com/office/drawing/2014/main" id="{E5D20D50-B3DD-5B45-909D-C4FDAFA4D2F5}"/>
              </a:ext>
            </a:extLst>
          </p:cNvPr>
          <p:cNvSpPr/>
          <p:nvPr/>
        </p:nvSpPr>
        <p:spPr>
          <a:xfrm>
            <a:off x="8092391" y="4532836"/>
            <a:ext cx="70790" cy="73910"/>
          </a:xfrm>
          <a:prstGeom prst="diamond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144" name="타원 174">
            <a:extLst>
              <a:ext uri="{FF2B5EF4-FFF2-40B4-BE49-F238E27FC236}">
                <a16:creationId xmlns:a16="http://schemas.microsoft.com/office/drawing/2014/main" id="{569F9E5F-707C-EF46-9DDF-294FC4ED67FF}"/>
              </a:ext>
            </a:extLst>
          </p:cNvPr>
          <p:cNvSpPr/>
          <p:nvPr/>
        </p:nvSpPr>
        <p:spPr>
          <a:xfrm>
            <a:off x="8092391" y="4744538"/>
            <a:ext cx="57457" cy="59990"/>
          </a:xfrm>
          <a:prstGeom prst="ellipse">
            <a:avLst/>
          </a:prstGeom>
          <a:solidFill>
            <a:srgbClr val="129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145" name="타원 175">
            <a:extLst>
              <a:ext uri="{FF2B5EF4-FFF2-40B4-BE49-F238E27FC236}">
                <a16:creationId xmlns:a16="http://schemas.microsoft.com/office/drawing/2014/main" id="{5201AFB1-19EA-614B-9F5F-AAD709189215}"/>
              </a:ext>
            </a:extLst>
          </p:cNvPr>
          <p:cNvSpPr/>
          <p:nvPr/>
        </p:nvSpPr>
        <p:spPr>
          <a:xfrm>
            <a:off x="8092391" y="4956239"/>
            <a:ext cx="57457" cy="59990"/>
          </a:xfrm>
          <a:prstGeom prst="ellipse">
            <a:avLst/>
          </a:prstGeom>
          <a:solidFill>
            <a:srgbClr val="129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146" name="타원 179">
            <a:extLst>
              <a:ext uri="{FF2B5EF4-FFF2-40B4-BE49-F238E27FC236}">
                <a16:creationId xmlns:a16="http://schemas.microsoft.com/office/drawing/2014/main" id="{28C53311-877D-2847-B6B3-9A24858CDA2D}"/>
              </a:ext>
            </a:extLst>
          </p:cNvPr>
          <p:cNvSpPr/>
          <p:nvPr/>
        </p:nvSpPr>
        <p:spPr>
          <a:xfrm>
            <a:off x="8295848" y="3686033"/>
            <a:ext cx="57457" cy="59990"/>
          </a:xfrm>
          <a:prstGeom prst="ellipse">
            <a:avLst/>
          </a:prstGeom>
          <a:solidFill>
            <a:srgbClr val="129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147" name="타원 180">
            <a:extLst>
              <a:ext uri="{FF2B5EF4-FFF2-40B4-BE49-F238E27FC236}">
                <a16:creationId xmlns:a16="http://schemas.microsoft.com/office/drawing/2014/main" id="{AE7E3C61-D874-A246-987E-8BE623CAC638}"/>
              </a:ext>
            </a:extLst>
          </p:cNvPr>
          <p:cNvSpPr/>
          <p:nvPr/>
        </p:nvSpPr>
        <p:spPr>
          <a:xfrm>
            <a:off x="8295848" y="3897733"/>
            <a:ext cx="57457" cy="59990"/>
          </a:xfrm>
          <a:prstGeom prst="ellipse">
            <a:avLst/>
          </a:prstGeom>
          <a:solidFill>
            <a:srgbClr val="129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148" name="타원 181">
            <a:extLst>
              <a:ext uri="{FF2B5EF4-FFF2-40B4-BE49-F238E27FC236}">
                <a16:creationId xmlns:a16="http://schemas.microsoft.com/office/drawing/2014/main" id="{5354129F-46B4-AE43-8429-3DF4207CBFF8}"/>
              </a:ext>
            </a:extLst>
          </p:cNvPr>
          <p:cNvSpPr/>
          <p:nvPr/>
        </p:nvSpPr>
        <p:spPr>
          <a:xfrm>
            <a:off x="8295848" y="4109435"/>
            <a:ext cx="57457" cy="59990"/>
          </a:xfrm>
          <a:prstGeom prst="ellipse">
            <a:avLst/>
          </a:prstGeom>
          <a:solidFill>
            <a:srgbClr val="129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149" name="타원 182">
            <a:extLst>
              <a:ext uri="{FF2B5EF4-FFF2-40B4-BE49-F238E27FC236}">
                <a16:creationId xmlns:a16="http://schemas.microsoft.com/office/drawing/2014/main" id="{986191D5-8753-A041-B1BC-DAE54BB5D84B}"/>
              </a:ext>
            </a:extLst>
          </p:cNvPr>
          <p:cNvSpPr/>
          <p:nvPr/>
        </p:nvSpPr>
        <p:spPr>
          <a:xfrm>
            <a:off x="8295848" y="4321136"/>
            <a:ext cx="57457" cy="59990"/>
          </a:xfrm>
          <a:prstGeom prst="ellipse">
            <a:avLst/>
          </a:prstGeom>
          <a:solidFill>
            <a:srgbClr val="129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150" name="타원 183">
            <a:extLst>
              <a:ext uri="{FF2B5EF4-FFF2-40B4-BE49-F238E27FC236}">
                <a16:creationId xmlns:a16="http://schemas.microsoft.com/office/drawing/2014/main" id="{0E8D7C45-035D-A74E-8C97-080FDDD7BF49}"/>
              </a:ext>
            </a:extLst>
          </p:cNvPr>
          <p:cNvSpPr/>
          <p:nvPr/>
        </p:nvSpPr>
        <p:spPr>
          <a:xfrm>
            <a:off x="8295848" y="4532836"/>
            <a:ext cx="57457" cy="59990"/>
          </a:xfrm>
          <a:prstGeom prst="ellipse">
            <a:avLst/>
          </a:prstGeom>
          <a:solidFill>
            <a:srgbClr val="129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151" name="타원 188">
            <a:extLst>
              <a:ext uri="{FF2B5EF4-FFF2-40B4-BE49-F238E27FC236}">
                <a16:creationId xmlns:a16="http://schemas.microsoft.com/office/drawing/2014/main" id="{A63DEE71-047A-B246-A38D-9B63E809C119}"/>
              </a:ext>
            </a:extLst>
          </p:cNvPr>
          <p:cNvSpPr/>
          <p:nvPr/>
        </p:nvSpPr>
        <p:spPr>
          <a:xfrm>
            <a:off x="7888934" y="3474331"/>
            <a:ext cx="57457" cy="59990"/>
          </a:xfrm>
          <a:prstGeom prst="ellipse">
            <a:avLst/>
          </a:prstGeom>
          <a:solidFill>
            <a:srgbClr val="129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152" name="타원 189">
            <a:extLst>
              <a:ext uri="{FF2B5EF4-FFF2-40B4-BE49-F238E27FC236}">
                <a16:creationId xmlns:a16="http://schemas.microsoft.com/office/drawing/2014/main" id="{7E600303-131A-2E42-A241-F3890C2FD640}"/>
              </a:ext>
            </a:extLst>
          </p:cNvPr>
          <p:cNvSpPr/>
          <p:nvPr/>
        </p:nvSpPr>
        <p:spPr>
          <a:xfrm>
            <a:off x="7888934" y="3686033"/>
            <a:ext cx="57457" cy="59990"/>
          </a:xfrm>
          <a:prstGeom prst="ellipse">
            <a:avLst/>
          </a:prstGeom>
          <a:solidFill>
            <a:srgbClr val="129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153" name="타원 190">
            <a:extLst>
              <a:ext uri="{FF2B5EF4-FFF2-40B4-BE49-F238E27FC236}">
                <a16:creationId xmlns:a16="http://schemas.microsoft.com/office/drawing/2014/main" id="{AE9BE8B0-52E0-9F4A-A17A-324AAC96F084}"/>
              </a:ext>
            </a:extLst>
          </p:cNvPr>
          <p:cNvSpPr/>
          <p:nvPr/>
        </p:nvSpPr>
        <p:spPr>
          <a:xfrm>
            <a:off x="7888934" y="3897733"/>
            <a:ext cx="57457" cy="59990"/>
          </a:xfrm>
          <a:prstGeom prst="ellipse">
            <a:avLst/>
          </a:prstGeom>
          <a:solidFill>
            <a:srgbClr val="129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154" name="타원 193">
            <a:extLst>
              <a:ext uri="{FF2B5EF4-FFF2-40B4-BE49-F238E27FC236}">
                <a16:creationId xmlns:a16="http://schemas.microsoft.com/office/drawing/2014/main" id="{DF629C67-AA65-DE4B-8DFA-D6EAFDF6F3F5}"/>
              </a:ext>
            </a:extLst>
          </p:cNvPr>
          <p:cNvSpPr/>
          <p:nvPr/>
        </p:nvSpPr>
        <p:spPr>
          <a:xfrm>
            <a:off x="7888934" y="4532836"/>
            <a:ext cx="57457" cy="59990"/>
          </a:xfrm>
          <a:prstGeom prst="ellipse">
            <a:avLst/>
          </a:prstGeom>
          <a:solidFill>
            <a:srgbClr val="129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155" name="타원 194">
            <a:extLst>
              <a:ext uri="{FF2B5EF4-FFF2-40B4-BE49-F238E27FC236}">
                <a16:creationId xmlns:a16="http://schemas.microsoft.com/office/drawing/2014/main" id="{18751879-3A7E-1843-9331-21CFB80D73DF}"/>
              </a:ext>
            </a:extLst>
          </p:cNvPr>
          <p:cNvSpPr/>
          <p:nvPr/>
        </p:nvSpPr>
        <p:spPr>
          <a:xfrm>
            <a:off x="7888934" y="4744538"/>
            <a:ext cx="57457" cy="59990"/>
          </a:xfrm>
          <a:prstGeom prst="ellipse">
            <a:avLst/>
          </a:prstGeom>
          <a:solidFill>
            <a:srgbClr val="129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156" name="타원 195">
            <a:extLst>
              <a:ext uri="{FF2B5EF4-FFF2-40B4-BE49-F238E27FC236}">
                <a16:creationId xmlns:a16="http://schemas.microsoft.com/office/drawing/2014/main" id="{5EC280C9-82EE-054D-836C-810EAA6F4DB8}"/>
              </a:ext>
            </a:extLst>
          </p:cNvPr>
          <p:cNvSpPr/>
          <p:nvPr/>
        </p:nvSpPr>
        <p:spPr>
          <a:xfrm>
            <a:off x="7888934" y="4956239"/>
            <a:ext cx="57457" cy="59990"/>
          </a:xfrm>
          <a:prstGeom prst="ellipse">
            <a:avLst/>
          </a:prstGeom>
          <a:solidFill>
            <a:srgbClr val="129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157" name="타원 199">
            <a:extLst>
              <a:ext uri="{FF2B5EF4-FFF2-40B4-BE49-F238E27FC236}">
                <a16:creationId xmlns:a16="http://schemas.microsoft.com/office/drawing/2014/main" id="{361B7862-1BBD-8E4E-91B5-061A8904F005}"/>
              </a:ext>
            </a:extLst>
          </p:cNvPr>
          <p:cNvSpPr/>
          <p:nvPr/>
        </p:nvSpPr>
        <p:spPr>
          <a:xfrm>
            <a:off x="8499305" y="3686033"/>
            <a:ext cx="57457" cy="59990"/>
          </a:xfrm>
          <a:prstGeom prst="ellipse">
            <a:avLst/>
          </a:prstGeom>
          <a:solidFill>
            <a:srgbClr val="129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158" name="타원 200">
            <a:extLst>
              <a:ext uri="{FF2B5EF4-FFF2-40B4-BE49-F238E27FC236}">
                <a16:creationId xmlns:a16="http://schemas.microsoft.com/office/drawing/2014/main" id="{3865C7DD-D824-4B47-871F-6696043520CE}"/>
              </a:ext>
            </a:extLst>
          </p:cNvPr>
          <p:cNvSpPr/>
          <p:nvPr/>
        </p:nvSpPr>
        <p:spPr>
          <a:xfrm>
            <a:off x="8499305" y="3897733"/>
            <a:ext cx="57457" cy="59990"/>
          </a:xfrm>
          <a:prstGeom prst="ellipse">
            <a:avLst/>
          </a:prstGeom>
          <a:solidFill>
            <a:srgbClr val="129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159" name="타원 201">
            <a:extLst>
              <a:ext uri="{FF2B5EF4-FFF2-40B4-BE49-F238E27FC236}">
                <a16:creationId xmlns:a16="http://schemas.microsoft.com/office/drawing/2014/main" id="{839A3688-49B9-B646-88F2-144D085904EA}"/>
              </a:ext>
            </a:extLst>
          </p:cNvPr>
          <p:cNvSpPr/>
          <p:nvPr/>
        </p:nvSpPr>
        <p:spPr>
          <a:xfrm>
            <a:off x="8499305" y="4109435"/>
            <a:ext cx="57457" cy="59990"/>
          </a:xfrm>
          <a:prstGeom prst="ellipse">
            <a:avLst/>
          </a:prstGeom>
          <a:solidFill>
            <a:srgbClr val="129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160" name="타원 202">
            <a:extLst>
              <a:ext uri="{FF2B5EF4-FFF2-40B4-BE49-F238E27FC236}">
                <a16:creationId xmlns:a16="http://schemas.microsoft.com/office/drawing/2014/main" id="{C7C21889-ABD6-6F4E-A69E-6CA566525E55}"/>
              </a:ext>
            </a:extLst>
          </p:cNvPr>
          <p:cNvSpPr/>
          <p:nvPr/>
        </p:nvSpPr>
        <p:spPr>
          <a:xfrm>
            <a:off x="8499305" y="4321136"/>
            <a:ext cx="57457" cy="59990"/>
          </a:xfrm>
          <a:prstGeom prst="ellipse">
            <a:avLst/>
          </a:prstGeom>
          <a:solidFill>
            <a:srgbClr val="129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161" name="타원 203">
            <a:extLst>
              <a:ext uri="{FF2B5EF4-FFF2-40B4-BE49-F238E27FC236}">
                <a16:creationId xmlns:a16="http://schemas.microsoft.com/office/drawing/2014/main" id="{A3E6CBA4-4EEC-8F4D-B9AA-E76AF0146490}"/>
              </a:ext>
            </a:extLst>
          </p:cNvPr>
          <p:cNvSpPr/>
          <p:nvPr/>
        </p:nvSpPr>
        <p:spPr>
          <a:xfrm>
            <a:off x="8499305" y="4532836"/>
            <a:ext cx="57457" cy="59990"/>
          </a:xfrm>
          <a:prstGeom prst="ellipse">
            <a:avLst/>
          </a:prstGeom>
          <a:solidFill>
            <a:srgbClr val="129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162" name="타원 218">
            <a:extLst>
              <a:ext uri="{FF2B5EF4-FFF2-40B4-BE49-F238E27FC236}">
                <a16:creationId xmlns:a16="http://schemas.microsoft.com/office/drawing/2014/main" id="{1D37A898-E0E7-844B-9587-96BB3EEF7203}"/>
              </a:ext>
            </a:extLst>
          </p:cNvPr>
          <p:cNvSpPr/>
          <p:nvPr/>
        </p:nvSpPr>
        <p:spPr>
          <a:xfrm>
            <a:off x="7075106" y="3474331"/>
            <a:ext cx="57457" cy="59990"/>
          </a:xfrm>
          <a:prstGeom prst="ellipse">
            <a:avLst/>
          </a:prstGeom>
          <a:solidFill>
            <a:srgbClr val="129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163" name="타원 219">
            <a:extLst>
              <a:ext uri="{FF2B5EF4-FFF2-40B4-BE49-F238E27FC236}">
                <a16:creationId xmlns:a16="http://schemas.microsoft.com/office/drawing/2014/main" id="{235C7C25-8F0D-314C-807C-DB1A6A631348}"/>
              </a:ext>
            </a:extLst>
          </p:cNvPr>
          <p:cNvSpPr/>
          <p:nvPr/>
        </p:nvSpPr>
        <p:spPr>
          <a:xfrm>
            <a:off x="7075106" y="3686033"/>
            <a:ext cx="57457" cy="59990"/>
          </a:xfrm>
          <a:prstGeom prst="ellipse">
            <a:avLst/>
          </a:prstGeom>
          <a:solidFill>
            <a:srgbClr val="129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164" name="타원 220">
            <a:extLst>
              <a:ext uri="{FF2B5EF4-FFF2-40B4-BE49-F238E27FC236}">
                <a16:creationId xmlns:a16="http://schemas.microsoft.com/office/drawing/2014/main" id="{D8B1E2AE-EB59-8E46-9341-5B415958C363}"/>
              </a:ext>
            </a:extLst>
          </p:cNvPr>
          <p:cNvSpPr/>
          <p:nvPr/>
        </p:nvSpPr>
        <p:spPr>
          <a:xfrm>
            <a:off x="7075106" y="3897733"/>
            <a:ext cx="57457" cy="59990"/>
          </a:xfrm>
          <a:prstGeom prst="ellipse">
            <a:avLst/>
          </a:prstGeom>
          <a:solidFill>
            <a:srgbClr val="129F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63"/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37A6906F-3E0F-BA4F-A11C-E24603FF4389}"/>
              </a:ext>
            </a:extLst>
          </p:cNvPr>
          <p:cNvSpPr txBox="1"/>
          <p:nvPr/>
        </p:nvSpPr>
        <p:spPr>
          <a:xfrm>
            <a:off x="4832913" y="3856005"/>
            <a:ext cx="19010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ko-KR" altLang="en-US" sz="2000" b="1" dirty="0">
                <a:solidFill>
                  <a:srgbClr val="011893"/>
                </a:solidFill>
                <a:latin typeface="+mj-ea"/>
                <a:ea typeface="+mj-ea"/>
                <a:cs typeface="Arial" panose="020B0604020202020204" pitchFamily="34" charset="0"/>
              </a:rPr>
              <a:t>수집 데이터</a:t>
            </a:r>
            <a:endParaRPr kumimoji="1" lang="en-US" altLang="ko-KR" sz="2000" b="1" dirty="0">
              <a:solidFill>
                <a:srgbClr val="011893"/>
              </a:solidFill>
              <a:latin typeface="+mj-ea"/>
              <a:ea typeface="+mj-ea"/>
              <a:cs typeface="Arial" panose="020B0604020202020204" pitchFamily="34" charset="0"/>
            </a:endParaRPr>
          </a:p>
          <a:p>
            <a:pPr algn="ctr"/>
            <a:r>
              <a:rPr kumimoji="1" lang="ko-KR" altLang="en-US" sz="2000" b="1" dirty="0">
                <a:solidFill>
                  <a:srgbClr val="011893"/>
                </a:solidFill>
                <a:latin typeface="+mj-ea"/>
                <a:ea typeface="+mj-ea"/>
                <a:cs typeface="Arial" panose="020B0604020202020204" pitchFamily="34" charset="0"/>
              </a:rPr>
              <a:t> 영역</a:t>
            </a:r>
            <a:endParaRPr kumimoji="1" lang="en-US" altLang="ko-KR" sz="2000" b="1" dirty="0">
              <a:solidFill>
                <a:srgbClr val="011893"/>
              </a:solidFill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166" name="직사각형 4"/>
          <p:cNvSpPr/>
          <p:nvPr/>
        </p:nvSpPr>
        <p:spPr>
          <a:xfrm>
            <a:off x="7083167" y="3495340"/>
            <a:ext cx="828000" cy="436701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7" name="직사각형 230"/>
          <p:cNvSpPr/>
          <p:nvPr/>
        </p:nvSpPr>
        <p:spPr>
          <a:xfrm>
            <a:off x="8337906" y="3697830"/>
            <a:ext cx="203879" cy="876763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8" name="직사각형 231"/>
          <p:cNvSpPr/>
          <p:nvPr/>
        </p:nvSpPr>
        <p:spPr>
          <a:xfrm>
            <a:off x="7306448" y="4556182"/>
            <a:ext cx="828000" cy="436701"/>
          </a:xfrm>
          <a:prstGeom prst="rect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8965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모서리가 둥근 직사각형 11"/>
          <p:cNvSpPr/>
          <p:nvPr/>
        </p:nvSpPr>
        <p:spPr>
          <a:xfrm>
            <a:off x="611560" y="5624656"/>
            <a:ext cx="8117897" cy="805039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Century Gothic" panose="020B0502020202020204" pitchFamily="34" charset="0"/>
            </a:endParaRPr>
          </a:p>
        </p:txBody>
      </p:sp>
      <p:grpSp>
        <p:nvGrpSpPr>
          <p:cNvPr id="2" name="그룹 34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3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4" name="그룹 43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48" name="직사각형 47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49" name="직사각형 48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5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46" name="직사각형 45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47" name="직사각형 46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38" name="직사각형 37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사업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(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)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52" name="직사각형 51"/>
          <p:cNvSpPr/>
          <p:nvPr/>
        </p:nvSpPr>
        <p:spPr>
          <a:xfrm>
            <a:off x="213420" y="74344"/>
            <a:ext cx="7140096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사업 개요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-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빅데이터 생산 및 가속화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611560" y="5683861"/>
            <a:ext cx="8126252" cy="74860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pc="-12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4"/>
                </a:solidFill>
                <a:latin typeface="+mj-ea"/>
                <a:ea typeface="+mj-ea"/>
              </a:rPr>
              <a:t>신소재</a:t>
            </a:r>
            <a:r>
              <a:rPr lang="en-US" altLang="ko-KR" spc="-12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4"/>
                </a:solidFill>
                <a:latin typeface="+mj-ea"/>
                <a:ea typeface="+mj-ea"/>
              </a:rPr>
              <a:t>·</a:t>
            </a:r>
            <a:r>
              <a:rPr lang="ko-KR" altLang="en-US" spc="-12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4"/>
                </a:solidFill>
                <a:latin typeface="+mj-ea"/>
                <a:ea typeface="+mj-ea"/>
              </a:rPr>
              <a:t>공정 정보의 수집 가속화를 위한 </a:t>
            </a:r>
            <a:r>
              <a:rPr lang="ko-KR" altLang="en-US" spc="-12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3"/>
                </a:solidFill>
                <a:latin typeface="+mj-ea"/>
                <a:ea typeface="+mj-ea"/>
              </a:rPr>
              <a:t>데이터 생산 전용 미니어처</a:t>
            </a:r>
            <a:r>
              <a:rPr lang="en-US" altLang="ko-KR" spc="-12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3"/>
                </a:solidFill>
                <a:latin typeface="+mj-ea"/>
                <a:ea typeface="+mj-ea"/>
              </a:rPr>
              <a:t> </a:t>
            </a:r>
            <a:r>
              <a:rPr lang="ko-KR" altLang="en-US" spc="-12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3"/>
                </a:solidFill>
                <a:latin typeface="+mj-ea"/>
                <a:ea typeface="+mj-ea"/>
              </a:rPr>
              <a:t>데이터 </a:t>
            </a:r>
            <a:r>
              <a:rPr lang="ko-KR" altLang="en-US" spc="-120" dirty="0" err="1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3"/>
                </a:solidFill>
                <a:latin typeface="+mj-ea"/>
                <a:ea typeface="+mj-ea"/>
              </a:rPr>
              <a:t>팩토리</a:t>
            </a:r>
            <a:r>
              <a:rPr lang="ko-KR" altLang="en-US" spc="-12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accent3"/>
                </a:solidFill>
                <a:latin typeface="+mj-ea"/>
                <a:ea typeface="+mj-ea"/>
              </a:rPr>
              <a:t> 활용</a:t>
            </a:r>
          </a:p>
        </p:txBody>
      </p:sp>
      <p:sp>
        <p:nvSpPr>
          <p:cNvPr id="171" name="모서리가 둥근 직사각형 43">
            <a:extLst>
              <a:ext uri="{FF2B5EF4-FFF2-40B4-BE49-F238E27FC236}">
                <a16:creationId xmlns:a16="http://schemas.microsoft.com/office/drawing/2014/main" id="{4C5F6EE8-3272-D24F-92D7-493971F20B24}"/>
              </a:ext>
            </a:extLst>
          </p:cNvPr>
          <p:cNvSpPr/>
          <p:nvPr/>
        </p:nvSpPr>
        <p:spPr>
          <a:xfrm>
            <a:off x="369236" y="1268760"/>
            <a:ext cx="3794475" cy="4259999"/>
          </a:xfrm>
          <a:prstGeom prst="roundRect">
            <a:avLst>
              <a:gd name="adj" fmla="val 869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2" name="양쪽 모서리가 둥근 사각형 44">
            <a:extLst>
              <a:ext uri="{FF2B5EF4-FFF2-40B4-BE49-F238E27FC236}">
                <a16:creationId xmlns:a16="http://schemas.microsoft.com/office/drawing/2014/main" id="{10FE241B-6C2F-944C-89EC-FC7C9812EA2B}"/>
              </a:ext>
            </a:extLst>
          </p:cNvPr>
          <p:cNvSpPr/>
          <p:nvPr/>
        </p:nvSpPr>
        <p:spPr>
          <a:xfrm>
            <a:off x="370209" y="1268760"/>
            <a:ext cx="3794475" cy="636421"/>
          </a:xfrm>
          <a:prstGeom prst="round2SameRect">
            <a:avLst>
              <a:gd name="adj1" fmla="val 3509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3" name="모서리가 둥근 직사각형 45">
            <a:extLst>
              <a:ext uri="{FF2B5EF4-FFF2-40B4-BE49-F238E27FC236}">
                <a16:creationId xmlns:a16="http://schemas.microsoft.com/office/drawing/2014/main" id="{8E1DA009-2C88-424A-849F-47B0AB402534}"/>
              </a:ext>
            </a:extLst>
          </p:cNvPr>
          <p:cNvSpPr/>
          <p:nvPr/>
        </p:nvSpPr>
        <p:spPr>
          <a:xfrm>
            <a:off x="4965973" y="1268760"/>
            <a:ext cx="3965122" cy="4259999"/>
          </a:xfrm>
          <a:prstGeom prst="roundRect">
            <a:avLst>
              <a:gd name="adj" fmla="val 869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4" name="양쪽 모서리가 둥근 사각형 46">
            <a:extLst>
              <a:ext uri="{FF2B5EF4-FFF2-40B4-BE49-F238E27FC236}">
                <a16:creationId xmlns:a16="http://schemas.microsoft.com/office/drawing/2014/main" id="{D0026FC8-8C3E-B649-8F34-CE405CE63D14}"/>
              </a:ext>
            </a:extLst>
          </p:cNvPr>
          <p:cNvSpPr/>
          <p:nvPr/>
        </p:nvSpPr>
        <p:spPr>
          <a:xfrm>
            <a:off x="4966946" y="1268760"/>
            <a:ext cx="3964149" cy="636421"/>
          </a:xfrm>
          <a:prstGeom prst="round2SameRect">
            <a:avLst>
              <a:gd name="adj1" fmla="val 35090"/>
              <a:gd name="adj2" fmla="val 0"/>
            </a:avLst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5" name="그림 4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337" y="2010958"/>
            <a:ext cx="1279365" cy="2930159"/>
          </a:xfrm>
          <a:prstGeom prst="rect">
            <a:avLst/>
          </a:prstGeom>
        </p:spPr>
      </p:pic>
      <p:sp>
        <p:nvSpPr>
          <p:cNvPr id="176" name="직사각형 48">
            <a:extLst>
              <a:ext uri="{FF2B5EF4-FFF2-40B4-BE49-F238E27FC236}">
                <a16:creationId xmlns:a16="http://schemas.microsoft.com/office/drawing/2014/main" id="{29E58FF9-9C55-4144-9AD3-9ABA1E4351E9}"/>
              </a:ext>
            </a:extLst>
          </p:cNvPr>
          <p:cNvSpPr/>
          <p:nvPr/>
        </p:nvSpPr>
        <p:spPr>
          <a:xfrm>
            <a:off x="5075410" y="2119842"/>
            <a:ext cx="3581637" cy="27699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lvl="1" indent="-85725" algn="ctr" defTabSz="914098"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ko-KR" altLang="en-US" b="1" spc="-12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206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미니어처 데이터 </a:t>
            </a:r>
            <a:r>
              <a:rPr lang="ko-KR" altLang="en-US" b="1" spc="-120" dirty="0" err="1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206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팩토리</a:t>
            </a:r>
            <a:r>
              <a:rPr lang="ko-KR" altLang="en-US" b="1" spc="-12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206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 </a:t>
            </a:r>
            <a:r>
              <a:rPr lang="en-US" altLang="ko-KR" b="1" spc="-12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002060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(MDF)</a:t>
            </a:r>
            <a:endParaRPr lang="ko-KR" altLang="en-US" sz="1600" b="1" spc="-12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rgbClr val="002060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177" name="그림 52">
            <a:extLst>
              <a:ext uri="{FF2B5EF4-FFF2-40B4-BE49-F238E27FC236}">
                <a16:creationId xmlns:a16="http://schemas.microsoft.com/office/drawing/2014/main" id="{BD63D201-CA23-DA45-B570-0A351AE8EA0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696" y="2526452"/>
            <a:ext cx="1428748" cy="1071561"/>
          </a:xfrm>
          <a:prstGeom prst="rect">
            <a:avLst/>
          </a:prstGeom>
        </p:spPr>
      </p:pic>
      <p:pic>
        <p:nvPicPr>
          <p:cNvPr id="178" name="그림 54">
            <a:extLst>
              <a:ext uri="{FF2B5EF4-FFF2-40B4-BE49-F238E27FC236}">
                <a16:creationId xmlns:a16="http://schemas.microsoft.com/office/drawing/2014/main" id="{6B6684E0-9FBB-CB4A-9E1F-8E97901DA0B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813" y="4022262"/>
            <a:ext cx="1207530" cy="1268672"/>
          </a:xfrm>
          <a:prstGeom prst="rect">
            <a:avLst/>
          </a:prstGeom>
        </p:spPr>
      </p:pic>
      <p:sp>
        <p:nvSpPr>
          <p:cNvPr id="179" name="TextBox 178">
            <a:extLst>
              <a:ext uri="{FF2B5EF4-FFF2-40B4-BE49-F238E27FC236}">
                <a16:creationId xmlns:a16="http://schemas.microsoft.com/office/drawing/2014/main" id="{73664495-5F66-FC45-8614-DB764ECE435A}"/>
              </a:ext>
            </a:extLst>
          </p:cNvPr>
          <p:cNvSpPr txBox="1"/>
          <p:nvPr/>
        </p:nvSpPr>
        <p:spPr>
          <a:xfrm>
            <a:off x="952456" y="4938058"/>
            <a:ext cx="25683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400" b="1" spc="-1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C4666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r>
              <a:rPr lang="en-US" altLang="ko-KR" dirty="0">
                <a:solidFill>
                  <a:schemeClr val="tx1"/>
                </a:solidFill>
              </a:rPr>
              <a:t>&lt;</a:t>
            </a:r>
            <a:r>
              <a:rPr lang="ko-KR" altLang="en-US" dirty="0">
                <a:solidFill>
                  <a:schemeClr val="tx1"/>
                </a:solidFill>
              </a:rPr>
              <a:t>정형데이터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기반 데이터 수집</a:t>
            </a:r>
            <a:r>
              <a:rPr lang="en-US" altLang="ko-KR" dirty="0">
                <a:solidFill>
                  <a:schemeClr val="tx1"/>
                </a:solidFill>
              </a:rPr>
              <a:t>&gt;</a:t>
            </a:r>
            <a:endParaRPr lang="en-US" altLang="ko-Kore-KR" dirty="0">
              <a:solidFill>
                <a:schemeClr val="tx1"/>
              </a:solidFill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73664495-5F66-FC45-8614-DB764ECE435A}"/>
              </a:ext>
            </a:extLst>
          </p:cNvPr>
          <p:cNvSpPr txBox="1"/>
          <p:nvPr/>
        </p:nvSpPr>
        <p:spPr>
          <a:xfrm>
            <a:off x="5019952" y="3675359"/>
            <a:ext cx="16353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400" b="1" spc="-1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C4666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r>
              <a:rPr lang="en-US" altLang="ko-KR" dirty="0">
                <a:solidFill>
                  <a:schemeClr val="tx1"/>
                </a:solidFill>
              </a:rPr>
              <a:t>&lt;</a:t>
            </a:r>
            <a:r>
              <a:rPr lang="ko-KR" altLang="en-US" dirty="0">
                <a:solidFill>
                  <a:schemeClr val="tx1"/>
                </a:solidFill>
              </a:rPr>
              <a:t>자동화 실험장치</a:t>
            </a:r>
            <a:r>
              <a:rPr lang="en-US" altLang="ko-KR" dirty="0">
                <a:solidFill>
                  <a:schemeClr val="tx1"/>
                </a:solidFill>
              </a:rPr>
              <a:t>&gt;</a:t>
            </a:r>
            <a:endParaRPr lang="en-US" altLang="ko-Kore-KR" dirty="0">
              <a:solidFill>
                <a:schemeClr val="tx1"/>
              </a:solidFill>
            </a:endParaRPr>
          </a:p>
        </p:txBody>
      </p:sp>
      <p:pic>
        <p:nvPicPr>
          <p:cNvPr id="181" name="그림 62">
            <a:extLst>
              <a:ext uri="{FF2B5EF4-FFF2-40B4-BE49-F238E27FC236}">
                <a16:creationId xmlns:a16="http://schemas.microsoft.com/office/drawing/2014/main" id="{945586FB-76AD-1441-817D-E43E497A02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843" y="2334880"/>
            <a:ext cx="3596727" cy="2383467"/>
          </a:xfrm>
          <a:prstGeom prst="rect">
            <a:avLst/>
          </a:prstGeom>
        </p:spPr>
      </p:pic>
      <p:sp>
        <p:nvSpPr>
          <p:cNvPr id="182" name="직사각형 63">
            <a:extLst>
              <a:ext uri="{FF2B5EF4-FFF2-40B4-BE49-F238E27FC236}">
                <a16:creationId xmlns:a16="http://schemas.microsoft.com/office/drawing/2014/main" id="{29E58FF9-9C55-4144-9AD3-9ABA1E4351E9}"/>
              </a:ext>
            </a:extLst>
          </p:cNvPr>
          <p:cNvSpPr/>
          <p:nvPr/>
        </p:nvSpPr>
        <p:spPr>
          <a:xfrm>
            <a:off x="475655" y="1418547"/>
            <a:ext cx="3581637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lvl="1" indent="-85725" algn="ctr" defTabSz="914098"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ko-KR" altLang="en-US" sz="2400" b="1" spc="-12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데이터 수집</a:t>
            </a:r>
            <a:endParaRPr lang="ko-KR" altLang="en-US" sz="2000" b="1" spc="-12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sp>
        <p:nvSpPr>
          <p:cNvPr id="183" name="직사각형 64">
            <a:extLst>
              <a:ext uri="{FF2B5EF4-FFF2-40B4-BE49-F238E27FC236}">
                <a16:creationId xmlns:a16="http://schemas.microsoft.com/office/drawing/2014/main" id="{29E58FF9-9C55-4144-9AD3-9ABA1E4351E9}"/>
              </a:ext>
            </a:extLst>
          </p:cNvPr>
          <p:cNvSpPr/>
          <p:nvPr/>
        </p:nvSpPr>
        <p:spPr>
          <a:xfrm>
            <a:off x="5072392" y="1418547"/>
            <a:ext cx="3581637" cy="3693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lvl="1" indent="-85725" algn="ctr" defTabSz="914098">
              <a:buClr>
                <a:srgbClr val="008400"/>
              </a:buClr>
              <a:buSzPct val="140000"/>
              <a:tabLst>
                <a:tab pos="5645270" algn="l"/>
              </a:tabLst>
              <a:defRPr/>
            </a:pPr>
            <a:r>
              <a:rPr lang="ko-KR" altLang="en-US" sz="2400" b="1" spc="-12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Malgun Gothic" panose="020B0503020000020004" pitchFamily="34" charset="-127"/>
                <a:ea typeface="Malgun Gothic" panose="020B0503020000020004" pitchFamily="34" charset="-127"/>
              </a:rPr>
              <a:t>데이터 생산</a:t>
            </a:r>
            <a:endParaRPr lang="ko-KR" altLang="en-US" sz="2000" b="1" spc="-12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Malgun Gothic" panose="020B0503020000020004" pitchFamily="34" charset="-127"/>
              <a:ea typeface="Malgun Gothic" panose="020B0503020000020004" pitchFamily="34" charset="-127"/>
            </a:endParaRPr>
          </a:p>
        </p:txBody>
      </p:sp>
      <p:pic>
        <p:nvPicPr>
          <p:cNvPr id="184" name="그림 4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6061" y="2595938"/>
            <a:ext cx="1614201" cy="976592"/>
          </a:xfrm>
          <a:prstGeom prst="rect">
            <a:avLst/>
          </a:prstGeom>
        </p:spPr>
      </p:pic>
      <p:sp>
        <p:nvSpPr>
          <p:cNvPr id="185" name="TextBox 184">
            <a:extLst>
              <a:ext uri="{FF2B5EF4-FFF2-40B4-BE49-F238E27FC236}">
                <a16:creationId xmlns:a16="http://schemas.microsoft.com/office/drawing/2014/main" id="{73664495-5F66-FC45-8614-DB764ECE435A}"/>
              </a:ext>
            </a:extLst>
          </p:cNvPr>
          <p:cNvSpPr txBox="1"/>
          <p:nvPr/>
        </p:nvSpPr>
        <p:spPr>
          <a:xfrm>
            <a:off x="6508444" y="3664140"/>
            <a:ext cx="2422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400" b="1" spc="-1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C4666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r>
              <a:rPr lang="en-US" altLang="ko-KR" dirty="0">
                <a:solidFill>
                  <a:schemeClr val="tx1"/>
                </a:solidFill>
              </a:rPr>
              <a:t>&lt;IOT </a:t>
            </a:r>
            <a:r>
              <a:rPr lang="ko-KR" altLang="en-US" dirty="0">
                <a:solidFill>
                  <a:schemeClr val="tx1"/>
                </a:solidFill>
              </a:rPr>
              <a:t>기반 데이터 자동 수집</a:t>
            </a:r>
            <a:r>
              <a:rPr lang="en-US" altLang="ko-KR" dirty="0">
                <a:solidFill>
                  <a:schemeClr val="tx1"/>
                </a:solidFill>
              </a:rPr>
              <a:t>&gt;</a:t>
            </a:r>
            <a:endParaRPr lang="en-US" altLang="ko-Kore-KR" dirty="0">
              <a:solidFill>
                <a:schemeClr val="tx1"/>
              </a:solidFill>
            </a:endParaRPr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73664495-5F66-FC45-8614-DB764ECE435A}"/>
              </a:ext>
            </a:extLst>
          </p:cNvPr>
          <p:cNvSpPr txBox="1"/>
          <p:nvPr/>
        </p:nvSpPr>
        <p:spPr>
          <a:xfrm>
            <a:off x="4933108" y="5215323"/>
            <a:ext cx="180370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400" b="1" spc="-1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C4666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r>
              <a:rPr lang="en-US" altLang="ko-KR" dirty="0">
                <a:solidFill>
                  <a:schemeClr val="tx1"/>
                </a:solidFill>
              </a:rPr>
              <a:t>&lt;</a:t>
            </a:r>
            <a:r>
              <a:rPr lang="ko-KR" altLang="en-US" dirty="0">
                <a:solidFill>
                  <a:schemeClr val="tx1"/>
                </a:solidFill>
              </a:rPr>
              <a:t>자동물성시험장치</a:t>
            </a:r>
            <a:r>
              <a:rPr lang="en-US" altLang="ko-KR" dirty="0">
                <a:solidFill>
                  <a:schemeClr val="tx1"/>
                </a:solidFill>
              </a:rPr>
              <a:t>&gt;</a:t>
            </a:r>
            <a:endParaRPr lang="en-US" altLang="ko-Kore-KR" dirty="0">
              <a:solidFill>
                <a:schemeClr val="tx1"/>
              </a:solidFill>
            </a:endParaRP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2A913DDB-4935-48A5-BB48-F801974EA7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92632" y="4103678"/>
            <a:ext cx="961364" cy="105254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7DCE74CC-C9E9-46B5-A460-EE92A5F2459A}"/>
              </a:ext>
            </a:extLst>
          </p:cNvPr>
          <p:cNvSpPr txBox="1"/>
          <p:nvPr/>
        </p:nvSpPr>
        <p:spPr>
          <a:xfrm>
            <a:off x="6513994" y="5218438"/>
            <a:ext cx="25186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 algn="ctr">
              <a:defRPr sz="1400" b="1" spc="-10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3C4666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1pPr>
          </a:lstStyle>
          <a:p>
            <a:r>
              <a:rPr lang="en-US" altLang="ko-KR" dirty="0">
                <a:solidFill>
                  <a:schemeClr val="tx1"/>
                </a:solidFill>
              </a:rPr>
              <a:t>&lt;</a:t>
            </a:r>
            <a:r>
              <a:rPr lang="ko-KR" altLang="en-US" dirty="0">
                <a:solidFill>
                  <a:schemeClr val="tx1"/>
                </a:solidFill>
              </a:rPr>
              <a:t>소재 데이터베이스 구축장비</a:t>
            </a:r>
            <a:r>
              <a:rPr lang="en-US" altLang="ko-KR" dirty="0">
                <a:solidFill>
                  <a:schemeClr val="tx1"/>
                </a:solidFill>
              </a:rPr>
              <a:t>&gt;</a:t>
            </a:r>
            <a:endParaRPr lang="en-US" altLang="ko-Kore-KR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4352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34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3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4" name="그룹 43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48" name="직사각형 47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49" name="직사각형 48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5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46" name="직사각형 45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47" name="직사각형 46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38" name="직사각형 37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사업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(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)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52" name="직사각형 51"/>
          <p:cNvSpPr/>
          <p:nvPr/>
        </p:nvSpPr>
        <p:spPr>
          <a:xfrm>
            <a:off x="213420" y="74344"/>
            <a:ext cx="680026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사업 개요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- 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최종 목표 및 연구내용</a:t>
            </a:r>
          </a:p>
        </p:txBody>
      </p:sp>
      <p:pic>
        <p:nvPicPr>
          <p:cNvPr id="35" name="Picture 7" descr="우화살_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3679135" y="281201"/>
            <a:ext cx="1642883" cy="50847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AutoShape 27"/>
          <p:cNvSpPr>
            <a:spLocks noChangeArrowheads="1"/>
          </p:cNvSpPr>
          <p:nvPr/>
        </p:nvSpPr>
        <p:spPr bwMode="gray">
          <a:xfrm>
            <a:off x="332552" y="908720"/>
            <a:ext cx="8478896" cy="108012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B0AF7A">
                  <a:gamma/>
                  <a:shade val="46275"/>
                  <a:invGamma/>
                </a:srgbClr>
              </a:gs>
              <a:gs pos="50000">
                <a:srgbClr val="B0AF7A"/>
              </a:gs>
              <a:gs pos="100000">
                <a:srgbClr val="B0AF7A">
                  <a:gamma/>
                  <a:shade val="46275"/>
                  <a:invGamma/>
                </a:srgbClr>
              </a:gs>
            </a:gsLst>
            <a:lin ang="0" scaled="1"/>
          </a:gradFill>
          <a:ln w="38100" algn="ctr">
            <a:solidFill>
              <a:srgbClr val="FFFFFF"/>
            </a:solidFill>
            <a:round/>
            <a:headEnd/>
            <a:tailEnd/>
          </a:ln>
          <a:effectLst>
            <a:outerShdw dist="63500" dir="3187806" algn="ctr" rotWithShape="0">
              <a:srgbClr val="001D3A"/>
            </a:outerShdw>
          </a:effectLst>
        </p:spPr>
        <p:txBody>
          <a:bodyPr wrap="none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미니어처 데이터팩토리 구축과 </a:t>
            </a:r>
            <a:endParaRPr lang="en-US" altLang="ko-KR" sz="2000" b="1" dirty="0">
              <a:solidFill>
                <a:schemeClr val="bg1"/>
              </a:solidFill>
              <a:latin typeface="+mn-ea"/>
            </a:endParaRPr>
          </a:p>
          <a:p>
            <a:pPr algn="ctr"/>
            <a:r>
              <a:rPr lang="ko-KR" altLang="en-US" sz="2000" b="1" dirty="0">
                <a:solidFill>
                  <a:schemeClr val="bg1"/>
                </a:solidFill>
                <a:latin typeface="+mn-ea"/>
              </a:rPr>
              <a:t>인공지능 서비스 플랫폼 개발을 통한 인공지능 기반 확충</a:t>
            </a:r>
          </a:p>
        </p:txBody>
      </p:sp>
      <p:sp>
        <p:nvSpPr>
          <p:cNvPr id="36" name="직사각형 35"/>
          <p:cNvSpPr/>
          <p:nvPr/>
        </p:nvSpPr>
        <p:spPr>
          <a:xfrm>
            <a:off x="3157896" y="3165500"/>
            <a:ext cx="2698491" cy="3215828"/>
          </a:xfrm>
          <a:prstGeom prst="rect">
            <a:avLst/>
          </a:prstGeom>
          <a:solidFill>
            <a:srgbClr val="CBD1E3"/>
          </a:solidFill>
          <a:ln w="19050" cap="flat" cmpd="sng" algn="ctr">
            <a:solidFill>
              <a:sysClr val="window" lastClr="FFFFFF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39" name="양쪽 모서리가 둥근 사각형 38"/>
          <p:cNvSpPr/>
          <p:nvPr/>
        </p:nvSpPr>
        <p:spPr>
          <a:xfrm flipV="1">
            <a:off x="3157897" y="2924945"/>
            <a:ext cx="2717228" cy="52858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2E7AB"/>
          </a:solidFill>
          <a:ln w="19050" cap="flat" cmpd="sng" algn="ctr">
            <a:noFill/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157896" y="3044240"/>
            <a:ext cx="26984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ko-KR" altLang="en-US" sz="1400" b="1" dirty="0">
                <a:solidFill>
                  <a:prstClr val="black"/>
                </a:solidFill>
                <a:latin typeface="+mn-ea"/>
              </a:rPr>
              <a:t>인공지능 기반 플랫폼 구축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6047210" y="3165500"/>
            <a:ext cx="2701254" cy="3215828"/>
          </a:xfrm>
          <a:prstGeom prst="rect">
            <a:avLst/>
          </a:prstGeom>
          <a:solidFill>
            <a:srgbClr val="CBD1E3"/>
          </a:solidFill>
          <a:ln w="19050" cap="flat" cmpd="sng" algn="ctr">
            <a:solidFill>
              <a:sysClr val="window" lastClr="FFFFFF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2" name="양쪽 모서리가 둥근 사각형 41"/>
          <p:cNvSpPr/>
          <p:nvPr/>
        </p:nvSpPr>
        <p:spPr>
          <a:xfrm flipV="1">
            <a:off x="6037986" y="2924944"/>
            <a:ext cx="2710478" cy="52858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2E7AB"/>
          </a:solidFill>
          <a:ln w="19050" cap="flat" cmpd="sng" algn="ctr">
            <a:noFill/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6056724" y="3044240"/>
            <a:ext cx="26917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ko-KR" altLang="en-US" sz="1400" b="1" dirty="0">
                <a:solidFill>
                  <a:prstClr val="black"/>
                </a:solidFill>
                <a:latin typeface="+mn-ea"/>
              </a:rPr>
              <a:t>인공지능</a:t>
            </a:r>
            <a:r>
              <a:rPr lang="en-US" altLang="ko-KR" sz="1400" b="1" dirty="0">
                <a:solidFill>
                  <a:prstClr val="black"/>
                </a:solidFill>
                <a:latin typeface="+mn-ea"/>
              </a:rPr>
              <a:t> </a:t>
            </a:r>
            <a:r>
              <a:rPr lang="ko-KR" altLang="en-US" sz="1400" b="1" dirty="0">
                <a:solidFill>
                  <a:prstClr val="black"/>
                </a:solidFill>
                <a:latin typeface="+mn-ea"/>
              </a:rPr>
              <a:t>서비스 플랫폼 활용</a:t>
            </a:r>
          </a:p>
        </p:txBody>
      </p:sp>
      <p:sp>
        <p:nvSpPr>
          <p:cNvPr id="22" name="직사각형 35"/>
          <p:cNvSpPr/>
          <p:nvPr/>
        </p:nvSpPr>
        <p:spPr>
          <a:xfrm>
            <a:off x="252688" y="3165500"/>
            <a:ext cx="2698491" cy="3215828"/>
          </a:xfrm>
          <a:prstGeom prst="rect">
            <a:avLst/>
          </a:prstGeom>
          <a:solidFill>
            <a:srgbClr val="CBD1E3"/>
          </a:solidFill>
          <a:ln w="19050" cap="flat" cmpd="sng" algn="ctr">
            <a:solidFill>
              <a:sysClr val="window" lastClr="FFFFFF"/>
            </a:solidFill>
            <a:prstDash val="solid"/>
          </a:ln>
          <a:effectLst/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4" name="양쪽 모서리가 둥근 사각형 38"/>
          <p:cNvSpPr/>
          <p:nvPr/>
        </p:nvSpPr>
        <p:spPr>
          <a:xfrm flipV="1">
            <a:off x="252689" y="2924946"/>
            <a:ext cx="2663128" cy="52858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2E7AB"/>
          </a:solidFill>
          <a:ln w="19050" cap="flat" cmpd="sng" algn="ctr">
            <a:noFill/>
            <a:prstDash val="solid"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 prst="slope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99499" y="3044240"/>
            <a:ext cx="23733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ko-KR" altLang="en-US" sz="1400" b="1" dirty="0">
                <a:solidFill>
                  <a:prstClr val="black"/>
                </a:solidFill>
                <a:latin typeface="+mn-ea"/>
              </a:rPr>
              <a:t>데이터 생성</a:t>
            </a:r>
            <a:r>
              <a:rPr lang="en-US" altLang="ko-KR" sz="1400" b="1" dirty="0">
                <a:solidFill>
                  <a:prstClr val="black"/>
                </a:solidFill>
                <a:latin typeface="+mn-ea"/>
              </a:rPr>
              <a:t>·</a:t>
            </a:r>
            <a:r>
              <a:rPr lang="ko-KR" altLang="en-US" sz="1400" b="1" dirty="0">
                <a:solidFill>
                  <a:prstClr val="black"/>
                </a:solidFill>
                <a:latin typeface="+mn-ea"/>
              </a:rPr>
              <a:t>수집 </a:t>
            </a:r>
            <a:r>
              <a:rPr lang="en-US" altLang="ko-KR" sz="1400" b="1" dirty="0">
                <a:solidFill>
                  <a:prstClr val="black"/>
                </a:solidFill>
                <a:latin typeface="+mn-ea"/>
              </a:rPr>
              <a:t>· </a:t>
            </a:r>
            <a:r>
              <a:rPr lang="ko-KR" altLang="en-US" sz="1400" b="1" dirty="0">
                <a:solidFill>
                  <a:prstClr val="black"/>
                </a:solidFill>
                <a:latin typeface="+mn-ea"/>
              </a:rPr>
              <a:t>통합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7926" y="3582509"/>
            <a:ext cx="2577169" cy="272681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9499" y="3615554"/>
            <a:ext cx="2601900" cy="247774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5"/>
          <a:srcRect l="2807" r="7960"/>
          <a:stretch/>
        </p:blipFill>
        <p:spPr>
          <a:xfrm>
            <a:off x="341793" y="3559715"/>
            <a:ext cx="2520280" cy="275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251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673484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구축 할 연구시설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·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장비 개요</a:t>
            </a:r>
          </a:p>
        </p:txBody>
      </p:sp>
      <p:grpSp>
        <p:nvGrpSpPr>
          <p:cNvPr id="2" name="그룹 33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3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4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42" name="직사각형 41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43" name="직사각형 42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5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39" name="직사각형 38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40" name="직사각형 39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36" name="직사각형 35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14" name="직사각형 13"/>
          <p:cNvSpPr/>
          <p:nvPr/>
        </p:nvSpPr>
        <p:spPr>
          <a:xfrm>
            <a:off x="251520" y="836712"/>
            <a:ext cx="29017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kumimoji="1" lang="ko-KR" altLang="en-US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□</a:t>
            </a:r>
            <a:r>
              <a:rPr kumimoji="1" lang="ko-KR" altLang="ko-KR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 </a:t>
            </a:r>
            <a:r>
              <a:rPr kumimoji="1" lang="ko-KR" altLang="en-US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상세 사양 및 핵심 기능</a:t>
            </a:r>
            <a:endParaRPr kumimoji="1" lang="en-US" altLang="ko-KR" b="1" dirty="0">
              <a:solidFill>
                <a:schemeClr val="bg1"/>
              </a:solidFill>
              <a:latin typeface="+mn-ea"/>
              <a:cs typeface="굴림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251520" y="3429000"/>
            <a:ext cx="17331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kumimoji="1" lang="ko-KR" altLang="en-US" b="1" dirty="0">
                <a:latin typeface="+mn-ea"/>
                <a:cs typeface="굴림" pitchFamily="50" charset="-127"/>
              </a:rPr>
              <a:t>□</a:t>
            </a:r>
            <a:r>
              <a:rPr kumimoji="1" lang="ko-KR" altLang="ko-KR" b="1" dirty="0">
                <a:latin typeface="+mn-ea"/>
                <a:cs typeface="굴림" pitchFamily="50" charset="-127"/>
              </a:rPr>
              <a:t> </a:t>
            </a:r>
            <a:r>
              <a:rPr kumimoji="1" lang="ko-KR" altLang="en-US" b="1" dirty="0">
                <a:latin typeface="+mn-ea"/>
                <a:cs typeface="굴림" pitchFamily="50" charset="-127"/>
              </a:rPr>
              <a:t>장비의 용도</a:t>
            </a:r>
            <a:endParaRPr kumimoji="1" lang="en-US" altLang="ko-KR" b="1" dirty="0">
              <a:latin typeface="+mn-ea"/>
              <a:cs typeface="굴림" pitchFamily="50" charset="-127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395536" y="3789040"/>
            <a:ext cx="8280920" cy="936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자동 물성 평가 시험기와 연계하여 소재의 데이터베이스 구축을 위한 시편 분석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400" b="1" dirty="0">
                <a:solidFill>
                  <a:schemeClr val="tx1"/>
                </a:solidFill>
              </a:rPr>
              <a:t>4</a:t>
            </a:r>
            <a:r>
              <a:rPr lang="ko-KR" altLang="en-US" sz="1400" b="1" dirty="0">
                <a:solidFill>
                  <a:schemeClr val="tx1"/>
                </a:solidFill>
              </a:rPr>
              <a:t>차 산업혁명 및 소</a:t>
            </a:r>
            <a:r>
              <a:rPr lang="en-US" altLang="ko-KR" sz="1400" b="1" dirty="0">
                <a:solidFill>
                  <a:schemeClr val="tx1"/>
                </a:solidFill>
              </a:rPr>
              <a:t>·</a:t>
            </a:r>
            <a:r>
              <a:rPr lang="ko-KR" altLang="en-US" sz="1400" b="1" dirty="0">
                <a:solidFill>
                  <a:schemeClr val="tx1"/>
                </a:solidFill>
              </a:rPr>
              <a:t>부</a:t>
            </a:r>
            <a:r>
              <a:rPr lang="en-US" altLang="ko-KR" sz="1400" b="1" dirty="0">
                <a:solidFill>
                  <a:schemeClr val="tx1"/>
                </a:solidFill>
              </a:rPr>
              <a:t>·</a:t>
            </a:r>
            <a:r>
              <a:rPr lang="ko-KR" altLang="en-US" sz="1400" b="1" dirty="0">
                <a:solidFill>
                  <a:schemeClr val="tx1"/>
                </a:solidFill>
              </a:rPr>
              <a:t>장 </a:t>
            </a:r>
            <a:r>
              <a:rPr lang="en-US" altLang="ko-KR" sz="1400" b="1" dirty="0">
                <a:solidFill>
                  <a:schemeClr val="tx1"/>
                </a:solidFill>
              </a:rPr>
              <a:t>R&amp;D</a:t>
            </a:r>
            <a:r>
              <a:rPr lang="ko-KR" altLang="en-US" sz="1400" b="1" dirty="0">
                <a:solidFill>
                  <a:schemeClr val="tx1"/>
                </a:solidFill>
              </a:rPr>
              <a:t>와 관련된 산업에 따른 첨단소재 물성분석 지원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원내 소재분석 공동활용서비스 제공 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251520" y="4996914"/>
            <a:ext cx="25074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kumimoji="1" lang="ko-KR" altLang="en-US" b="1" dirty="0">
                <a:latin typeface="+mn-ea"/>
                <a:cs typeface="굴림" pitchFamily="50" charset="-127"/>
              </a:rPr>
              <a:t>□</a:t>
            </a:r>
            <a:r>
              <a:rPr kumimoji="1" lang="ko-KR" altLang="ko-KR" b="1" dirty="0">
                <a:latin typeface="+mn-ea"/>
                <a:cs typeface="굴림" pitchFamily="50" charset="-127"/>
              </a:rPr>
              <a:t> </a:t>
            </a:r>
            <a:r>
              <a:rPr kumimoji="1" lang="ko-KR" altLang="en-US" b="1" dirty="0">
                <a:latin typeface="+mn-ea"/>
                <a:cs typeface="굴림" pitchFamily="50" charset="-127"/>
              </a:rPr>
              <a:t>제작사 등 기타사항</a:t>
            </a:r>
            <a:endParaRPr kumimoji="1" lang="en-US" altLang="ko-KR" b="1" dirty="0">
              <a:latin typeface="+mn-ea"/>
              <a:cs typeface="굴림" pitchFamily="50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95536" y="5382503"/>
            <a:ext cx="8280920" cy="7015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400" b="1" dirty="0">
                <a:solidFill>
                  <a:schemeClr val="tx1"/>
                </a:solidFill>
              </a:rPr>
              <a:t>Malvern </a:t>
            </a:r>
            <a:r>
              <a:rPr lang="en-US" altLang="ko-KR" sz="1400" b="1" dirty="0" err="1">
                <a:solidFill>
                  <a:schemeClr val="tx1"/>
                </a:solidFill>
              </a:rPr>
              <a:t>Panalytical</a:t>
            </a:r>
            <a:r>
              <a:rPr lang="en-US" altLang="ko-KR" sz="1400" b="1" dirty="0">
                <a:solidFill>
                  <a:schemeClr val="tx1"/>
                </a:solidFill>
              </a:rPr>
              <a:t> (</a:t>
            </a:r>
            <a:r>
              <a:rPr lang="ko-KR" altLang="en-US" sz="1400" b="1" dirty="0">
                <a:solidFill>
                  <a:schemeClr val="tx1"/>
                </a:solidFill>
              </a:rPr>
              <a:t>네덜란드</a:t>
            </a:r>
            <a:r>
              <a:rPr lang="en-US" altLang="ko-KR" sz="1400" b="1" dirty="0">
                <a:solidFill>
                  <a:schemeClr val="tx1"/>
                </a:solidFill>
              </a:rPr>
              <a:t>) : Empyrean</a:t>
            </a: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400" b="1" dirty="0">
                <a:solidFill>
                  <a:schemeClr val="tx1"/>
                </a:solidFill>
              </a:rPr>
              <a:t>Rigaku (</a:t>
            </a:r>
            <a:r>
              <a:rPr lang="ko-KR" altLang="en-US" sz="1400" b="1" dirty="0">
                <a:solidFill>
                  <a:schemeClr val="tx1"/>
                </a:solidFill>
              </a:rPr>
              <a:t>일본</a:t>
            </a:r>
            <a:r>
              <a:rPr lang="en-US" altLang="ko-KR" sz="1400" b="1" dirty="0">
                <a:solidFill>
                  <a:schemeClr val="tx1"/>
                </a:solidFill>
              </a:rPr>
              <a:t>) : </a:t>
            </a:r>
            <a:r>
              <a:rPr lang="en-US" altLang="ko-KR" sz="1400" b="1" dirty="0" err="1">
                <a:solidFill>
                  <a:schemeClr val="tx1"/>
                </a:solidFill>
              </a:rPr>
              <a:t>SmartLab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23" name="직사각형 15"/>
          <p:cNvSpPr/>
          <p:nvPr/>
        </p:nvSpPr>
        <p:spPr>
          <a:xfrm>
            <a:off x="815019" y="2960032"/>
            <a:ext cx="1645060" cy="430098"/>
          </a:xfrm>
          <a:prstGeom prst="rect">
            <a:avLst/>
          </a:prstGeom>
          <a:noFill/>
          <a:ln w="19050">
            <a:noFill/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b="1" dirty="0">
                <a:solidFill>
                  <a:schemeClr val="tx1"/>
                </a:solidFill>
              </a:rPr>
              <a:t>&lt;</a:t>
            </a:r>
            <a:r>
              <a:rPr lang="ko-KR" altLang="en-US" sz="1200" b="1" dirty="0">
                <a:solidFill>
                  <a:schemeClr val="tx1"/>
                </a:solidFill>
              </a:rPr>
              <a:t>예상 사진</a:t>
            </a:r>
            <a:r>
              <a:rPr lang="en-US" altLang="ko-KR" sz="1200" b="1" dirty="0">
                <a:solidFill>
                  <a:schemeClr val="tx1"/>
                </a:solidFill>
              </a:rPr>
              <a:t>&gt;</a:t>
            </a:r>
            <a:endParaRPr lang="ko-KR" altLang="en-US" sz="1200" b="1" dirty="0">
              <a:solidFill>
                <a:schemeClr val="tx1"/>
              </a:solidFill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256EB32-460D-4E35-AA7E-98F3E0CED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235" y="1326508"/>
            <a:ext cx="1612628" cy="1765573"/>
          </a:xfrm>
          <a:prstGeom prst="rect">
            <a:avLst/>
          </a:prstGeom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0BE10DA1-61E0-4E1B-99D6-D28E13530CF9}"/>
              </a:ext>
            </a:extLst>
          </p:cNvPr>
          <p:cNvSpPr/>
          <p:nvPr/>
        </p:nvSpPr>
        <p:spPr>
          <a:xfrm>
            <a:off x="3419872" y="1326508"/>
            <a:ext cx="5256584" cy="197651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>
              <a:lnSpc>
                <a:spcPct val="125000"/>
              </a:lnSpc>
            </a:pPr>
            <a:r>
              <a:rPr lang="en-US" altLang="ko-KR" sz="1400" b="1" dirty="0">
                <a:solidFill>
                  <a:schemeClr val="tx1"/>
                </a:solidFill>
              </a:rPr>
              <a:t>X-</a:t>
            </a:r>
            <a:r>
              <a:rPr lang="ko-KR" altLang="en-US" sz="1400" b="1" dirty="0">
                <a:solidFill>
                  <a:schemeClr val="tx1"/>
                </a:solidFill>
              </a:rPr>
              <a:t>선을 시료에 조사사여</a:t>
            </a:r>
            <a:r>
              <a:rPr lang="en-US" altLang="ko-KR" sz="1400" b="1" dirty="0">
                <a:solidFill>
                  <a:schemeClr val="tx1"/>
                </a:solidFill>
              </a:rPr>
              <a:t> </a:t>
            </a:r>
            <a:r>
              <a:rPr lang="ko-KR" altLang="en-US" sz="1400" b="1" dirty="0">
                <a:solidFill>
                  <a:schemeClr val="tx1"/>
                </a:solidFill>
              </a:rPr>
              <a:t>결정에 부딪히면 그 중 일부는 </a:t>
            </a:r>
            <a:r>
              <a:rPr lang="en-US" altLang="ko-KR" sz="1400" b="1" dirty="0">
                <a:solidFill>
                  <a:schemeClr val="tx1"/>
                </a:solidFill>
              </a:rPr>
              <a:t>Bragg</a:t>
            </a:r>
            <a:r>
              <a:rPr lang="ko-KR" altLang="en-US" sz="1400" b="1" dirty="0">
                <a:solidFill>
                  <a:schemeClr val="tx1"/>
                </a:solidFill>
              </a:rPr>
              <a:t> 법칙에 의해 회절을 일으키고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그 회절각과 강도는 물질 구조상 고유 성질을 나타냄</a:t>
            </a:r>
            <a:r>
              <a:rPr lang="en-US" altLang="ko-KR" sz="1400" b="1" dirty="0">
                <a:solidFill>
                  <a:schemeClr val="tx1"/>
                </a:solidFill>
              </a:rPr>
              <a:t>. </a:t>
            </a:r>
            <a:r>
              <a:rPr lang="ko-KR" altLang="en-US" sz="1400" b="1" dirty="0">
                <a:solidFill>
                  <a:schemeClr val="tx1"/>
                </a:solidFill>
              </a:rPr>
              <a:t>이를 이용하여 시료에 함유된 결정성 물질의 분석 가능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chemeClr val="tx1"/>
                </a:solidFill>
              </a:rPr>
              <a:t>화학적 조성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결정구조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 err="1">
                <a:solidFill>
                  <a:schemeClr val="tx1"/>
                </a:solidFill>
              </a:rPr>
              <a:t>결정질</a:t>
            </a:r>
            <a:r>
              <a:rPr lang="ko-KR" altLang="en-US" sz="1400" b="1" dirty="0">
                <a:solidFill>
                  <a:schemeClr val="tx1"/>
                </a:solidFill>
              </a:rPr>
              <a:t> 크기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변형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우선 방위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층 두께 등을 분석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chemeClr val="tx1"/>
                </a:solidFill>
              </a:rPr>
              <a:t>다양한 형태</a:t>
            </a:r>
            <a:r>
              <a:rPr lang="en-US" altLang="ko-KR" sz="1400" b="1" dirty="0">
                <a:solidFill>
                  <a:schemeClr val="tx1"/>
                </a:solidFill>
              </a:rPr>
              <a:t>(</a:t>
            </a:r>
            <a:r>
              <a:rPr lang="ko-KR" altLang="en-US" sz="1400" b="1" dirty="0">
                <a:solidFill>
                  <a:schemeClr val="tx1"/>
                </a:solidFill>
              </a:rPr>
              <a:t>분말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박막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고체</a:t>
            </a:r>
            <a:r>
              <a:rPr lang="en-US" altLang="ko-KR" sz="1400" b="1" dirty="0">
                <a:solidFill>
                  <a:schemeClr val="tx1"/>
                </a:solidFill>
              </a:rPr>
              <a:t> </a:t>
            </a:r>
            <a:r>
              <a:rPr lang="ko-KR" altLang="en-US" sz="1400" b="1" dirty="0">
                <a:solidFill>
                  <a:schemeClr val="tx1"/>
                </a:solidFill>
              </a:rPr>
              <a:t>등</a:t>
            </a:r>
            <a:r>
              <a:rPr lang="en-US" altLang="ko-KR" sz="1400" b="1" dirty="0">
                <a:solidFill>
                  <a:schemeClr val="tx1"/>
                </a:solidFill>
              </a:rPr>
              <a:t>)</a:t>
            </a:r>
            <a:r>
              <a:rPr lang="ko-KR" altLang="en-US" sz="1400" b="1" dirty="0">
                <a:solidFill>
                  <a:schemeClr val="tx1"/>
                </a:solidFill>
              </a:rPr>
              <a:t>의 시료 분석 가능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4688" y="4509120"/>
            <a:ext cx="2035504" cy="1440160"/>
          </a:xfrm>
          <a:prstGeom prst="rect">
            <a:avLst/>
          </a:prstGeom>
          <a:ln w="19050">
            <a:noFill/>
          </a:ln>
        </p:spPr>
      </p:pic>
      <p:sp>
        <p:nvSpPr>
          <p:cNvPr id="41" name="직사각형 40"/>
          <p:cNvSpPr/>
          <p:nvPr/>
        </p:nvSpPr>
        <p:spPr>
          <a:xfrm>
            <a:off x="213420" y="74344"/>
            <a:ext cx="36567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사업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) </a:t>
            </a:r>
            <a:r>
              <a:rPr lang="ko-KR" altLang="en-US" sz="3600" b="1" kern="0" dirty="0" err="1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부합성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6BB8AFD5-D12B-4247-B75E-9FB902106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566" y="4528580"/>
            <a:ext cx="1314351" cy="1439007"/>
          </a:xfrm>
          <a:prstGeom prst="rect">
            <a:avLst/>
          </a:prstGeom>
          <a:ln w="22225">
            <a:solidFill>
              <a:srgbClr val="FF0000"/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251520" y="836712"/>
            <a:ext cx="37785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kumimoji="1" lang="ko-KR" altLang="en-US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□</a:t>
            </a:r>
            <a:r>
              <a:rPr kumimoji="1" lang="ko-KR" altLang="ko-KR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 </a:t>
            </a:r>
            <a:r>
              <a:rPr lang="ko-KR" altLang="en-US" b="1" dirty="0">
                <a:solidFill>
                  <a:schemeClr val="bg1"/>
                </a:solidFill>
              </a:rPr>
              <a:t>연구시설･장비의 구축의 필요성</a:t>
            </a:r>
            <a:endParaRPr kumimoji="1" lang="en-US" altLang="ko-KR" b="1" dirty="0">
              <a:solidFill>
                <a:schemeClr val="bg1"/>
              </a:solidFill>
              <a:latin typeface="+mn-ea"/>
              <a:cs typeface="굴림" pitchFamily="50" charset="-127"/>
            </a:endParaRPr>
          </a:p>
        </p:txBody>
      </p:sp>
      <p:grpSp>
        <p:nvGrpSpPr>
          <p:cNvPr id="16" name="그룹 15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17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9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23" name="직사각형 22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24" name="직사각형 23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20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21" name="직사각형 20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22" name="직사각형 21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18" name="직사각형 17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14" name="직사각형 6"/>
          <p:cNvSpPr/>
          <p:nvPr/>
        </p:nvSpPr>
        <p:spPr>
          <a:xfrm>
            <a:off x="395536" y="1266437"/>
            <a:ext cx="8280920" cy="27573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소재부품기술기반혁신사업 “금속소재 가상공학 플랫폼 구축” 과제는 미니어처 데이터 팩토리</a:t>
            </a:r>
            <a:r>
              <a:rPr lang="en-US" altLang="ko-KR" sz="1400" b="1" dirty="0">
                <a:solidFill>
                  <a:schemeClr val="tx1"/>
                </a:solidFill>
              </a:rPr>
              <a:t> </a:t>
            </a:r>
            <a:r>
              <a:rPr lang="ko-KR" altLang="en-US" sz="1400" b="1" dirty="0">
                <a:solidFill>
                  <a:schemeClr val="tx1"/>
                </a:solidFill>
              </a:rPr>
              <a:t>구축을 기점으로 진행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미니어처 데이터 팩토리가 제 역할을 하기 위해 공정부터 물성 평가까지 가능한 시스템 구축 필수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미니어처 데이터 </a:t>
            </a:r>
            <a:r>
              <a:rPr lang="ko-KR" altLang="en-US" sz="1400" b="1" dirty="0" err="1">
                <a:solidFill>
                  <a:schemeClr val="tx1"/>
                </a:solidFill>
              </a:rPr>
              <a:t>팩토리에서</a:t>
            </a:r>
            <a:r>
              <a:rPr lang="ko-KR" altLang="en-US" sz="1400" b="1" dirty="0">
                <a:solidFill>
                  <a:schemeClr val="tx1"/>
                </a:solidFill>
              </a:rPr>
              <a:t> 제작한 수많은 시편을 물성 평가 하기 위해서는 고성능의 자동화된 물성평가 장비 필요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fontAlgn="base">
              <a:lnSpc>
                <a:spcPct val="125000"/>
              </a:lnSpc>
            </a:pP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엑스선 회절 분석기를 도입함으로써 공정 후 실시간으로 물성 측정이 가능해지며 최종적으로 미니어처 데이터 팩토리 가동 가능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644134" y="6093149"/>
            <a:ext cx="374441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dirty="0"/>
              <a:t>&lt;</a:t>
            </a:r>
            <a:r>
              <a:rPr lang="ko-KR" altLang="en-US" sz="1100" dirty="0"/>
              <a:t>미니어처 데이터 팩토리에서 데이터 생성 과정</a:t>
            </a:r>
            <a:r>
              <a:rPr lang="en-US" altLang="ko-KR" sz="1100" dirty="0"/>
              <a:t>&gt;</a:t>
            </a:r>
            <a:endParaRPr lang="ko-KR" altLang="en-US" sz="1100" dirty="0"/>
          </a:p>
        </p:txBody>
      </p:sp>
      <p:pic>
        <p:nvPicPr>
          <p:cNvPr id="30" name="그림 1">
            <a:extLst>
              <a:ext uri="{FF2B5EF4-FFF2-40B4-BE49-F238E27FC236}">
                <a16:creationId xmlns:a16="http://schemas.microsoft.com/office/drawing/2014/main" id="{3917D7B5-1193-B847-8F3A-F8DF20534721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44" t="5611" r="54101" b="21277"/>
          <a:stretch/>
        </p:blipFill>
        <p:spPr bwMode="auto">
          <a:xfrm>
            <a:off x="265524" y="4509200"/>
            <a:ext cx="2016001" cy="144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그림 3">
            <a:extLst>
              <a:ext uri="{FF2B5EF4-FFF2-40B4-BE49-F238E27FC236}">
                <a16:creationId xmlns:a16="http://schemas.microsoft.com/office/drawing/2014/main" id="{D57BDC86-AEE3-6442-928E-2F12965F8EF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0261" y="4509200"/>
            <a:ext cx="1920001" cy="1440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46045" y="4539894"/>
            <a:ext cx="1296144" cy="360040"/>
          </a:xfrm>
          <a:prstGeom prst="rect">
            <a:avLst/>
          </a:prstGeom>
          <a:solidFill>
            <a:srgbClr val="FFFFFF">
              <a:alpha val="60000"/>
            </a:srgbClr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용해</a:t>
            </a:r>
            <a:r>
              <a:rPr lang="en-US" altLang="ko-KR" sz="1600" b="1" dirty="0">
                <a:solidFill>
                  <a:schemeClr val="tx1"/>
                </a:solidFill>
              </a:rPr>
              <a:t>/</a:t>
            </a:r>
            <a:r>
              <a:rPr lang="ko-KR" altLang="en-US" sz="1600" b="1" dirty="0">
                <a:solidFill>
                  <a:schemeClr val="tx1"/>
                </a:solidFill>
              </a:rPr>
              <a:t>주조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62046" y="4539894"/>
            <a:ext cx="1296144" cy="360040"/>
          </a:xfrm>
          <a:prstGeom prst="rect">
            <a:avLst/>
          </a:prstGeom>
          <a:solidFill>
            <a:srgbClr val="FFFFFF">
              <a:alpha val="60000"/>
            </a:srgbClr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소재 공정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26445" y="4540084"/>
            <a:ext cx="1296144" cy="360040"/>
          </a:xfrm>
          <a:prstGeom prst="rect">
            <a:avLst/>
          </a:prstGeom>
          <a:solidFill>
            <a:srgbClr val="FFFFFF">
              <a:alpha val="60000"/>
            </a:srgbClr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시편 가공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61949" y="4534978"/>
            <a:ext cx="1152128" cy="360040"/>
          </a:xfrm>
          <a:prstGeom prst="rect">
            <a:avLst/>
          </a:prstGeom>
          <a:solidFill>
            <a:srgbClr val="FFFFFF">
              <a:alpha val="60000"/>
            </a:srgbClr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 dirty="0">
                <a:solidFill>
                  <a:schemeClr val="tx1"/>
                </a:solidFill>
              </a:rPr>
              <a:t>물성 평가</a:t>
            </a:r>
          </a:p>
        </p:txBody>
      </p:sp>
      <p:pic>
        <p:nvPicPr>
          <p:cNvPr id="36" name="그림 16" descr="테이블이(가) 표시된 사진&#10;&#10;자동 생성된 설명">
            <a:extLst>
              <a:ext uri="{FF2B5EF4-FFF2-40B4-BE49-F238E27FC236}">
                <a16:creationId xmlns:a16="http://schemas.microsoft.com/office/drawing/2014/main" id="{7284D5D0-B998-5246-A8ED-88EF5D7138A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6592" y="4635905"/>
            <a:ext cx="1246141" cy="1219318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7546845" y="4534978"/>
            <a:ext cx="1345635" cy="360040"/>
          </a:xfrm>
          <a:prstGeom prst="rect">
            <a:avLst/>
          </a:prstGeom>
          <a:solidFill>
            <a:srgbClr val="FFFFFF">
              <a:alpha val="60000"/>
            </a:srgbClr>
          </a:solidFill>
          <a:ln w="952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b="1">
                <a:solidFill>
                  <a:schemeClr val="tx1"/>
                </a:solidFill>
              </a:rPr>
              <a:t>데이터 축적</a:t>
            </a:r>
            <a:endParaRPr lang="ko-KR" altLang="en-US" sz="1600" b="1" dirty="0">
              <a:solidFill>
                <a:schemeClr val="tx1"/>
              </a:solidFill>
            </a:endParaRPr>
          </a:p>
        </p:txBody>
      </p:sp>
      <p:pic>
        <p:nvPicPr>
          <p:cNvPr id="32" name="그림 20"/>
          <p:cNvPicPr>
            <a:picLocks noChangeAspect="1"/>
          </p:cNvPicPr>
          <p:nvPr/>
        </p:nvPicPr>
        <p:blipFill rotWithShape="1">
          <a:blip r:embed="rId7"/>
          <a:srcRect b="50218"/>
          <a:stretch/>
        </p:blipFill>
        <p:spPr>
          <a:xfrm>
            <a:off x="274037" y="3962967"/>
            <a:ext cx="8484610" cy="496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365677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사업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</a:t>
            </a: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</a:t>
            </a:r>
            <a:r>
              <a:rPr lang="en-US" altLang="ko-KR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) </a:t>
            </a:r>
            <a:r>
              <a:rPr lang="ko-KR" altLang="en-US" sz="3600" b="1" kern="0" dirty="0" err="1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부합성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51520" y="718452"/>
            <a:ext cx="44710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kumimoji="1" lang="ko-KR" altLang="en-US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□</a:t>
            </a:r>
            <a:r>
              <a:rPr kumimoji="1" lang="ko-KR" altLang="ko-KR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 </a:t>
            </a:r>
            <a:r>
              <a:rPr lang="ko-KR" altLang="en-US" b="1" dirty="0">
                <a:solidFill>
                  <a:schemeClr val="bg1"/>
                </a:solidFill>
              </a:rPr>
              <a:t>연구시설･장비의 연구목적과의 부합성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395536" y="1148178"/>
            <a:ext cx="8280920" cy="487311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소재부품기술기반혁신사업 “금속소재 가상공학 플랫폼 구축“ 과제에서 중소</a:t>
            </a:r>
            <a:r>
              <a:rPr lang="en-US" altLang="ko-KR" sz="1400" b="1" dirty="0">
                <a:solidFill>
                  <a:schemeClr val="tx1"/>
                </a:solidFill>
              </a:rPr>
              <a:t>·</a:t>
            </a:r>
            <a:r>
              <a:rPr lang="ko-KR" altLang="en-US" sz="1400" b="1" dirty="0">
                <a:solidFill>
                  <a:schemeClr val="tx1"/>
                </a:solidFill>
              </a:rPr>
              <a:t>중견 기업 지원용 서비스 플랫폼 개발 추진체계</a:t>
            </a:r>
            <a:r>
              <a:rPr lang="en-US" altLang="ko-KR" sz="1400" b="1" dirty="0">
                <a:solidFill>
                  <a:schemeClr val="tx1"/>
                </a:solidFill>
              </a:rPr>
              <a:t>:</a:t>
            </a: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미니어처 데이터 팩토리 구축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시작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r>
              <a:rPr lang="en-US" altLang="ko-KR" sz="1400" dirty="0">
                <a:solidFill>
                  <a:schemeClr val="tx1"/>
                </a:solidFill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solidFill>
                  <a:schemeClr val="tx1"/>
                </a:solidFill>
              </a:rPr>
              <a:t>데이터 표준화</a:t>
            </a:r>
            <a:r>
              <a:rPr lang="en-US" altLang="ko-KR" sz="1400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ko-KR" altLang="en-US" sz="1400" b="1" dirty="0">
                <a:solidFill>
                  <a:schemeClr val="tx1"/>
                </a:solidFill>
              </a:rPr>
              <a:t>데이터베이스 구축</a:t>
            </a:r>
            <a:r>
              <a:rPr lang="en-US" altLang="ko-KR" sz="1400" dirty="0">
                <a:solidFill>
                  <a:schemeClr val="tx1"/>
                </a:solidFill>
                <a:sym typeface="Wingdings" panose="05000000000000000000" pitchFamily="2" charset="2"/>
              </a:rPr>
              <a:t></a:t>
            </a: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r>
              <a:rPr lang="ko-KR" altLang="en-US" sz="1400" dirty="0">
                <a:solidFill>
                  <a:schemeClr val="tx1"/>
                </a:solidFill>
              </a:rPr>
              <a:t>소재 설계 인공지능 모델 개발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공정 최적화 인공지능 플랫폼 기술 개발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lvl="1" fontAlgn="base">
              <a:lnSpc>
                <a:spcPct val="125000"/>
              </a:lnSpc>
            </a:pPr>
            <a:endParaRPr lang="en-US" altLang="ko-KR" sz="1400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미니어처 데이터 팩토리에서 다양한 공정 조건으로 제작된 소재의 물성을 분석할 장비 필요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과제 진행 및 향후 자동화를 위해 장기간 높은 가동률이 요구 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본 과제 예상 사용률 </a:t>
            </a:r>
            <a:r>
              <a:rPr lang="en-US" altLang="ko-KR" sz="1400" dirty="0">
                <a:solidFill>
                  <a:schemeClr val="tx1"/>
                </a:solidFill>
              </a:rPr>
              <a:t>: 70%) </a:t>
            </a:r>
          </a:p>
          <a:p>
            <a:pPr lvl="1" fontAlgn="base">
              <a:lnSpc>
                <a:spcPct val="125000"/>
              </a:lnSpc>
            </a:pPr>
            <a:endParaRPr lang="en-US" altLang="ko-KR" sz="1400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연구원 내 원내기술지원 및 소재 관련 연구사업 지원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연구원 내에서 이루어지는 소재 관련 과제에서 필수적으로 측정하는 물성분석에 대한 지원을 신속하게 대응하여 프로젝트 진행 효율성 증대 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타 과제 예상 사용률 </a:t>
            </a:r>
            <a:r>
              <a:rPr lang="en-US" altLang="ko-KR" sz="1400" dirty="0">
                <a:solidFill>
                  <a:schemeClr val="tx1"/>
                </a:solidFill>
              </a:rPr>
              <a:t>: 30%)</a:t>
            </a: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따라서 엑스선 회절 분석기는 소재부품기술기반혁신사업 사업 “금속소재 가상공학 플랫폼 구축” 과제의 진행과 향후 인공지능 모델 구축에 요구되는 빅데이터 생성에 필요한 장비이며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원내서비스 지원을 통한 소재관련 연구사업 지원에 필수적인 장비임</a:t>
            </a:r>
          </a:p>
        </p:txBody>
      </p:sp>
      <p:grpSp>
        <p:nvGrpSpPr>
          <p:cNvPr id="16" name="그룹 15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17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9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23" name="직사각형 22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24" name="직사각형 23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20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21" name="직사각형 20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22" name="직사각형 21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18" name="직사각형 17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7889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37705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국가전략적 필요성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249424" y="764704"/>
            <a:ext cx="856895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eaLnBrk="0" fontAlgn="base" latinLnBrk="0" hangingPunct="0">
              <a:spcBef>
                <a:spcPct val="0"/>
              </a:spcBef>
              <a:spcAft>
                <a:spcPct val="0"/>
              </a:spcAft>
            </a:pPr>
            <a:r>
              <a:rPr kumimoji="1" lang="ko-KR" altLang="en-US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□ 연구시설･장비의 국가적 필요성</a:t>
            </a:r>
            <a:r>
              <a:rPr kumimoji="1" lang="en-US" altLang="ko-KR" sz="1400" b="1" dirty="0">
                <a:solidFill>
                  <a:schemeClr val="bg1"/>
                </a:solidFill>
                <a:latin typeface="+mn-ea"/>
                <a:cs typeface="굴림" pitchFamily="50" charset="-127"/>
              </a:rPr>
              <a:t> 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8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0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14" name="직사각형 13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15" name="직사각형 14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11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12" name="직사각형 11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13" name="직사각형 12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9" name="직사각형 8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17" name="직사각형 6"/>
          <p:cNvSpPr/>
          <p:nvPr/>
        </p:nvSpPr>
        <p:spPr>
          <a:xfrm>
            <a:off x="395536" y="1148178"/>
            <a:ext cx="8280920" cy="451307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최근 수립된 정부 전략 및 비전을 통해 경제의 활력 제고 및 사회적 문제 해결을 위해 인공지능이 유력한 방안으로 부상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한국판 뉴딜</a:t>
            </a:r>
            <a:r>
              <a:rPr lang="en-US" altLang="ko-KR" sz="1400" dirty="0">
                <a:solidFill>
                  <a:schemeClr val="tx1"/>
                </a:solidFill>
              </a:rPr>
              <a:t>(‘20.5) </a:t>
            </a:r>
            <a:r>
              <a:rPr lang="ko-KR" altLang="en-US" sz="1400" dirty="0">
                <a:solidFill>
                  <a:schemeClr val="tx1"/>
                </a:solidFill>
              </a:rPr>
              <a:t>및 인공지능 국가전략</a:t>
            </a:r>
            <a:r>
              <a:rPr lang="en-US" altLang="ko-KR" sz="1400" dirty="0">
                <a:solidFill>
                  <a:schemeClr val="tx1"/>
                </a:solidFill>
              </a:rPr>
              <a:t>(‘19.12)</a:t>
            </a:r>
          </a:p>
          <a:p>
            <a:pPr fontAlgn="base">
              <a:lnSpc>
                <a:spcPct val="125000"/>
              </a:lnSpc>
            </a:pP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그러나 소재산업에서 인공지능 개발에 필요한 자원과 데이터 확보가 어려워 인공지능 인프라 확충에 난항을 겪고 있음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특히 데이터 기반 신소재 개발 가속화를 위해 소재 개발 과정의 전주기 데이터 축적이 필수</a:t>
            </a:r>
            <a:r>
              <a:rPr lang="en-US" altLang="ko-KR" sz="1400" dirty="0">
                <a:solidFill>
                  <a:schemeClr val="tx1"/>
                </a:solidFill>
              </a:rPr>
              <a:t> 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미니어처 데이터 팩토리 구축을 통해 이러한 문제점들을 극복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최종적으로 기업 지원이 가능한 인공지능 플랫폼 개발로 인공지능 인프라 확충을 기대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fontAlgn="base">
              <a:lnSpc>
                <a:spcPct val="125000"/>
              </a:lnSpc>
            </a:pP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또한 다음과 같은 정부 전략과 비전과 연계 가능</a:t>
            </a:r>
            <a:r>
              <a:rPr lang="en-US" altLang="ko-KR" sz="1400" b="1" dirty="0">
                <a:solidFill>
                  <a:schemeClr val="tx1"/>
                </a:solidFill>
              </a:rPr>
              <a:t>:</a:t>
            </a: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제조업 르네상스 비전 선포 </a:t>
            </a:r>
            <a:r>
              <a:rPr lang="en-US" altLang="ko-KR" sz="1400" dirty="0">
                <a:solidFill>
                  <a:schemeClr val="tx1"/>
                </a:solidFill>
              </a:rPr>
              <a:t>(‘19.6), </a:t>
            </a:r>
            <a:r>
              <a:rPr lang="ko-KR" altLang="en-US" sz="1400" dirty="0">
                <a:solidFill>
                  <a:schemeClr val="tx1"/>
                </a:solidFill>
              </a:rPr>
              <a:t>산업기술 </a:t>
            </a:r>
            <a:r>
              <a:rPr lang="en-US" altLang="ko-KR" sz="1400" dirty="0">
                <a:solidFill>
                  <a:schemeClr val="tx1"/>
                </a:solidFill>
              </a:rPr>
              <a:t>R&amp;BD </a:t>
            </a:r>
            <a:r>
              <a:rPr lang="ko-KR" altLang="en-US" sz="1400" dirty="0">
                <a:solidFill>
                  <a:schemeClr val="tx1"/>
                </a:solidFill>
              </a:rPr>
              <a:t>전략</a:t>
            </a:r>
            <a:r>
              <a:rPr lang="en-US" altLang="ko-KR" sz="1400" dirty="0">
                <a:solidFill>
                  <a:schemeClr val="tx1"/>
                </a:solidFill>
              </a:rPr>
              <a:t>(‘18.4), </a:t>
            </a:r>
            <a:r>
              <a:rPr lang="ko-KR" altLang="en-US" sz="1400" dirty="0">
                <a:solidFill>
                  <a:schemeClr val="tx1"/>
                </a:solidFill>
              </a:rPr>
              <a:t>새정부의 산업정책 방향</a:t>
            </a:r>
            <a:r>
              <a:rPr lang="en-US" altLang="ko-KR" sz="1400" dirty="0">
                <a:solidFill>
                  <a:schemeClr val="tx1"/>
                </a:solidFill>
              </a:rPr>
              <a:t>(‘17), </a:t>
            </a:r>
            <a:r>
              <a:rPr lang="ko-KR" altLang="en-US" sz="1400" dirty="0">
                <a:solidFill>
                  <a:schemeClr val="tx1"/>
                </a:solidFill>
              </a:rPr>
              <a:t>문정부 </a:t>
            </a:r>
            <a:r>
              <a:rPr lang="en-US" altLang="ko-KR" sz="1400" dirty="0">
                <a:solidFill>
                  <a:schemeClr val="tx1"/>
                </a:solidFill>
              </a:rPr>
              <a:t>100</a:t>
            </a:r>
            <a:r>
              <a:rPr lang="ko-KR" altLang="en-US" sz="1400" dirty="0">
                <a:solidFill>
                  <a:schemeClr val="tx1"/>
                </a:solidFill>
              </a:rPr>
              <a:t>대 국정과제</a:t>
            </a:r>
            <a:r>
              <a:rPr lang="en-US" altLang="ko-KR" sz="1400" dirty="0">
                <a:solidFill>
                  <a:schemeClr val="tx1"/>
                </a:solidFill>
              </a:rPr>
              <a:t>(‘17), 12</a:t>
            </a:r>
            <a:r>
              <a:rPr lang="ko-KR" altLang="en-US" sz="1400" dirty="0">
                <a:solidFill>
                  <a:schemeClr val="tx1"/>
                </a:solidFill>
              </a:rPr>
              <a:t>대 신산업 육성정략</a:t>
            </a:r>
            <a:r>
              <a:rPr lang="en-US" altLang="ko-KR" sz="1400" dirty="0">
                <a:solidFill>
                  <a:schemeClr val="tx1"/>
                </a:solidFill>
              </a:rPr>
              <a:t>(‘17), 2017 </a:t>
            </a:r>
            <a:r>
              <a:rPr lang="ko-KR" altLang="en-US" sz="1400" dirty="0">
                <a:solidFill>
                  <a:schemeClr val="tx1"/>
                </a:solidFill>
              </a:rPr>
              <a:t>소재부품 기술기반 혁신</a:t>
            </a:r>
            <a:r>
              <a:rPr lang="en-US" altLang="ko-KR" sz="1400" dirty="0">
                <a:solidFill>
                  <a:schemeClr val="tx1"/>
                </a:solidFill>
              </a:rPr>
              <a:t>(‘17), </a:t>
            </a:r>
            <a:r>
              <a:rPr lang="ko-KR" altLang="en-US" sz="1400" dirty="0">
                <a:solidFill>
                  <a:schemeClr val="tx1"/>
                </a:solidFill>
              </a:rPr>
              <a:t>제 </a:t>
            </a:r>
            <a:r>
              <a:rPr lang="en-US" altLang="ko-KR" sz="1400" dirty="0">
                <a:solidFill>
                  <a:schemeClr val="tx1"/>
                </a:solidFill>
              </a:rPr>
              <a:t>4</a:t>
            </a:r>
            <a:r>
              <a:rPr lang="ko-KR" altLang="en-US" sz="1400" dirty="0">
                <a:solidFill>
                  <a:schemeClr val="tx1"/>
                </a:solidFill>
              </a:rPr>
              <a:t>차 소재・부품 발전 기본계획</a:t>
            </a:r>
            <a:r>
              <a:rPr lang="en-US" altLang="ko-KR" sz="1400" dirty="0">
                <a:solidFill>
                  <a:schemeClr val="tx1"/>
                </a:solidFill>
              </a:rPr>
              <a:t>(‘16), </a:t>
            </a:r>
            <a:r>
              <a:rPr lang="ko-KR" altLang="en-US" sz="1400" dirty="0">
                <a:solidFill>
                  <a:schemeClr val="tx1"/>
                </a:solidFill>
              </a:rPr>
              <a:t>제조업 혁신 </a:t>
            </a:r>
            <a:r>
              <a:rPr lang="en-US" altLang="ko-KR" sz="1400" dirty="0">
                <a:solidFill>
                  <a:schemeClr val="tx1"/>
                </a:solidFill>
              </a:rPr>
              <a:t>3.0</a:t>
            </a:r>
            <a:r>
              <a:rPr lang="ko-KR" altLang="en-US" sz="1400" dirty="0">
                <a:solidFill>
                  <a:schemeClr val="tx1"/>
                </a:solidFill>
              </a:rPr>
              <a:t>전략</a:t>
            </a:r>
            <a:r>
              <a:rPr lang="en-US" altLang="ko-KR" sz="1400" dirty="0">
                <a:solidFill>
                  <a:schemeClr val="tx1"/>
                </a:solidFill>
              </a:rPr>
              <a:t>(‘15) [</a:t>
            </a:r>
            <a:r>
              <a:rPr lang="ko-KR" altLang="en-US" sz="1400" dirty="0">
                <a:solidFill>
                  <a:schemeClr val="tx1"/>
                </a:solidFill>
              </a:rPr>
              <a:t>별첨 </a:t>
            </a:r>
            <a:r>
              <a:rPr lang="en-US" altLang="ko-KR" sz="1400" dirty="0">
                <a:solidFill>
                  <a:schemeClr val="tx1"/>
                </a:solidFill>
              </a:rPr>
              <a:t>1]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37705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연구장비의 </a:t>
            </a:r>
            <a:r>
              <a:rPr lang="ko-KR" altLang="en-US" sz="3600" b="1" kern="0" dirty="0" err="1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중복성</a:t>
            </a:r>
            <a:endParaRPr lang="ko-KR" altLang="en-US" sz="28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33742" y="764704"/>
            <a:ext cx="792068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>
                <a:solidFill>
                  <a:schemeClr val="bg1"/>
                </a:solidFill>
              </a:rPr>
              <a:t>□ 구축 예정 장비의 </a:t>
            </a:r>
            <a:r>
              <a:rPr lang="en-US" altLang="ko-KR" b="1" dirty="0" err="1">
                <a:solidFill>
                  <a:schemeClr val="bg1"/>
                </a:solidFill>
              </a:rPr>
              <a:t>국내･외</a:t>
            </a:r>
            <a:r>
              <a:rPr lang="en-US" altLang="ko-KR" b="1" dirty="0">
                <a:solidFill>
                  <a:schemeClr val="bg1"/>
                </a:solidFill>
              </a:rPr>
              <a:t> </a:t>
            </a:r>
            <a:r>
              <a:rPr lang="en-US" altLang="ko-KR" b="1" dirty="0" err="1">
                <a:solidFill>
                  <a:schemeClr val="bg1"/>
                </a:solidFill>
              </a:rPr>
              <a:t>구축현황</a:t>
            </a:r>
            <a:endParaRPr lang="en-US" altLang="ko-KR" b="1" dirty="0">
              <a:solidFill>
                <a:schemeClr val="bg1"/>
              </a:solidFill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9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2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16" name="직사각형 15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17" name="직사각형 16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13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14" name="직사각형 13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15" name="직사각형 14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10" name="직사각형 9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pic>
        <p:nvPicPr>
          <p:cNvPr id="18" name="Picture 0">
            <a:extLst>
              <a:ext uri="{FF2B5EF4-FFF2-40B4-BE49-F238E27FC236}">
                <a16:creationId xmlns:a16="http://schemas.microsoft.com/office/drawing/2014/main" id="{1601B264-4C8B-4D99-AF5F-CA8BBA9071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/>
          </a:blip>
          <a:srcRect l="6194" t="4843" r="6191" b="6107"/>
          <a:stretch>
            <a:fillRect/>
          </a:stretch>
        </p:blipFill>
        <p:spPr>
          <a:xfrm>
            <a:off x="1522422" y="1135835"/>
            <a:ext cx="2977570" cy="428338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4A91489B-66ED-4407-9A27-5CD5C49DF1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/>
          </a:blip>
          <a:srcRect l="6073" t="6580" r="5835" b="4323"/>
          <a:stretch>
            <a:fillRect/>
          </a:stretch>
        </p:blipFill>
        <p:spPr>
          <a:xfrm>
            <a:off x="4644008" y="1134036"/>
            <a:ext cx="2977570" cy="4262420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56F32F9B-94D7-41EF-8260-29E40FBE3295}"/>
              </a:ext>
            </a:extLst>
          </p:cNvPr>
          <p:cNvSpPr/>
          <p:nvPr/>
        </p:nvSpPr>
        <p:spPr>
          <a:xfrm>
            <a:off x="611560" y="5437529"/>
            <a:ext cx="7920880" cy="103440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50000"/>
              </a:lnSpc>
              <a:buFont typeface="맑은 고딕" panose="020B0503020000020004" pitchFamily="50" charset="-127"/>
              <a:buChar char="○"/>
            </a:pPr>
            <a:r>
              <a:rPr lang="en-US" altLang="ko-KR" sz="1400" b="1" dirty="0">
                <a:solidFill>
                  <a:schemeClr val="tx1"/>
                </a:solidFill>
              </a:rPr>
              <a:t>NTIS </a:t>
            </a:r>
            <a:r>
              <a:rPr lang="ko-KR" altLang="en-US" sz="1400" b="1" dirty="0">
                <a:solidFill>
                  <a:schemeClr val="tx1"/>
                </a:solidFill>
              </a:rPr>
              <a:t>검토 결과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 err="1">
                <a:solidFill>
                  <a:schemeClr val="tx1"/>
                </a:solidFill>
              </a:rPr>
              <a:t>타지역</a:t>
            </a:r>
            <a:r>
              <a:rPr lang="ko-KR" altLang="en-US" sz="1400" b="1" dirty="0">
                <a:solidFill>
                  <a:schemeClr val="tx1"/>
                </a:solidFill>
              </a:rPr>
              <a:t> 및 인근 지역에 설치</a:t>
            </a:r>
            <a:r>
              <a:rPr lang="en-US" altLang="ko-KR" sz="1400" b="1" dirty="0">
                <a:solidFill>
                  <a:schemeClr val="tx1"/>
                </a:solidFill>
              </a:rPr>
              <a:t> </a:t>
            </a:r>
            <a:r>
              <a:rPr lang="ko-KR" altLang="en-US" sz="1400" b="1" dirty="0" err="1">
                <a:solidFill>
                  <a:schemeClr val="tx1"/>
                </a:solidFill>
              </a:rPr>
              <a:t>운영중이나</a:t>
            </a:r>
            <a:r>
              <a:rPr lang="ko-KR" altLang="en-US" sz="1400" b="1" dirty="0">
                <a:solidFill>
                  <a:schemeClr val="tx1"/>
                </a:solidFill>
              </a:rPr>
              <a:t> 사양차이가 있거나 거리가 멀고 자체 사용률이 높아 활용이 어려움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50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본 과제의 목적인 미니어처 데이터 </a:t>
            </a:r>
            <a:r>
              <a:rPr lang="ko-KR" altLang="en-US" sz="1400" b="1" dirty="0" err="1">
                <a:solidFill>
                  <a:schemeClr val="tx1"/>
                </a:solidFill>
              </a:rPr>
              <a:t>팩토리</a:t>
            </a:r>
            <a:r>
              <a:rPr lang="ko-KR" altLang="en-US" sz="1400" b="1" dirty="0">
                <a:solidFill>
                  <a:schemeClr val="tx1"/>
                </a:solidFill>
              </a:rPr>
              <a:t> 구축을 위해서는 엑스선 회절분석기 도입이 절실함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37705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연구장비의 </a:t>
            </a:r>
            <a:r>
              <a:rPr lang="ko-KR" altLang="en-US" sz="3600" b="1" kern="0" dirty="0" err="1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중복성</a:t>
            </a:r>
            <a:endParaRPr lang="ko-KR" altLang="en-US" sz="28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grpSp>
        <p:nvGrpSpPr>
          <p:cNvPr id="8" name="그룹 7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9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2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16" name="직사각형 15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17" name="직사각형 16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13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14" name="직사각형 13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15" name="직사각형 14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10" name="직사각형 9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6E1B9C7-F9E3-41EA-9E5E-50E077BAC7B9}"/>
              </a:ext>
            </a:extLst>
          </p:cNvPr>
          <p:cNvSpPr/>
          <p:nvPr/>
        </p:nvSpPr>
        <p:spPr>
          <a:xfrm>
            <a:off x="233742" y="1115452"/>
            <a:ext cx="85242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>
                <a:solidFill>
                  <a:schemeClr val="bg1"/>
                </a:solidFill>
              </a:rPr>
              <a:t>□ 기존 연구시설･장비와의 차별성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D738354-070F-44CC-92FD-8CD4BF18F8AD}"/>
              </a:ext>
            </a:extLst>
          </p:cNvPr>
          <p:cNvSpPr/>
          <p:nvPr/>
        </p:nvSpPr>
        <p:spPr>
          <a:xfrm>
            <a:off x="341736" y="1503368"/>
            <a:ext cx="8712460" cy="141228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50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본 장비를 기관에서 보유하고 있으나 기존 장비들은 노후화와 현재 </a:t>
            </a:r>
            <a:r>
              <a:rPr lang="en-US" altLang="ko-KR" sz="1400" b="1" dirty="0">
                <a:solidFill>
                  <a:schemeClr val="tx1"/>
                </a:solidFill>
              </a:rPr>
              <a:t>160%</a:t>
            </a:r>
            <a:r>
              <a:rPr lang="ko-KR" altLang="en-US" sz="1400" b="1" dirty="0">
                <a:solidFill>
                  <a:schemeClr val="tx1"/>
                </a:solidFill>
              </a:rPr>
              <a:t>가 넘는 </a:t>
            </a:r>
            <a:r>
              <a:rPr lang="ko-KR" altLang="en-US" sz="1400" b="1" dirty="0" err="1">
                <a:solidFill>
                  <a:schemeClr val="tx1"/>
                </a:solidFill>
              </a:rPr>
              <a:t>가동률로</a:t>
            </a:r>
            <a:r>
              <a:rPr lang="ko-KR" altLang="en-US" sz="1400" b="1" dirty="0">
                <a:solidFill>
                  <a:schemeClr val="tx1"/>
                </a:solidFill>
              </a:rPr>
              <a:t> 인해 장비의 피로도가 증가하고 있으며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이에 따른 잦은 고장과 수리 부품 단종 등의 문제 발생이 있음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50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해당 장비는 고분해능 </a:t>
            </a:r>
            <a:r>
              <a:rPr lang="en-US" altLang="ko-KR" sz="1400" b="1" dirty="0">
                <a:solidFill>
                  <a:schemeClr val="tx1"/>
                </a:solidFill>
              </a:rPr>
              <a:t>XRD </a:t>
            </a:r>
            <a:r>
              <a:rPr lang="ko-KR" altLang="en-US" sz="1400" b="1" dirty="0">
                <a:solidFill>
                  <a:schemeClr val="tx1"/>
                </a:solidFill>
              </a:rPr>
              <a:t>측정이 가능하며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고온 환경에서의 분석이 가능하기에 현재 보유한 장비와의 차별성이 있음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695D3D8D-04F4-4109-AC29-B7A107B6AE71}"/>
              </a:ext>
            </a:extLst>
          </p:cNvPr>
          <p:cNvGrpSpPr/>
          <p:nvPr/>
        </p:nvGrpSpPr>
        <p:grpSpPr>
          <a:xfrm>
            <a:off x="2098712" y="3140968"/>
            <a:ext cx="4572000" cy="2870158"/>
            <a:chOff x="2098712" y="3068960"/>
            <a:chExt cx="4572000" cy="2870158"/>
          </a:xfrm>
        </p:grpSpPr>
        <p:graphicFrame>
          <p:nvGraphicFramePr>
            <p:cNvPr id="20" name="Chart 1">
              <a:extLst>
                <a:ext uri="{FF2B5EF4-FFF2-40B4-BE49-F238E27FC236}">
                  <a16:creationId xmlns:a16="http://schemas.microsoft.com/office/drawing/2014/main" id="{964D0FE2-6233-4021-A9F5-7225567269E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319445372"/>
                </p:ext>
              </p:extLst>
            </p:nvPr>
          </p:nvGraphicFramePr>
          <p:xfrm>
            <a:off x="2098712" y="3068960"/>
            <a:ext cx="4572000" cy="274320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2"/>
            </a:graphicData>
          </a:graphic>
        </p:graphicFrame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D7D522F5-9788-4F6A-9981-9C9F0F066FDC}"/>
                </a:ext>
              </a:extLst>
            </p:cNvPr>
            <p:cNvSpPr/>
            <p:nvPr/>
          </p:nvSpPr>
          <p:spPr>
            <a:xfrm>
              <a:off x="3009976" y="5685202"/>
              <a:ext cx="2749471" cy="25391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1050" dirty="0"/>
                <a:t>*</a:t>
              </a:r>
              <a:r>
                <a:rPr lang="en-US" altLang="ko-KR" sz="1050" dirty="0"/>
                <a:t>2021</a:t>
              </a:r>
              <a:r>
                <a:rPr lang="ko-KR" altLang="en-US" sz="1050" dirty="0"/>
                <a:t>년 데이터는 </a:t>
              </a:r>
              <a:r>
                <a:rPr lang="en-US" altLang="ko-KR" sz="1050" dirty="0"/>
                <a:t>7</a:t>
              </a:r>
              <a:r>
                <a:rPr lang="ko-KR" altLang="en-US" sz="1050" dirty="0"/>
                <a:t>월 </a:t>
              </a:r>
              <a:r>
                <a:rPr lang="en-US" altLang="ko-KR" sz="1050" dirty="0"/>
                <a:t>31</a:t>
              </a:r>
              <a:r>
                <a:rPr lang="ko-KR" altLang="en-US" sz="1050" dirty="0"/>
                <a:t>일까지의 가동률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83905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37705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연구장비의 </a:t>
            </a:r>
            <a:r>
              <a:rPr lang="ko-KR" altLang="en-US" sz="3600" b="1" kern="0" dirty="0" err="1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활용성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56852" y="692696"/>
            <a:ext cx="83529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>
                <a:solidFill>
                  <a:schemeClr val="bg1"/>
                </a:solidFill>
              </a:rPr>
              <a:t>□ 연구시설･장비의 공동활용 계획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256852" y="3861048"/>
            <a:ext cx="83529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/>
              <a:t>□ 연구과제</a:t>
            </a:r>
            <a:r>
              <a:rPr lang="en-US" altLang="ko-KR" b="1" dirty="0"/>
              <a:t>(</a:t>
            </a:r>
            <a:r>
              <a:rPr lang="ko-KR" altLang="en-US" b="1" dirty="0"/>
              <a:t>사업</a:t>
            </a:r>
            <a:r>
              <a:rPr lang="en-US" altLang="ko-KR" b="1" dirty="0"/>
              <a:t>) </a:t>
            </a:r>
            <a:r>
              <a:rPr lang="ko-KR" altLang="en-US" b="1" dirty="0"/>
              <a:t>종료 후 활용계획</a:t>
            </a:r>
          </a:p>
        </p:txBody>
      </p:sp>
      <p:sp>
        <p:nvSpPr>
          <p:cNvPr id="19" name="직사각형 18"/>
          <p:cNvSpPr/>
          <p:nvPr/>
        </p:nvSpPr>
        <p:spPr>
          <a:xfrm>
            <a:off x="266398" y="1979548"/>
            <a:ext cx="85242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/>
              <a:t>□ 국내 연구시설･장비의 수요현황</a:t>
            </a:r>
          </a:p>
        </p:txBody>
      </p:sp>
      <p:grpSp>
        <p:nvGrpSpPr>
          <p:cNvPr id="23" name="그룹 22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24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26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30" name="직사각형 29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31" name="직사각형 30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27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28" name="직사각형 27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29" name="직사각형 28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25" name="직사각형 24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18" name="직사각형 6"/>
          <p:cNvSpPr/>
          <p:nvPr/>
        </p:nvSpPr>
        <p:spPr>
          <a:xfrm>
            <a:off x="377934" y="1117563"/>
            <a:ext cx="8154506" cy="72726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400" b="1" dirty="0">
                <a:solidFill>
                  <a:schemeClr val="tx1"/>
                </a:solidFill>
              </a:rPr>
              <a:t>[</a:t>
            </a:r>
            <a:r>
              <a:rPr lang="ko-KR" altLang="en-US" sz="1400" b="1" dirty="0">
                <a:solidFill>
                  <a:schemeClr val="tx1"/>
                </a:solidFill>
              </a:rPr>
              <a:t>재료연 내부</a:t>
            </a:r>
            <a:r>
              <a:rPr lang="en-US" altLang="ko-KR" sz="1400" b="1" dirty="0">
                <a:solidFill>
                  <a:schemeClr val="tx1"/>
                </a:solidFill>
              </a:rPr>
              <a:t>] </a:t>
            </a:r>
            <a:r>
              <a:rPr lang="ko-KR" altLang="en-US" sz="1400" b="1" dirty="0">
                <a:solidFill>
                  <a:schemeClr val="tx1"/>
                </a:solidFill>
              </a:rPr>
              <a:t>재료연 인트라넷 시험원내지원 시스템을 활용해 서비스 계획</a:t>
            </a:r>
            <a:r>
              <a:rPr lang="en-US" altLang="ko-KR" sz="1400" b="1" dirty="0">
                <a:solidFill>
                  <a:schemeClr val="tx1"/>
                </a:solidFill>
              </a:rPr>
              <a:t>(</a:t>
            </a:r>
            <a:r>
              <a:rPr lang="ko-KR" altLang="en-US" sz="1400" b="1" dirty="0">
                <a:solidFill>
                  <a:schemeClr val="tx1"/>
                </a:solidFill>
              </a:rPr>
              <a:t>공용장비 등록 후</a:t>
            </a:r>
            <a:r>
              <a:rPr lang="en-US" altLang="ko-KR" sz="1400" b="1" dirty="0">
                <a:solidFill>
                  <a:schemeClr val="tx1"/>
                </a:solidFill>
              </a:rPr>
              <a:t>)</a:t>
            </a: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400" b="1" dirty="0">
                <a:solidFill>
                  <a:schemeClr val="tx1"/>
                </a:solidFill>
              </a:rPr>
              <a:t>[</a:t>
            </a:r>
            <a:r>
              <a:rPr lang="ko-KR" altLang="en-US" sz="1400" b="1" dirty="0">
                <a:solidFill>
                  <a:schemeClr val="tx1"/>
                </a:solidFill>
              </a:rPr>
              <a:t>외부 공동활용</a:t>
            </a:r>
            <a:r>
              <a:rPr lang="en-US" altLang="ko-KR" sz="1400" b="1" dirty="0">
                <a:solidFill>
                  <a:schemeClr val="tx1"/>
                </a:solidFill>
              </a:rPr>
              <a:t>] </a:t>
            </a:r>
            <a:r>
              <a:rPr lang="ko-KR" altLang="en-US" sz="1400" b="1" dirty="0">
                <a:solidFill>
                  <a:schemeClr val="tx1"/>
                </a:solidFill>
              </a:rPr>
              <a:t>사업 종료 후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공동활용서비스를 통해 대외 분석 서비스를 제공할 계획</a:t>
            </a:r>
          </a:p>
        </p:txBody>
      </p:sp>
      <p:sp>
        <p:nvSpPr>
          <p:cNvPr id="21" name="직사각형 6"/>
          <p:cNvSpPr/>
          <p:nvPr/>
        </p:nvSpPr>
        <p:spPr>
          <a:xfrm>
            <a:off x="377934" y="2334120"/>
            <a:ext cx="4842138" cy="13829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조사대상</a:t>
            </a:r>
            <a:r>
              <a:rPr lang="en-US" altLang="ko-KR" sz="1400" b="1" dirty="0">
                <a:solidFill>
                  <a:schemeClr val="tx1"/>
                </a:solidFill>
              </a:rPr>
              <a:t>(21.7.26-30) : </a:t>
            </a:r>
            <a:r>
              <a:rPr lang="ko-KR" altLang="en-US" sz="1400" b="1" dirty="0">
                <a:solidFill>
                  <a:schemeClr val="tx1"/>
                </a:solidFill>
              </a:rPr>
              <a:t>연구원 내 </a:t>
            </a:r>
            <a:r>
              <a:rPr lang="en-US" altLang="ko-KR" sz="1400" b="1" dirty="0">
                <a:solidFill>
                  <a:schemeClr val="tx1"/>
                </a:solidFill>
              </a:rPr>
              <a:t>17</a:t>
            </a:r>
            <a:r>
              <a:rPr lang="ko-KR" altLang="en-US" sz="1400" b="1" dirty="0">
                <a:solidFill>
                  <a:schemeClr val="tx1"/>
                </a:solidFill>
              </a:rPr>
              <a:t>개 연구부서 대상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수요 핵심결과 </a:t>
            </a:r>
            <a:r>
              <a:rPr lang="en-US" altLang="ko-KR" sz="1400" b="1" dirty="0">
                <a:solidFill>
                  <a:schemeClr val="tx1"/>
                </a:solidFill>
              </a:rPr>
              <a:t>: </a:t>
            </a:r>
            <a:r>
              <a:rPr lang="ko-KR" altLang="en-US" sz="1400" b="1" dirty="0">
                <a:solidFill>
                  <a:schemeClr val="tx1"/>
                </a:solidFill>
              </a:rPr>
              <a:t>내부 최소수요 </a:t>
            </a:r>
            <a:r>
              <a:rPr lang="ko-KR" altLang="en-US" sz="1400" b="1" dirty="0">
                <a:solidFill>
                  <a:srgbClr val="FF0000"/>
                </a:solidFill>
              </a:rPr>
              <a:t>주당 </a:t>
            </a:r>
            <a:r>
              <a:rPr lang="en-US" altLang="ko-KR" sz="1400" b="1" dirty="0">
                <a:solidFill>
                  <a:srgbClr val="FF0000"/>
                </a:solidFill>
              </a:rPr>
              <a:t>39</a:t>
            </a:r>
            <a:r>
              <a:rPr lang="ko-KR" altLang="en-US" sz="1400" b="1" dirty="0">
                <a:solidFill>
                  <a:srgbClr val="FF0000"/>
                </a:solidFill>
              </a:rPr>
              <a:t>건</a:t>
            </a:r>
            <a:r>
              <a:rPr lang="ko-KR" altLang="en-US" sz="1400" b="1" dirty="0">
                <a:solidFill>
                  <a:schemeClr val="tx1"/>
                </a:solidFill>
              </a:rPr>
              <a:t>으로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가동률 </a:t>
            </a:r>
            <a:r>
              <a:rPr lang="ko-KR" altLang="en-US" sz="1400" b="1" dirty="0">
                <a:solidFill>
                  <a:srgbClr val="FF0000"/>
                </a:solidFill>
              </a:rPr>
              <a:t>최소 </a:t>
            </a:r>
            <a:r>
              <a:rPr lang="en-US" altLang="ko-KR" sz="1400" b="1" dirty="0">
                <a:solidFill>
                  <a:srgbClr val="FF0000"/>
                </a:solidFill>
              </a:rPr>
              <a:t>100% </a:t>
            </a:r>
            <a:r>
              <a:rPr lang="ko-KR" altLang="en-US" sz="1400" b="1" dirty="0">
                <a:solidFill>
                  <a:schemeClr val="tx1"/>
                </a:solidFill>
              </a:rPr>
              <a:t>예상 </a:t>
            </a:r>
            <a:r>
              <a:rPr lang="en-US" altLang="ko-KR" sz="1400" b="1" dirty="0">
                <a:solidFill>
                  <a:schemeClr val="tx1"/>
                </a:solidFill>
              </a:rPr>
              <a:t>(</a:t>
            </a:r>
            <a:r>
              <a:rPr lang="ko-KR" altLang="en-US" sz="1400" b="1" dirty="0">
                <a:solidFill>
                  <a:schemeClr val="tx1"/>
                </a:solidFill>
              </a:rPr>
              <a:t>기존 장비로 사용률 분산 고려하여 절반으로 나누어 계산한 결과</a:t>
            </a:r>
            <a:r>
              <a:rPr lang="en-US" altLang="ko-KR" sz="1400" b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22" name="직사각형 6"/>
          <p:cNvSpPr/>
          <p:nvPr/>
        </p:nvSpPr>
        <p:spPr>
          <a:xfrm>
            <a:off x="377934" y="4230380"/>
            <a:ext cx="6426314" cy="22214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공동활용서비스 지원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본 장비를 통해 구축된 데이터베이스와 인공지능 서비스 플랫폼 기술 역시 활용하여 사업 종료 이후에도 산업체 및 기관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학교의 지원 업무 지속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dirty="0">
                <a:solidFill>
                  <a:schemeClr val="tx1"/>
                </a:solidFill>
              </a:rPr>
              <a:t>새로운 소재에 대한 빅데이터 구축 및 인공지능 기술 개발 관련 사업 추진 및 데이터 생산 서비스와 인공지능 서비스 플랫폼을 통해 대</a:t>
            </a:r>
            <a:r>
              <a:rPr lang="en-US" altLang="ko-KR" sz="1400" dirty="0">
                <a:solidFill>
                  <a:schemeClr val="tx1"/>
                </a:solidFill>
              </a:rPr>
              <a:t>·</a:t>
            </a:r>
            <a:r>
              <a:rPr lang="ko-KR" altLang="en-US" sz="1400" dirty="0">
                <a:solidFill>
                  <a:schemeClr val="tx1"/>
                </a:solidFill>
              </a:rPr>
              <a:t>중</a:t>
            </a:r>
            <a:r>
              <a:rPr lang="en-US" altLang="ko-KR" sz="1400" dirty="0">
                <a:solidFill>
                  <a:schemeClr val="tx1"/>
                </a:solidFill>
              </a:rPr>
              <a:t>·</a:t>
            </a:r>
            <a:r>
              <a:rPr lang="ko-KR" altLang="en-US" sz="1400" dirty="0">
                <a:solidFill>
                  <a:schemeClr val="tx1"/>
                </a:solidFill>
              </a:rPr>
              <a:t>소기업 지원 업무 적극 수행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marL="285750" lvl="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prstClr val="black"/>
                </a:solidFill>
              </a:rPr>
              <a:t>본 장비는 금속분야</a:t>
            </a:r>
            <a:r>
              <a:rPr lang="en-US" altLang="ko-KR" sz="1400" b="1" dirty="0">
                <a:solidFill>
                  <a:prstClr val="black"/>
                </a:solidFill>
              </a:rPr>
              <a:t>, </a:t>
            </a:r>
            <a:r>
              <a:rPr lang="ko-KR" altLang="en-US" sz="1400" b="1" dirty="0">
                <a:solidFill>
                  <a:prstClr val="black"/>
                </a:solidFill>
              </a:rPr>
              <a:t>첨단 소재분야 등 소재 원천기술 활보를 위한 고품위 분석지원에 활용할 예정</a:t>
            </a:r>
            <a:endParaRPr lang="en-US" altLang="ko-KR" sz="1400" dirty="0">
              <a:solidFill>
                <a:schemeClr val="tx1"/>
              </a:solidFill>
            </a:endParaRPr>
          </a:p>
        </p:txBody>
      </p:sp>
      <p:pic>
        <p:nvPicPr>
          <p:cNvPr id="20" name="_x593620856" descr="EMB00006e14439b">
            <a:extLst>
              <a:ext uri="{FF2B5EF4-FFF2-40B4-BE49-F238E27FC236}">
                <a16:creationId xmlns:a16="http://schemas.microsoft.com/office/drawing/2014/main" id="{B72F5181-A890-44BF-AB85-BBFC2404A79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8302" b="53845"/>
          <a:stretch/>
        </p:blipFill>
        <p:spPr bwMode="auto">
          <a:xfrm>
            <a:off x="7094186" y="4696684"/>
            <a:ext cx="1744359" cy="12832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2" name="차트 31">
            <a:extLst>
              <a:ext uri="{FF2B5EF4-FFF2-40B4-BE49-F238E27FC236}">
                <a16:creationId xmlns:a16="http://schemas.microsoft.com/office/drawing/2014/main" id="{160EF0D9-9FE8-415F-BD01-6454564C4D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13213057"/>
              </p:ext>
            </p:extLst>
          </p:nvPr>
        </p:nvGraphicFramePr>
        <p:xfrm>
          <a:off x="5454827" y="2060848"/>
          <a:ext cx="3077613" cy="19442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37705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연구장비의 </a:t>
            </a:r>
            <a:r>
              <a:rPr lang="ko-KR" altLang="en-US" sz="3600" b="1" kern="0" dirty="0" err="1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활용성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256852" y="764704"/>
            <a:ext cx="83529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>
                <a:solidFill>
                  <a:schemeClr val="bg1"/>
                </a:solidFill>
              </a:rPr>
              <a:t>□ 엑스선 회절 분석기의 활용도 높은 내부 과제 </a:t>
            </a:r>
            <a:r>
              <a:rPr lang="en-US" altLang="ko-KR" b="1" dirty="0">
                <a:solidFill>
                  <a:schemeClr val="bg1"/>
                </a:solidFill>
              </a:rPr>
              <a:t>List</a:t>
            </a:r>
            <a:endParaRPr lang="ko-KR" altLang="en-US" b="1" dirty="0">
              <a:solidFill>
                <a:schemeClr val="bg1"/>
              </a:solidFill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5EF83660-7FF4-4E81-8C28-FC2AD67BC7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825101"/>
              </p:ext>
            </p:extLst>
          </p:nvPr>
        </p:nvGraphicFramePr>
        <p:xfrm>
          <a:off x="457200" y="1196752"/>
          <a:ext cx="8229601" cy="50262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50704">
                  <a:extLst>
                    <a:ext uri="{9D8B030D-6E8A-4147-A177-3AD203B41FA5}">
                      <a16:colId xmlns:a16="http://schemas.microsoft.com/office/drawing/2014/main" val="1041417385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4218201705"/>
                    </a:ext>
                  </a:extLst>
                </a:gridCol>
                <a:gridCol w="1320171">
                  <a:extLst>
                    <a:ext uri="{9D8B030D-6E8A-4147-A177-3AD203B41FA5}">
                      <a16:colId xmlns:a16="http://schemas.microsoft.com/office/drawing/2014/main" val="65489881"/>
                    </a:ext>
                  </a:extLst>
                </a:gridCol>
                <a:gridCol w="2650614">
                  <a:extLst>
                    <a:ext uri="{9D8B030D-6E8A-4147-A177-3AD203B41FA5}">
                      <a16:colId xmlns:a16="http://schemas.microsoft.com/office/drawing/2014/main" val="346048199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과제명</a:t>
                      </a:r>
                      <a:endParaRPr lang="ko-KR" altLang="en-US" sz="105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>
                    <a:solidFill>
                      <a:srgbClr val="4578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지원부처</a:t>
                      </a:r>
                      <a:endParaRPr lang="ko-KR" altLang="en-US" sz="105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>
                    <a:solidFill>
                      <a:srgbClr val="4578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수행기간</a:t>
                      </a:r>
                      <a:endParaRPr lang="ko-KR" altLang="en-US" sz="105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>
                    <a:solidFill>
                      <a:srgbClr val="4578B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5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과제 개요</a:t>
                      </a:r>
                      <a:endParaRPr lang="ko-KR" altLang="en-US" sz="1050" b="1" i="0" u="none" strike="noStrike" dirty="0">
                        <a:solidFill>
                          <a:schemeClr val="bg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>
                    <a:solidFill>
                      <a:srgbClr val="4578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8553697"/>
                  </a:ext>
                </a:extLst>
              </a:tr>
              <a:tr h="44559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 증기터빈 </a:t>
                      </a:r>
                      <a:r>
                        <a:rPr lang="ko-KR" altLang="en-US" sz="700" u="none" strike="noStrike" dirty="0" err="1">
                          <a:effectLst/>
                          <a:latin typeface="+mn-lt"/>
                        </a:rPr>
                        <a:t>로터블레이드용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630 </a:t>
                      </a:r>
                      <a:r>
                        <a:rPr lang="en-US" altLang="ko-KR" sz="700" u="none" strike="noStrike" dirty="0" err="1">
                          <a:effectLst/>
                          <a:latin typeface="+mn-lt"/>
                        </a:rPr>
                        <a:t>oC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급 </a:t>
                      </a:r>
                      <a:r>
                        <a:rPr lang="ko-KR" altLang="en-US" sz="700" u="none" strike="noStrike" dirty="0" err="1">
                          <a:effectLst/>
                          <a:latin typeface="+mn-lt"/>
                        </a:rPr>
                        <a:t>페라이트계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 내열강 및 부품 개발</a:t>
                      </a:r>
                      <a:endParaRPr lang="ko-KR" altLang="en-US" sz="700" b="0" i="0" u="none" strike="noStrike" dirty="0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산업통상자원부</a:t>
                      </a:r>
                      <a:endParaRPr lang="en-US" altLang="ko-KR" sz="700" u="none" strike="noStrike" dirty="0">
                        <a:effectLst/>
                        <a:latin typeface="+mn-lt"/>
                      </a:endParaRPr>
                    </a:p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(</a:t>
                      </a:r>
                      <a:r>
                        <a:rPr lang="ko-KR" altLang="en-US" sz="700" u="none" strike="noStrike" dirty="0" err="1">
                          <a:effectLst/>
                          <a:latin typeface="+mn-lt"/>
                        </a:rPr>
                        <a:t>소부장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 대응 과제</a:t>
                      </a:r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)</a:t>
                      </a:r>
                      <a:endParaRPr lang="en-US" altLang="ko-KR" sz="700" b="0" i="0" u="none" strike="noStrike" dirty="0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2020-04-01 ~ 2024-12-31</a:t>
                      </a:r>
                      <a:endParaRPr lang="en-US" altLang="ko-KR" sz="700" b="0" i="0" u="none" strike="noStrike" dirty="0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복합화력발전 효율 향상을 위한 고성능 </a:t>
                      </a:r>
                      <a:r>
                        <a:rPr lang="ko-KR" altLang="en-US" sz="700" u="none" strike="noStrike" dirty="0" err="1">
                          <a:effectLst/>
                          <a:latin typeface="+mn-lt"/>
                        </a:rPr>
                        <a:t>로터</a:t>
                      </a:r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/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블레이드 내열강 국산화 및 </a:t>
                      </a:r>
                      <a:r>
                        <a:rPr lang="ko-KR" altLang="en-US" sz="700" u="none" strike="noStrike" dirty="0" err="1">
                          <a:effectLst/>
                          <a:latin typeface="+mn-lt"/>
                        </a:rPr>
                        <a:t>신합금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 개발</a:t>
                      </a:r>
                      <a:endParaRPr lang="ko-KR" altLang="en-US" sz="700" b="0" i="0" u="none" strike="noStrike" dirty="0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extLst>
                  <a:ext uri="{0D108BD9-81ED-4DB2-BD59-A6C34878D82A}">
                    <a16:rowId xmlns:a16="http://schemas.microsoft.com/office/drawing/2014/main" val="3207838565"/>
                  </a:ext>
                </a:extLst>
              </a:tr>
              <a:tr h="291939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 HRSG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용 </a:t>
                      </a:r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650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도급 </a:t>
                      </a:r>
                      <a:r>
                        <a:rPr lang="ko-KR" altLang="en-US" sz="700" u="none" strike="noStrike" dirty="0" err="1">
                          <a:effectLst/>
                          <a:latin typeface="+mn-lt"/>
                        </a:rPr>
                        <a:t>오스테나이트계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 내열강 소재부품 개발</a:t>
                      </a:r>
                      <a:endParaRPr lang="ko-KR" altLang="en-US" sz="700" b="0" i="0" u="none" strike="noStrike" dirty="0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산업통상자원부</a:t>
                      </a:r>
                      <a:endParaRPr lang="en-US" altLang="ko-KR" sz="700" u="none" strike="noStrike" dirty="0">
                        <a:effectLst/>
                        <a:latin typeface="+mn-lt"/>
                      </a:endParaRPr>
                    </a:p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(</a:t>
                      </a:r>
                      <a:r>
                        <a:rPr lang="ko-KR" altLang="en-US" sz="700" u="none" strike="noStrike" dirty="0" err="1">
                          <a:effectLst/>
                          <a:latin typeface="+mn-lt"/>
                        </a:rPr>
                        <a:t>소부장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 대응 과제</a:t>
                      </a:r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)</a:t>
                      </a:r>
                      <a:endParaRPr lang="en-US" altLang="ko-KR" sz="700" b="0" i="0" u="none" strike="noStrike" dirty="0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>
                          <a:effectLst/>
                          <a:latin typeface="+mn-lt"/>
                        </a:rPr>
                        <a:t>2020-04-01 ~ 2024-12-31</a:t>
                      </a:r>
                      <a:endParaRPr lang="en-US" altLang="ko-KR" sz="700" b="0" i="0" u="none" strike="noStrike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  <a:latin typeface="+mn-lt"/>
                        </a:rPr>
                        <a:t>복합화력발전 효율 향상을 위한 </a:t>
                      </a:r>
                      <a:r>
                        <a:rPr lang="en-US" altLang="ko-KR" sz="700" u="none" strike="noStrike">
                          <a:effectLst/>
                          <a:latin typeface="+mn-lt"/>
                        </a:rPr>
                        <a:t>HRSG </a:t>
                      </a:r>
                      <a:r>
                        <a:rPr lang="ko-KR" altLang="en-US" sz="700" u="none" strike="noStrike">
                          <a:effectLst/>
                          <a:latin typeface="+mn-lt"/>
                        </a:rPr>
                        <a:t>보일러용 신합금 개발</a:t>
                      </a:r>
                      <a:endParaRPr lang="ko-KR" altLang="en-US" sz="700" b="0" i="0" u="none" strike="noStrike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extLst>
                  <a:ext uri="{0D108BD9-81ED-4DB2-BD59-A6C34878D82A}">
                    <a16:rowId xmlns:a16="http://schemas.microsoft.com/office/drawing/2014/main" val="2074408704"/>
                  </a:ext>
                </a:extLst>
              </a:tr>
              <a:tr h="43790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700" u="none" strike="noStrike" dirty="0" err="1">
                          <a:effectLst/>
                          <a:latin typeface="+mn-lt"/>
                        </a:rPr>
                        <a:t>심해용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 저온인성 및 건축용 </a:t>
                      </a:r>
                      <a:r>
                        <a:rPr lang="ko-KR" altLang="en-US" sz="700" u="none" strike="noStrike" dirty="0" err="1">
                          <a:effectLst/>
                          <a:latin typeface="+mn-lt"/>
                        </a:rPr>
                        <a:t>저항복비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700" u="none" strike="noStrike" dirty="0" err="1">
                          <a:effectLst/>
                          <a:latin typeface="+mn-lt"/>
                        </a:rPr>
                        <a:t>특수형강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 개발</a:t>
                      </a:r>
                      <a:endParaRPr lang="ko-KR" altLang="en-US" sz="700" b="0" i="0" u="none" strike="noStrike" dirty="0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산업통상자원부</a:t>
                      </a:r>
                      <a:endParaRPr lang="en-US" altLang="ko-KR" sz="700" u="none" strike="noStrike" dirty="0">
                        <a:effectLst/>
                        <a:latin typeface="+mn-lt"/>
                      </a:endParaRPr>
                    </a:p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(</a:t>
                      </a:r>
                      <a:r>
                        <a:rPr lang="ko-KR" altLang="en-US" sz="700" u="none" strike="noStrike" dirty="0" err="1">
                          <a:effectLst/>
                          <a:latin typeface="+mn-lt"/>
                        </a:rPr>
                        <a:t>소부장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 대응 과제</a:t>
                      </a:r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)</a:t>
                      </a:r>
                      <a:endParaRPr lang="en-US" altLang="ko-KR" sz="700" b="0" i="0" u="none" strike="noStrike" dirty="0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>
                          <a:effectLst/>
                          <a:latin typeface="+mn-lt"/>
                        </a:rPr>
                        <a:t>2020-04-01 ~ 2024-12-31</a:t>
                      </a:r>
                      <a:endParaRPr lang="en-US" altLang="ko-KR" sz="700" b="0" i="0" u="none" strike="noStrike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  <a:latin typeface="+mn-lt"/>
                        </a:rPr>
                        <a:t>해양구조용 저온인성 보증 </a:t>
                      </a:r>
                      <a:r>
                        <a:rPr lang="en-US" altLang="ko-KR" sz="700" u="none" strike="noStrike">
                          <a:effectLst/>
                          <a:latin typeface="+mn-lt"/>
                        </a:rPr>
                        <a:t>H</a:t>
                      </a:r>
                      <a:r>
                        <a:rPr lang="ko-KR" altLang="en-US" sz="700" u="none" strike="noStrike">
                          <a:effectLst/>
                          <a:latin typeface="+mn-lt"/>
                        </a:rPr>
                        <a:t>형강</a:t>
                      </a:r>
                      <a:r>
                        <a:rPr lang="en-US" altLang="ko-KR" sz="700" u="none" strike="noStrike">
                          <a:effectLst/>
                          <a:latin typeface="+mn-lt"/>
                        </a:rPr>
                        <a:t>, </a:t>
                      </a:r>
                      <a:r>
                        <a:rPr lang="ko-KR" altLang="en-US" sz="700" u="none" strike="noStrike">
                          <a:effectLst/>
                          <a:latin typeface="+mn-lt"/>
                        </a:rPr>
                        <a:t>반복화재</a:t>
                      </a:r>
                      <a:r>
                        <a:rPr lang="en-US" altLang="ko-KR" sz="700" u="none" strike="noStrike">
                          <a:effectLst/>
                          <a:latin typeface="+mn-lt"/>
                        </a:rPr>
                        <a:t>/</a:t>
                      </a:r>
                      <a:r>
                        <a:rPr lang="ko-KR" altLang="en-US" sz="700" u="none" strike="noStrike">
                          <a:effectLst/>
                          <a:latin typeface="+mn-lt"/>
                        </a:rPr>
                        <a:t>지진에 대한 피로저항성이 우수한 건축용 고강도 내화</a:t>
                      </a:r>
                      <a:r>
                        <a:rPr lang="en-US" altLang="ko-KR" sz="700" u="none" strike="noStrike">
                          <a:effectLst/>
                          <a:latin typeface="+mn-lt"/>
                        </a:rPr>
                        <a:t>/</a:t>
                      </a:r>
                      <a:r>
                        <a:rPr lang="ko-KR" altLang="en-US" sz="700" u="none" strike="noStrike">
                          <a:effectLst/>
                          <a:latin typeface="+mn-lt"/>
                        </a:rPr>
                        <a:t>내진 </a:t>
                      </a:r>
                      <a:r>
                        <a:rPr lang="en-US" altLang="ko-KR" sz="700" u="none" strike="noStrike">
                          <a:effectLst/>
                          <a:latin typeface="+mn-lt"/>
                        </a:rPr>
                        <a:t>H</a:t>
                      </a:r>
                      <a:r>
                        <a:rPr lang="ko-KR" altLang="en-US" sz="700" u="none" strike="noStrike">
                          <a:effectLst/>
                          <a:latin typeface="+mn-lt"/>
                        </a:rPr>
                        <a:t>형강 개발</a:t>
                      </a:r>
                      <a:endParaRPr lang="ko-KR" altLang="en-US" sz="700" b="0" i="0" u="none" strike="noStrike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extLst>
                  <a:ext uri="{0D108BD9-81ED-4DB2-BD59-A6C34878D82A}">
                    <a16:rowId xmlns:a16="http://schemas.microsoft.com/office/drawing/2014/main" val="2417074556"/>
                  </a:ext>
                </a:extLst>
              </a:tr>
              <a:tr h="291939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 -45℃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보증 극저온 </a:t>
                      </a:r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HIC </a:t>
                      </a:r>
                      <a:r>
                        <a:rPr lang="ko-KR" altLang="en-US" sz="700" u="none" strike="noStrike" dirty="0" err="1">
                          <a:effectLst/>
                          <a:latin typeface="+mn-lt"/>
                        </a:rPr>
                        <a:t>내부식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 특성 우수한 오일</a:t>
                      </a:r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/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가스 채굴 및 수송용 </a:t>
                      </a:r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ERW 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강과</a:t>
                      </a:r>
                      <a:endParaRPr lang="en-US" altLang="ko-KR" sz="700" u="none" strike="noStrike" dirty="0">
                        <a:effectLst/>
                        <a:latin typeface="+mn-lt"/>
                      </a:endParaRPr>
                    </a:p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제조기술 개발</a:t>
                      </a:r>
                      <a:endParaRPr lang="ko-KR" altLang="en-US" sz="700" b="0" i="0" u="none" strike="noStrike" dirty="0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산업통상자원부</a:t>
                      </a:r>
                      <a:endParaRPr lang="en-US" altLang="ko-KR" sz="700" u="none" strike="noStrike" dirty="0">
                        <a:effectLst/>
                        <a:latin typeface="+mn-lt"/>
                      </a:endParaRPr>
                    </a:p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(</a:t>
                      </a:r>
                      <a:r>
                        <a:rPr lang="ko-KR" altLang="en-US" sz="700" u="none" strike="noStrike" dirty="0" err="1">
                          <a:effectLst/>
                          <a:latin typeface="+mn-lt"/>
                        </a:rPr>
                        <a:t>소부장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 대응 과제</a:t>
                      </a:r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)</a:t>
                      </a:r>
                      <a:endParaRPr lang="en-US" altLang="ko-KR" sz="700" b="0" i="0" u="none" strike="noStrike" dirty="0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>
                          <a:effectLst/>
                          <a:latin typeface="+mn-lt"/>
                        </a:rPr>
                        <a:t>2021-04-01 ~ 2024-12-31</a:t>
                      </a:r>
                      <a:endParaRPr lang="en-US" altLang="ko-KR" sz="700" b="0" i="0" u="none" strike="noStrike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극저온 오일</a:t>
                      </a:r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/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가스 채굴 및 수송강관 제조기술 개발</a:t>
                      </a:r>
                      <a:endParaRPr lang="ko-KR" altLang="en-US" sz="700" b="0" i="0" u="none" strike="noStrike" dirty="0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extLst>
                  <a:ext uri="{0D108BD9-81ED-4DB2-BD59-A6C34878D82A}">
                    <a16:rowId xmlns:a16="http://schemas.microsoft.com/office/drawing/2014/main" val="2344621154"/>
                  </a:ext>
                </a:extLst>
              </a:tr>
              <a:tr h="29193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 조사저항성 및 </a:t>
                      </a:r>
                      <a:r>
                        <a:rPr lang="ko-KR" altLang="en-US" sz="700" u="none" strike="noStrike" dirty="0" err="1">
                          <a:effectLst/>
                          <a:latin typeface="+mn-lt"/>
                        </a:rPr>
                        <a:t>크리프특성이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 우수한 핵융합로 구조용 </a:t>
                      </a:r>
                      <a:r>
                        <a:rPr lang="ko-KR" altLang="en-US" sz="700" u="none" strike="noStrike" dirty="0" err="1">
                          <a:effectLst/>
                          <a:latin typeface="+mn-lt"/>
                        </a:rPr>
                        <a:t>저방사화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 철강소재 개발</a:t>
                      </a:r>
                      <a:endParaRPr lang="ko-KR" altLang="en-US" sz="700" b="0" i="0" u="none" strike="noStrike" dirty="0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과학기술정보통신부</a:t>
                      </a:r>
                      <a:endParaRPr lang="en-US" altLang="ko-KR" sz="700" u="none" strike="noStrike" dirty="0">
                        <a:effectLst/>
                        <a:latin typeface="+mn-lt"/>
                      </a:endParaRPr>
                    </a:p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(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주요사업</a:t>
                      </a:r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)</a:t>
                      </a:r>
                      <a:endParaRPr lang="en-US" altLang="ko-KR" sz="700" b="0" i="0" u="none" strike="noStrike" dirty="0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>
                          <a:effectLst/>
                          <a:latin typeface="+mn-lt"/>
                        </a:rPr>
                        <a:t>2019-04-01 ~ 2021-12-31</a:t>
                      </a:r>
                      <a:endParaRPr lang="en-US" altLang="ko-KR" sz="700" b="0" i="0" u="none" strike="noStrike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  <a:latin typeface="+mn-lt"/>
                        </a:rPr>
                        <a:t>핵융합로 구조 소재용 저방사화강 개발</a:t>
                      </a:r>
                      <a:endParaRPr lang="ko-KR" altLang="en-US" sz="700" b="0" i="0" u="none" strike="noStrike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extLst>
                  <a:ext uri="{0D108BD9-81ED-4DB2-BD59-A6C34878D82A}">
                    <a16:rowId xmlns:a16="http://schemas.microsoft.com/office/drawing/2014/main" val="2660584816"/>
                  </a:ext>
                </a:extLst>
              </a:tr>
              <a:tr h="291939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700" u="none" strike="noStrike" dirty="0" err="1">
                          <a:effectLst/>
                          <a:latin typeface="+mn-lt"/>
                        </a:rPr>
                        <a:t>나노클러스터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 제어기반 </a:t>
                      </a:r>
                      <a:r>
                        <a:rPr lang="ko-KR" altLang="en-US" sz="700" u="none" strike="noStrike" dirty="0" err="1">
                          <a:effectLst/>
                          <a:latin typeface="+mn-lt"/>
                        </a:rPr>
                        <a:t>열환경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 특성지속형 알루미늄 소재기술 개발</a:t>
                      </a:r>
                      <a:endParaRPr lang="ko-KR" altLang="en-US" sz="700" b="0" i="0" u="none" strike="noStrike" dirty="0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과학기술정보통신부</a:t>
                      </a:r>
                      <a:endParaRPr lang="en-US" altLang="ko-KR" sz="700" u="none" strike="noStrike" dirty="0">
                        <a:effectLst/>
                        <a:latin typeface="+mn-lt"/>
                      </a:endParaRPr>
                    </a:p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(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주요사업</a:t>
                      </a:r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)</a:t>
                      </a:r>
                      <a:endParaRPr lang="en-US" altLang="ko-KR" sz="700" b="0" i="0" u="none" strike="noStrike" dirty="0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>
                          <a:effectLst/>
                          <a:latin typeface="+mn-lt"/>
                        </a:rPr>
                        <a:t>2021-01-01 ~ 2023-12-31 </a:t>
                      </a:r>
                      <a:endParaRPr lang="en-US" altLang="ko-KR" sz="700" b="0" i="0" u="none" strike="noStrike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  <a:latin typeface="+mn-lt"/>
                        </a:rPr>
                        <a:t>강도와 열연화특성이 우수한 알루미늄 합금 개발</a:t>
                      </a:r>
                      <a:endParaRPr lang="ko-KR" altLang="en-US" sz="700" b="0" i="0" u="none" strike="noStrike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extLst>
                  <a:ext uri="{0D108BD9-81ED-4DB2-BD59-A6C34878D82A}">
                    <a16:rowId xmlns:a16="http://schemas.microsoft.com/office/drawing/2014/main" val="2856769066"/>
                  </a:ext>
                </a:extLst>
              </a:tr>
              <a:tr h="283080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 알루미늄 소재의 </a:t>
                      </a:r>
                      <a:r>
                        <a:rPr lang="ko-KR" altLang="en-US" sz="700" u="none" strike="noStrike" dirty="0" err="1">
                          <a:effectLst/>
                          <a:latin typeface="+mn-lt"/>
                        </a:rPr>
                        <a:t>나노구조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 분석 및 물성 해석 기술</a:t>
                      </a:r>
                      <a:endParaRPr lang="ko-KR" altLang="en-US" sz="700" b="0" i="0" u="none" strike="noStrike" dirty="0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과학기술정보통신부</a:t>
                      </a:r>
                      <a:endParaRPr lang="en-US" altLang="ko-KR" sz="700" u="none" strike="noStrike" dirty="0">
                        <a:effectLst/>
                        <a:latin typeface="+mn-lt"/>
                      </a:endParaRPr>
                    </a:p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(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주요사업</a:t>
                      </a:r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)</a:t>
                      </a:r>
                      <a:endParaRPr lang="en-US" altLang="ko-KR" sz="700" b="0" i="0" u="none" strike="noStrike" dirty="0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2021-04-01 ~ 2023-12-31 </a:t>
                      </a:r>
                      <a:endParaRPr lang="en-US" altLang="ko-KR" sz="700" b="0" i="0" u="none" strike="noStrike" dirty="0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  <a:latin typeface="+mn-lt"/>
                        </a:rPr>
                        <a:t>알루미늄 나노구조 제어를 통한 고강도 알루미늄 합금 개발</a:t>
                      </a:r>
                      <a:endParaRPr lang="ko-KR" altLang="en-US" sz="700" b="0" i="0" u="none" strike="noStrike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extLst>
                  <a:ext uri="{0D108BD9-81ED-4DB2-BD59-A6C34878D82A}">
                    <a16:rowId xmlns:a16="http://schemas.microsoft.com/office/drawing/2014/main" val="2538616444"/>
                  </a:ext>
                </a:extLst>
              </a:tr>
              <a:tr h="33803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 대용량 고전압 </a:t>
                      </a:r>
                      <a:r>
                        <a:rPr lang="ko-KR" altLang="en-US" sz="700" u="none" strike="noStrike" dirty="0" err="1">
                          <a:effectLst/>
                          <a:latin typeface="+mn-lt"/>
                        </a:rPr>
                        <a:t>제너레이터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 전장 </a:t>
                      </a:r>
                      <a:r>
                        <a:rPr lang="ko-KR" altLang="en-US" sz="700" u="none" strike="noStrike" dirty="0" err="1">
                          <a:effectLst/>
                          <a:latin typeface="+mn-lt"/>
                        </a:rPr>
                        <a:t>쉴드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 경량금속 핵심소재기술 개발</a:t>
                      </a:r>
                      <a:endParaRPr lang="ko-KR" altLang="en-US" sz="700" b="0" i="0" u="none" strike="noStrike" dirty="0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>
                          <a:effectLst/>
                          <a:latin typeface="+mn-lt"/>
                        </a:rPr>
                        <a:t> 과학기술정보통신부</a:t>
                      </a:r>
                      <a:endParaRPr lang="ko-KR" altLang="en-US" sz="700" b="0" i="0" u="none" strike="noStrike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2020-08-24 ~ 2024-12-31</a:t>
                      </a:r>
                      <a:endParaRPr lang="en-US" altLang="ko-KR" sz="700" b="0" i="0" u="none" strike="noStrike" dirty="0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  <a:latin typeface="+mn-lt"/>
                        </a:rPr>
                        <a:t>강도와 전도성이 우수한 전장부품용 알루미늄 합금 개발</a:t>
                      </a:r>
                      <a:endParaRPr lang="ko-KR" altLang="en-US" sz="700" b="0" i="0" u="none" strike="noStrike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extLst>
                  <a:ext uri="{0D108BD9-81ED-4DB2-BD59-A6C34878D82A}">
                    <a16:rowId xmlns:a16="http://schemas.microsoft.com/office/drawing/2014/main" val="915011798"/>
                  </a:ext>
                </a:extLst>
              </a:tr>
              <a:tr h="338035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 한계물성 극복을 위한 </a:t>
                      </a:r>
                      <a:r>
                        <a:rPr lang="en-US" altLang="ko-KR" sz="700" u="none" strike="noStrike" dirty="0" err="1">
                          <a:effectLst/>
                          <a:latin typeface="+mn-lt"/>
                        </a:rPr>
                        <a:t>TiAl</a:t>
                      </a:r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합금의 일방향응고 </a:t>
                      </a:r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3D 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프린팅 기술 개발</a:t>
                      </a:r>
                      <a:endParaRPr lang="ko-KR" altLang="en-US" sz="700" b="0" i="0" u="none" strike="noStrike" dirty="0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>
                          <a:effectLst/>
                          <a:latin typeface="+mn-lt"/>
                        </a:rPr>
                        <a:t> 과학기술정보통신부</a:t>
                      </a:r>
                      <a:endParaRPr lang="ko-KR" altLang="en-US" sz="700" b="0" i="0" u="none" strike="noStrike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2021-03-01 ~ 2026-02-28</a:t>
                      </a:r>
                      <a:endParaRPr lang="en-US" altLang="ko-KR" sz="700" b="0" i="0" u="none" strike="noStrike" dirty="0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  <a:latin typeface="+mn-lt"/>
                        </a:rPr>
                        <a:t>기존 </a:t>
                      </a:r>
                      <a:r>
                        <a:rPr lang="en-US" altLang="ko-KR" sz="700" u="none" strike="noStrike">
                          <a:effectLst/>
                          <a:latin typeface="+mn-lt"/>
                        </a:rPr>
                        <a:t>TiAl </a:t>
                      </a:r>
                      <a:r>
                        <a:rPr lang="ko-KR" altLang="en-US" sz="700" u="none" strike="noStrike">
                          <a:effectLst/>
                          <a:latin typeface="+mn-lt"/>
                        </a:rPr>
                        <a:t>합금의 한계물성을 뛰어넘는 신 </a:t>
                      </a:r>
                      <a:r>
                        <a:rPr lang="en-US" altLang="ko-KR" sz="700" u="none" strike="noStrike">
                          <a:effectLst/>
                          <a:latin typeface="+mn-lt"/>
                        </a:rPr>
                        <a:t>TiAl </a:t>
                      </a:r>
                      <a:r>
                        <a:rPr lang="ko-KR" altLang="en-US" sz="700" u="none" strike="noStrike">
                          <a:effectLst/>
                          <a:latin typeface="+mn-lt"/>
                        </a:rPr>
                        <a:t>합금의 </a:t>
                      </a:r>
                      <a:r>
                        <a:rPr lang="en-US" altLang="ko-KR" sz="700" u="none" strike="noStrike">
                          <a:effectLst/>
                          <a:latin typeface="+mn-lt"/>
                        </a:rPr>
                        <a:t>3D </a:t>
                      </a:r>
                      <a:r>
                        <a:rPr lang="ko-KR" altLang="en-US" sz="700" u="none" strike="noStrike">
                          <a:effectLst/>
                          <a:latin typeface="+mn-lt"/>
                        </a:rPr>
                        <a:t>프린팅 적층기술 개발</a:t>
                      </a:r>
                      <a:endParaRPr lang="ko-KR" altLang="en-US" sz="700" b="0" i="0" u="none" strike="noStrike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extLst>
                  <a:ext uri="{0D108BD9-81ED-4DB2-BD59-A6C34878D82A}">
                    <a16:rowId xmlns:a16="http://schemas.microsoft.com/office/drawing/2014/main" val="3910821363"/>
                  </a:ext>
                </a:extLst>
              </a:tr>
              <a:tr h="437908"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 생산중량 </a:t>
                      </a:r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30kg </a:t>
                      </a:r>
                      <a:r>
                        <a:rPr lang="ko-KR" altLang="en-US" sz="700" u="none" strike="noStrike" dirty="0" err="1">
                          <a:effectLst/>
                          <a:latin typeface="+mn-lt"/>
                        </a:rPr>
                        <a:t>이상급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 생체의료용 </a:t>
                      </a:r>
                      <a:r>
                        <a:rPr lang="ko-KR" altLang="en-US" sz="700" u="none" strike="noStrike" dirty="0" err="1">
                          <a:effectLst/>
                          <a:latin typeface="+mn-lt"/>
                        </a:rPr>
                        <a:t>초탄성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altLang="ko-KR" sz="700" u="none" strike="noStrike" dirty="0" err="1">
                          <a:effectLst/>
                          <a:latin typeface="+mn-lt"/>
                        </a:rPr>
                        <a:t>Ti</a:t>
                      </a:r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합금 봉재 및 응용부품 개발</a:t>
                      </a:r>
                      <a:endParaRPr lang="ko-KR" altLang="en-US" sz="700" b="0" i="0" u="none" strike="noStrike" dirty="0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산업통상자원부</a:t>
                      </a:r>
                      <a:endParaRPr lang="en-US" altLang="ko-KR" sz="700" u="none" strike="noStrike" dirty="0">
                        <a:effectLst/>
                        <a:latin typeface="+mn-lt"/>
                      </a:endParaRPr>
                    </a:p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(</a:t>
                      </a:r>
                      <a:r>
                        <a:rPr lang="ko-KR" altLang="en-US" sz="700" u="none" strike="noStrike" dirty="0" err="1">
                          <a:effectLst/>
                          <a:latin typeface="+mn-lt"/>
                        </a:rPr>
                        <a:t>소부장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 대응 과제</a:t>
                      </a:r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)</a:t>
                      </a:r>
                      <a:endParaRPr lang="en-US" altLang="ko-KR" sz="700" b="0" i="0" u="none" strike="noStrike" dirty="0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2020-04-01 ~ 2024-12-31</a:t>
                      </a:r>
                      <a:endParaRPr lang="en-US" altLang="ko-KR" sz="700" b="0" i="0" u="none" strike="noStrike" dirty="0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>
                          <a:effectLst/>
                          <a:latin typeface="+mn-lt"/>
                        </a:rPr>
                        <a:t>중량 </a:t>
                      </a:r>
                      <a:r>
                        <a:rPr lang="en-US" altLang="ko-KR" sz="700" u="none" strike="noStrike">
                          <a:effectLst/>
                          <a:latin typeface="+mn-lt"/>
                        </a:rPr>
                        <a:t>50kg</a:t>
                      </a:r>
                      <a:r>
                        <a:rPr lang="ko-KR" altLang="en-US" sz="700" u="none" strike="noStrike">
                          <a:effectLst/>
                          <a:latin typeface="+mn-lt"/>
                        </a:rPr>
                        <a:t>급 </a:t>
                      </a:r>
                      <a:r>
                        <a:rPr lang="en-US" altLang="ko-KR" sz="700" u="none" strike="noStrike">
                          <a:effectLst/>
                          <a:latin typeface="+mn-lt"/>
                        </a:rPr>
                        <a:t>NiTi </a:t>
                      </a:r>
                      <a:r>
                        <a:rPr lang="ko-KR" altLang="en-US" sz="700" u="none" strike="noStrike">
                          <a:effectLst/>
                          <a:latin typeface="+mn-lt"/>
                        </a:rPr>
                        <a:t>잉곳</a:t>
                      </a:r>
                      <a:r>
                        <a:rPr lang="en-US" altLang="ko-KR" sz="700" u="none" strike="noStrike">
                          <a:effectLst/>
                          <a:latin typeface="+mn-lt"/>
                        </a:rPr>
                        <a:t>, </a:t>
                      </a:r>
                      <a:r>
                        <a:rPr lang="ko-KR" altLang="en-US" sz="700" u="none" strike="noStrike">
                          <a:effectLst/>
                          <a:latin typeface="+mn-lt"/>
                        </a:rPr>
                        <a:t>중량 </a:t>
                      </a:r>
                      <a:r>
                        <a:rPr lang="en-US" altLang="ko-KR" sz="700" u="none" strike="noStrike">
                          <a:effectLst/>
                          <a:latin typeface="+mn-lt"/>
                        </a:rPr>
                        <a:t>30kg</a:t>
                      </a:r>
                      <a:r>
                        <a:rPr lang="ko-KR" altLang="en-US" sz="700" u="none" strike="noStrike">
                          <a:effectLst/>
                          <a:latin typeface="+mn-lt"/>
                        </a:rPr>
                        <a:t>급 </a:t>
                      </a:r>
                      <a:r>
                        <a:rPr lang="en-US" altLang="ko-KR" sz="700" u="none" strike="noStrike">
                          <a:effectLst/>
                          <a:latin typeface="+mn-lt"/>
                        </a:rPr>
                        <a:t>NiTi </a:t>
                      </a:r>
                      <a:r>
                        <a:rPr lang="ko-KR" altLang="en-US" sz="700" u="none" strike="noStrike">
                          <a:effectLst/>
                          <a:latin typeface="+mn-lt"/>
                        </a:rPr>
                        <a:t>와이어로드 및 관련 응용부품 기술개발</a:t>
                      </a:r>
                      <a:endParaRPr lang="ko-KR" altLang="en-US" sz="700" b="0" i="0" u="none" strike="noStrike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extLst>
                  <a:ext uri="{0D108BD9-81ED-4DB2-BD59-A6C34878D82A}">
                    <a16:rowId xmlns:a16="http://schemas.microsoft.com/office/drawing/2014/main" val="681799883"/>
                  </a:ext>
                </a:extLst>
              </a:tr>
              <a:tr h="338035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 1250MPa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급 고비강도 </a:t>
                      </a:r>
                      <a:r>
                        <a:rPr lang="ko-KR" altLang="en-US" sz="700" u="none" strike="noStrike" dirty="0" err="1">
                          <a:effectLst/>
                          <a:latin typeface="+mn-lt"/>
                        </a:rPr>
                        <a:t>타이타늄합금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 대형 블레이드 제조기술 개발</a:t>
                      </a:r>
                      <a:endParaRPr lang="ko-KR" altLang="en-US" sz="700" b="0" i="0" u="none" strike="noStrike" dirty="0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산업통상자원부</a:t>
                      </a:r>
                      <a:endParaRPr lang="en-US" altLang="ko-KR" sz="700" u="none" strike="noStrike" dirty="0">
                        <a:effectLst/>
                        <a:latin typeface="+mn-lt"/>
                      </a:endParaRPr>
                    </a:p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(</a:t>
                      </a:r>
                      <a:r>
                        <a:rPr lang="ko-KR" altLang="en-US" sz="700" u="none" strike="noStrike" dirty="0" err="1">
                          <a:effectLst/>
                          <a:latin typeface="+mn-lt"/>
                        </a:rPr>
                        <a:t>소부장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 대응 과제</a:t>
                      </a:r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)</a:t>
                      </a:r>
                      <a:endParaRPr lang="en-US" altLang="ko-KR" sz="700" b="0" i="0" u="none" strike="noStrike" dirty="0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2020-04-01 ~ 2024-12-31</a:t>
                      </a:r>
                      <a:endParaRPr lang="en-US" altLang="ko-KR" sz="700" b="0" i="0" u="none" strike="noStrike" dirty="0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>
                          <a:effectLst/>
                          <a:latin typeface="+mn-lt"/>
                        </a:rPr>
                        <a:t>1250MPa</a:t>
                      </a:r>
                      <a:r>
                        <a:rPr lang="ko-KR" altLang="en-US" sz="700" u="none" strike="noStrike">
                          <a:effectLst/>
                          <a:latin typeface="+mn-lt"/>
                        </a:rPr>
                        <a:t>급 타이타늄 발전용 터빈 블레이드 개발</a:t>
                      </a:r>
                      <a:endParaRPr lang="ko-KR" altLang="en-US" sz="700" b="0" i="0" u="none" strike="noStrike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extLst>
                  <a:ext uri="{0D108BD9-81ED-4DB2-BD59-A6C34878D82A}">
                    <a16:rowId xmlns:a16="http://schemas.microsoft.com/office/drawing/2014/main" val="3555708535"/>
                  </a:ext>
                </a:extLst>
              </a:tr>
              <a:tr h="606141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 3D </a:t>
                      </a:r>
                      <a:r>
                        <a:rPr lang="ko-KR" altLang="en-US" sz="700" u="none" strike="noStrike" dirty="0" err="1">
                          <a:effectLst/>
                          <a:latin typeface="+mn-lt"/>
                        </a:rPr>
                        <a:t>프린팅용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650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℃급 </a:t>
                      </a:r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Ni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기 </a:t>
                      </a:r>
                      <a:r>
                        <a:rPr lang="ko-KR" altLang="en-US" sz="700" u="none" strike="noStrike" dirty="0" err="1">
                          <a:effectLst/>
                          <a:latin typeface="+mn-lt"/>
                        </a:rPr>
                        <a:t>초내열합금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 및 고온강도 </a:t>
                      </a:r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550MPa 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급 </a:t>
                      </a:r>
                      <a:endParaRPr lang="en-US" altLang="ko-KR" sz="700" u="none" strike="noStrike" dirty="0">
                        <a:effectLst/>
                        <a:latin typeface="+mn-lt"/>
                      </a:endParaRPr>
                    </a:p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en-US" altLang="ko-KR" sz="700" u="none" strike="noStrike" dirty="0" err="1">
                          <a:effectLst/>
                          <a:latin typeface="+mn-lt"/>
                        </a:rPr>
                        <a:t>TiAl</a:t>
                      </a:r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700" u="none" strike="noStrike" dirty="0" err="1">
                          <a:effectLst/>
                          <a:latin typeface="+mn-lt"/>
                        </a:rPr>
                        <a:t>금속간화합물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 분말 제조기술 개발</a:t>
                      </a:r>
                      <a:endParaRPr lang="ko-KR" altLang="en-US" sz="700" b="0" i="0" u="none" strike="noStrike" dirty="0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>
                          <a:effectLst/>
                          <a:latin typeface="+mn-lt"/>
                        </a:rPr>
                        <a:t>산업통상자원부</a:t>
                      </a:r>
                      <a:endParaRPr lang="ko-KR" altLang="en-US" sz="700" b="0" i="0" u="none" strike="noStrike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2017-04-01 ~ 2021-12-31</a:t>
                      </a:r>
                      <a:endParaRPr lang="en-US" altLang="ko-KR" sz="700" b="0" i="0" u="none" strike="noStrike" dirty="0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3D 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프린팅 맞춤형 </a:t>
                      </a:r>
                      <a:r>
                        <a:rPr lang="ko-KR" altLang="en-US" sz="700" u="none" strike="noStrike" dirty="0" err="1">
                          <a:effectLst/>
                          <a:latin typeface="+mn-lt"/>
                        </a:rPr>
                        <a:t>신합금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 설계기술 및 저가 스크랩</a:t>
                      </a:r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, Hot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가스 분무기술을 이용하여 현재 가격대비 </a:t>
                      </a:r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50%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이상 저비용의 </a:t>
                      </a:r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3D 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프린팅 전용 </a:t>
                      </a:r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Ni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계 </a:t>
                      </a:r>
                      <a:r>
                        <a:rPr lang="ko-KR" altLang="en-US" sz="700" u="none" strike="noStrike" dirty="0" err="1">
                          <a:effectLst/>
                          <a:latin typeface="+mn-lt"/>
                        </a:rPr>
                        <a:t>초내열합금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 분말 및 </a:t>
                      </a:r>
                      <a:r>
                        <a:rPr lang="en-US" altLang="ko-KR" sz="700" u="none" strike="noStrike" dirty="0" err="1">
                          <a:effectLst/>
                          <a:latin typeface="+mn-lt"/>
                        </a:rPr>
                        <a:t>TiAl</a:t>
                      </a:r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 </a:t>
                      </a:r>
                      <a:r>
                        <a:rPr lang="ko-KR" altLang="en-US" sz="700" u="none" strike="noStrike" dirty="0" err="1">
                          <a:effectLst/>
                          <a:latin typeface="+mn-lt"/>
                        </a:rPr>
                        <a:t>금속간화합물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 분말 제조기술 개발</a:t>
                      </a:r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.</a:t>
                      </a:r>
                      <a:endParaRPr lang="en-US" altLang="ko-KR" sz="700" b="0" i="0" u="none" strike="noStrike" dirty="0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extLst>
                  <a:ext uri="{0D108BD9-81ED-4DB2-BD59-A6C34878D82A}">
                    <a16:rowId xmlns:a16="http://schemas.microsoft.com/office/drawing/2014/main" val="3088634062"/>
                  </a:ext>
                </a:extLst>
              </a:tr>
              <a:tr h="345717"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 TIT 1650℃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급 가스터빈 정밀주조용 일방향응고 소재 기술 개발</a:t>
                      </a:r>
                      <a:endParaRPr lang="ko-KR" altLang="en-US" sz="700" b="0" i="0" u="none" strike="noStrike" dirty="0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산업통상자원부</a:t>
                      </a:r>
                      <a:endParaRPr lang="en-US" altLang="ko-KR" sz="700" u="none" strike="noStrike" dirty="0">
                        <a:effectLst/>
                        <a:latin typeface="+mn-lt"/>
                      </a:endParaRPr>
                    </a:p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(</a:t>
                      </a:r>
                      <a:r>
                        <a:rPr lang="ko-KR" altLang="en-US" sz="700" u="none" strike="noStrike" dirty="0" err="1">
                          <a:effectLst/>
                          <a:latin typeface="+mn-lt"/>
                        </a:rPr>
                        <a:t>소부장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 대응 과제</a:t>
                      </a:r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)</a:t>
                      </a:r>
                      <a:endParaRPr lang="en-US" altLang="ko-KR" sz="700" b="0" i="0" u="none" strike="noStrike" dirty="0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u="none" strike="noStrike" dirty="0">
                          <a:effectLst/>
                          <a:latin typeface="+mn-lt"/>
                        </a:rPr>
                        <a:t>2020-04-01 ~ 2024-12-31</a:t>
                      </a:r>
                      <a:endParaRPr lang="en-US" altLang="ko-KR" sz="700" b="0" i="0" u="none" strike="noStrike" dirty="0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복합화력발전 가스터빈용 일방향응고용 </a:t>
                      </a:r>
                      <a:r>
                        <a:rPr lang="ko-KR" altLang="en-US" sz="700" u="none" strike="noStrike" dirty="0" err="1">
                          <a:effectLst/>
                          <a:latin typeface="+mn-lt"/>
                        </a:rPr>
                        <a:t>초내열합금</a:t>
                      </a:r>
                      <a:r>
                        <a:rPr lang="ko-KR" altLang="en-US" sz="700" u="none" strike="noStrike" dirty="0">
                          <a:effectLst/>
                          <a:latin typeface="+mn-lt"/>
                        </a:rPr>
                        <a:t> 핵심소재 및 부품 제조기술 개발</a:t>
                      </a:r>
                      <a:endParaRPr lang="ko-KR" altLang="en-US" sz="700" b="0" i="0" u="none" strike="noStrike" dirty="0">
                        <a:solidFill>
                          <a:srgbClr val="222222"/>
                        </a:solidFill>
                        <a:effectLst/>
                        <a:latin typeface="+mn-lt"/>
                        <a:ea typeface="맑은 고딕" panose="020B0503020000020004" pitchFamily="50" charset="-127"/>
                      </a:endParaRPr>
                    </a:p>
                  </a:txBody>
                  <a:tcPr marL="5952" marR="5952" marT="5952" marB="0" anchor="ctr"/>
                </a:tc>
                <a:extLst>
                  <a:ext uri="{0D108BD9-81ED-4DB2-BD59-A6C34878D82A}">
                    <a16:rowId xmlns:a16="http://schemas.microsoft.com/office/drawing/2014/main" val="3870803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27115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37705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연구장비의 적정성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52661" y="836712"/>
            <a:ext cx="8496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>
                <a:solidFill>
                  <a:schemeClr val="bg1"/>
                </a:solidFill>
              </a:rPr>
              <a:t>□</a:t>
            </a:r>
            <a:r>
              <a:rPr lang="en-US" altLang="ko-KR" b="1" dirty="0">
                <a:solidFill>
                  <a:schemeClr val="bg1"/>
                </a:solidFill>
              </a:rPr>
              <a:t> </a:t>
            </a:r>
            <a:r>
              <a:rPr lang="ko-KR" altLang="en-US" b="1" dirty="0">
                <a:solidFill>
                  <a:schemeClr val="bg1"/>
                </a:solidFill>
              </a:rPr>
              <a:t>장비의 구성</a:t>
            </a:r>
            <a:r>
              <a:rPr lang="en-US" altLang="ko-KR" sz="1400" b="1" dirty="0">
                <a:solidFill>
                  <a:schemeClr val="bg1"/>
                </a:solidFill>
              </a:rPr>
              <a:t>(Specifications) </a:t>
            </a:r>
            <a:r>
              <a:rPr lang="ko-KR" altLang="en-US" b="1" dirty="0">
                <a:solidFill>
                  <a:schemeClr val="bg1"/>
                </a:solidFill>
              </a:rPr>
              <a:t>및 성능</a:t>
            </a:r>
            <a:r>
              <a:rPr lang="en-US" altLang="ko-KR" sz="1400" b="1" dirty="0">
                <a:solidFill>
                  <a:schemeClr val="bg1"/>
                </a:solidFill>
              </a:rPr>
              <a:t>(Performance)</a:t>
            </a:r>
            <a:endParaRPr lang="en-US" altLang="ko-KR" b="1" dirty="0">
              <a:solidFill>
                <a:schemeClr val="bg1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252661" y="3707740"/>
            <a:ext cx="8496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/>
              <a:t>□ 가격의 적정성</a:t>
            </a:r>
            <a:endParaRPr lang="en-US" altLang="ko-KR" b="1" dirty="0"/>
          </a:p>
        </p:txBody>
      </p:sp>
      <p:sp>
        <p:nvSpPr>
          <p:cNvPr id="7" name="직사각형 6"/>
          <p:cNvSpPr/>
          <p:nvPr/>
        </p:nvSpPr>
        <p:spPr>
          <a:xfrm>
            <a:off x="252661" y="5507940"/>
            <a:ext cx="849694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/>
              <a:t>□</a:t>
            </a:r>
            <a:r>
              <a:rPr lang="en-US" altLang="ko-KR" b="1" dirty="0"/>
              <a:t> </a:t>
            </a:r>
            <a:r>
              <a:rPr lang="ko-KR" altLang="en-US" b="1" dirty="0"/>
              <a:t>신청 수량이 </a:t>
            </a:r>
            <a:r>
              <a:rPr lang="en-US" altLang="ko-KR" b="1" dirty="0"/>
              <a:t>2</a:t>
            </a:r>
            <a:r>
              <a:rPr lang="ko-KR" altLang="en-US" b="1" dirty="0"/>
              <a:t>개 이상인 경우</a:t>
            </a:r>
            <a:endParaRPr lang="en-US" altLang="ko-KR" b="1" dirty="0"/>
          </a:p>
        </p:txBody>
      </p:sp>
      <p:sp>
        <p:nvSpPr>
          <p:cNvPr id="9" name="직사각형 8"/>
          <p:cNvSpPr/>
          <p:nvPr/>
        </p:nvSpPr>
        <p:spPr>
          <a:xfrm>
            <a:off x="431540" y="5877272"/>
            <a:ext cx="8354069" cy="5760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400" b="1" dirty="0">
                <a:solidFill>
                  <a:schemeClr val="tx1"/>
                </a:solidFill>
              </a:rPr>
              <a:t>※</a:t>
            </a:r>
            <a:r>
              <a:rPr lang="ko-KR" altLang="en-US" sz="1400" b="1" dirty="0">
                <a:solidFill>
                  <a:schemeClr val="tx1"/>
                </a:solidFill>
              </a:rPr>
              <a:t> 해당사항 없음</a:t>
            </a:r>
          </a:p>
        </p:txBody>
      </p:sp>
      <p:grpSp>
        <p:nvGrpSpPr>
          <p:cNvPr id="11" name="그룹 10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12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4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18" name="직사각형 17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19" name="직사각형 18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15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16" name="직사각형 15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17" name="직사각형 16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13" name="직사각형 12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10" name="직사각형 9"/>
          <p:cNvSpPr/>
          <p:nvPr/>
        </p:nvSpPr>
        <p:spPr>
          <a:xfrm>
            <a:off x="395536" y="1206044"/>
            <a:ext cx="8354069" cy="24886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400" b="1" dirty="0">
                <a:solidFill>
                  <a:schemeClr val="tx1"/>
                </a:solidFill>
              </a:rPr>
              <a:t>X-ray generator : 4 kW</a:t>
            </a:r>
            <a:endParaRPr lang="ko-KR" altLang="en-US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400" b="1" dirty="0">
                <a:solidFill>
                  <a:schemeClr val="tx1"/>
                </a:solidFill>
              </a:rPr>
              <a:t>Auto adjustment of beam height/width</a:t>
            </a: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400" b="1" dirty="0">
                <a:solidFill>
                  <a:schemeClr val="tx1"/>
                </a:solidFill>
              </a:rPr>
              <a:t>Auto adjustment of axial divergence</a:t>
            </a: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400" b="1" dirty="0">
                <a:solidFill>
                  <a:schemeClr val="tx1"/>
                </a:solidFill>
              </a:rPr>
              <a:t>Auto switch focusing/parallel beam apps</a:t>
            </a: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400" b="1" dirty="0">
                <a:solidFill>
                  <a:schemeClr val="tx1"/>
                </a:solidFill>
              </a:rPr>
              <a:t>Integrated component recognition</a:t>
            </a: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400" b="1" dirty="0">
                <a:solidFill>
                  <a:schemeClr val="tx1"/>
                </a:solidFill>
              </a:rPr>
              <a:t>Pre-defined batch programs for applications</a:t>
            </a: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400" b="1" dirty="0">
                <a:solidFill>
                  <a:schemeClr val="tx1"/>
                </a:solidFill>
              </a:rPr>
              <a:t>Functions in camera window</a:t>
            </a: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400" b="1" dirty="0">
                <a:solidFill>
                  <a:schemeClr val="tx1"/>
                </a:solidFill>
              </a:rPr>
              <a:t>SAMPLE MAGAZINE 15-POSITION</a:t>
            </a: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en-US" altLang="ko-KR" sz="1400" b="1" dirty="0">
                <a:solidFill>
                  <a:schemeClr val="tx1"/>
                </a:solidFill>
              </a:rPr>
              <a:t>High-Temperature Oven Chamber : 25 ℃ to 1200 ℃</a:t>
            </a:r>
          </a:p>
        </p:txBody>
      </p:sp>
      <p:sp>
        <p:nvSpPr>
          <p:cNvPr id="20" name="직사각형 6"/>
          <p:cNvSpPr/>
          <p:nvPr/>
        </p:nvSpPr>
        <p:spPr>
          <a:xfrm>
            <a:off x="377934" y="4079270"/>
            <a:ext cx="8405680" cy="122193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본 기관에서 </a:t>
            </a:r>
            <a:r>
              <a:rPr lang="en-US" altLang="ko-KR" sz="1400" b="1" dirty="0">
                <a:solidFill>
                  <a:schemeClr val="tx1"/>
                </a:solidFill>
              </a:rPr>
              <a:t>2010</a:t>
            </a:r>
            <a:r>
              <a:rPr lang="ko-KR" altLang="en-US" sz="1400" b="1" dirty="0">
                <a:solidFill>
                  <a:schemeClr val="tx1"/>
                </a:solidFill>
              </a:rPr>
              <a:t>년에 취득한 장비의 가격이 </a:t>
            </a:r>
            <a:r>
              <a:rPr lang="en-US" altLang="ko-KR" sz="1400" b="1" dirty="0">
                <a:solidFill>
                  <a:schemeClr val="tx1"/>
                </a:solidFill>
              </a:rPr>
              <a:t>3.7</a:t>
            </a:r>
            <a:r>
              <a:rPr lang="ko-KR" altLang="en-US" sz="1400" b="1" dirty="0">
                <a:solidFill>
                  <a:schemeClr val="tx1"/>
                </a:solidFill>
              </a:rPr>
              <a:t>억인 것을 고려하였을 때</a:t>
            </a:r>
            <a:r>
              <a:rPr lang="en-US" altLang="ko-KR" sz="1400" b="1" dirty="0">
                <a:solidFill>
                  <a:schemeClr val="tx1"/>
                </a:solidFill>
              </a:rPr>
              <a:t>, </a:t>
            </a:r>
            <a:r>
              <a:rPr lang="ko-KR" altLang="en-US" sz="1400" b="1" dirty="0">
                <a:solidFill>
                  <a:schemeClr val="tx1"/>
                </a:solidFill>
              </a:rPr>
              <a:t>물가 상승 및 고온 측정 챔버가 포함된 가격으로 </a:t>
            </a:r>
            <a:r>
              <a:rPr lang="en-US" altLang="ko-KR" sz="1400" b="1" dirty="0">
                <a:solidFill>
                  <a:schemeClr val="tx1"/>
                </a:solidFill>
              </a:rPr>
              <a:t>4</a:t>
            </a:r>
            <a:r>
              <a:rPr lang="ko-KR" altLang="en-US" sz="1400" b="1" dirty="0">
                <a:solidFill>
                  <a:schemeClr val="tx1"/>
                </a:solidFill>
              </a:rPr>
              <a:t>억은 매우 적정한 수준임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유사한 사양의 타 제작사 장비의 가격 또한 </a:t>
            </a:r>
            <a:r>
              <a:rPr lang="en-US" altLang="ko-KR" sz="1400" b="1" dirty="0">
                <a:solidFill>
                  <a:schemeClr val="tx1"/>
                </a:solidFill>
              </a:rPr>
              <a:t>4</a:t>
            </a:r>
            <a:r>
              <a:rPr lang="ko-KR" altLang="en-US" sz="1400" b="1" dirty="0">
                <a:solidFill>
                  <a:schemeClr val="tx1"/>
                </a:solidFill>
              </a:rPr>
              <a:t>억 정도로 확인하였을 때 상기 요구한 장비 사양의 가격은 적정가격이라 판단됨</a:t>
            </a:r>
            <a:endParaRPr lang="en-US" altLang="ko-KR" sz="1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37705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장비운영의 계획성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323527" y="692696"/>
            <a:ext cx="799288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ko-KR" altLang="en-US" b="1" dirty="0">
                <a:solidFill>
                  <a:schemeClr val="bg1"/>
                </a:solidFill>
              </a:rPr>
              <a:t>□ 연구시설･장비의 운영 인력 및 조직의 전문성 확보계획</a:t>
            </a:r>
            <a:endParaRPr lang="en-US" altLang="ko-KR" b="1" dirty="0">
              <a:solidFill>
                <a:schemeClr val="bg1"/>
              </a:solidFill>
            </a:endParaRPr>
          </a:p>
        </p:txBody>
      </p:sp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6638144"/>
              </p:ext>
            </p:extLst>
          </p:nvPr>
        </p:nvGraphicFramePr>
        <p:xfrm>
          <a:off x="611560" y="2528304"/>
          <a:ext cx="7920880" cy="1404752"/>
        </p:xfrm>
        <a:graphic>
          <a:graphicData uri="http://schemas.openxmlformats.org/drawingml/2006/table">
            <a:tbl>
              <a:tblPr/>
              <a:tblGrid>
                <a:gridCol w="14945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57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93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02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874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6737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성명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소속부서명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최종학위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직군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고용형태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5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담당장비수</a:t>
                      </a:r>
                      <a:endParaRPr lang="ko-KR" altLang="en-US" sz="900" kern="0" spc="0" baseline="3000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kern="0" spc="-5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장비운영경력</a:t>
                      </a:r>
                      <a:endParaRPr lang="ko-KR" altLang="en-US" sz="1000" kern="0" spc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8691"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기존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 err="1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박이호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재료정밀분석실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박사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정규직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0" dirty="0">
                          <a:solidFill>
                            <a:srgbClr val="000000"/>
                          </a:solidFill>
                          <a:effectLst/>
                          <a:latin typeface="함초롬바탕" panose="02030604000101010101" pitchFamily="18" charset="-127"/>
                        </a:rPr>
                        <a:t>2</a:t>
                      </a: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년 이상</a:t>
                      </a: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6469678"/>
                  </a:ext>
                </a:extLst>
              </a:tr>
              <a:tr h="468691"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기존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임경원</a:t>
                      </a:r>
                      <a:endParaRPr lang="ko-KR" altLang="en-US" sz="900" kern="0" spc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재료정밀분석실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석사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-50" dirty="0">
                          <a:solidFill>
                            <a:srgbClr val="000000"/>
                          </a:solidFill>
                          <a:effectLst/>
                          <a:latin typeface="휴먼명조"/>
                          <a:ea typeface="휴먼명조"/>
                        </a:rPr>
                        <a:t>정규직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240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kern="0" spc="-50" dirty="0">
                          <a:solidFill>
                            <a:srgbClr val="000000"/>
                          </a:solidFill>
                          <a:effectLst/>
                          <a:latin typeface="HCI Poppy"/>
                          <a:ea typeface="휴먼명조"/>
                        </a:rPr>
                        <a:t>3</a:t>
                      </a:r>
                      <a:endParaRPr lang="en-US" sz="900" kern="0" spc="0" dirty="0">
                        <a:solidFill>
                          <a:srgbClr val="000000"/>
                        </a:solidFill>
                        <a:effectLst/>
                        <a:latin typeface="함초롬바탕" panose="02030604000101010101" pitchFamily="18" charset="-127"/>
                      </a:endParaRPr>
                    </a:p>
                  </a:txBody>
                  <a:tcPr marL="17907" marR="17907" marT="17907" marB="17907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-15240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년 이상</a:t>
                      </a:r>
                    </a:p>
                  </a:txBody>
                  <a:tcPr marL="8638" marR="8638" marT="8638" marB="8638" anchor="ctr">
                    <a:lnL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11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9" name="그룹 8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10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12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18" name="직사각형 17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19" name="직사각형 18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13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15" name="직사각형 14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17" name="직사각형 16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11" name="직사각형 10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21" name="직사각형 9"/>
          <p:cNvSpPr/>
          <p:nvPr/>
        </p:nvSpPr>
        <p:spPr>
          <a:xfrm>
            <a:off x="456707" y="1075525"/>
            <a:ext cx="8244916" cy="14047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운영 인력 및 조직의 전문성 확보 방안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chemeClr val="tx1"/>
                </a:solidFill>
              </a:rPr>
              <a:t>본 심의대상 장비의 구축 후 공동활용센터에서 장비를 운영할 계획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chemeClr val="tx1"/>
                </a:solidFill>
              </a:rPr>
              <a:t>이후 연구원 내부 수요에 따라</a:t>
            </a:r>
            <a:r>
              <a:rPr lang="en-US" altLang="ko-KR" sz="1400" b="1" dirty="0">
                <a:solidFill>
                  <a:schemeClr val="tx1"/>
                </a:solidFill>
              </a:rPr>
              <a:t>,</a:t>
            </a:r>
            <a:r>
              <a:rPr lang="ko-KR" altLang="en-US" sz="1400" b="1" dirty="0">
                <a:solidFill>
                  <a:schemeClr val="tx1"/>
                </a:solidFill>
              </a:rPr>
              <a:t> 내부 시험서비스 제공으로 장비의 활용도를 높일 계획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chemeClr val="tx1"/>
                </a:solidFill>
              </a:rPr>
              <a:t>장비 설치공간은 연구 </a:t>
            </a:r>
            <a:r>
              <a:rPr lang="en-US" altLang="ko-KR" sz="1400" b="1" dirty="0">
                <a:solidFill>
                  <a:schemeClr val="tx1"/>
                </a:solidFill>
              </a:rPr>
              <a:t>4</a:t>
            </a:r>
            <a:r>
              <a:rPr lang="ko-KR" altLang="en-US" sz="1400" b="1" dirty="0">
                <a:solidFill>
                  <a:schemeClr val="tx1"/>
                </a:solidFill>
              </a:rPr>
              <a:t>동에 위치한 기존 공간에 설치 가능함</a:t>
            </a:r>
            <a:endParaRPr lang="en-US" altLang="ko-KR" sz="1400" b="1" dirty="0">
              <a:solidFill>
                <a:schemeClr val="tx1"/>
              </a:solidFill>
            </a:endParaRPr>
          </a:p>
        </p:txBody>
      </p:sp>
      <p:sp>
        <p:nvSpPr>
          <p:cNvPr id="20" name="직사각형 9">
            <a:extLst>
              <a:ext uri="{FF2B5EF4-FFF2-40B4-BE49-F238E27FC236}">
                <a16:creationId xmlns:a16="http://schemas.microsoft.com/office/drawing/2014/main" id="{8E615977-7D47-45F0-A405-2756741C8BEA}"/>
              </a:ext>
            </a:extLst>
          </p:cNvPr>
          <p:cNvSpPr/>
          <p:nvPr/>
        </p:nvSpPr>
        <p:spPr>
          <a:xfrm>
            <a:off x="456707" y="4379776"/>
            <a:ext cx="8244916" cy="178552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base">
              <a:lnSpc>
                <a:spcPct val="125000"/>
              </a:lnSpc>
              <a:buFont typeface="맑은 고딕" panose="020B0503020000020004" pitchFamily="50" charset="-127"/>
              <a:buChar char="○"/>
            </a:pPr>
            <a:r>
              <a:rPr lang="ko-KR" altLang="en-US" sz="1400" b="1" dirty="0">
                <a:solidFill>
                  <a:schemeClr val="tx1"/>
                </a:solidFill>
              </a:rPr>
              <a:t>운영 예산 확보 방안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chemeClr val="tx1"/>
                </a:solidFill>
              </a:rPr>
              <a:t>수요조사 결과 최소 수요 시간 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lvl="1" fontAlgn="base">
              <a:lnSpc>
                <a:spcPct val="125000"/>
              </a:lnSpc>
            </a:pPr>
            <a:r>
              <a:rPr lang="en-US" altLang="ko-KR" sz="1400" b="1" dirty="0">
                <a:solidFill>
                  <a:schemeClr val="tx1"/>
                </a:solidFill>
              </a:rPr>
              <a:t>	: 39</a:t>
            </a:r>
            <a:r>
              <a:rPr lang="ko-KR" altLang="en-US" sz="1400" b="1" dirty="0">
                <a:solidFill>
                  <a:schemeClr val="tx1"/>
                </a:solidFill>
              </a:rPr>
              <a:t>회</a:t>
            </a:r>
            <a:r>
              <a:rPr lang="en-US" altLang="ko-KR" sz="1400" b="1" dirty="0">
                <a:solidFill>
                  <a:schemeClr val="tx1"/>
                </a:solidFill>
              </a:rPr>
              <a:t>/</a:t>
            </a:r>
            <a:r>
              <a:rPr lang="ko-KR" altLang="en-US" sz="1400" b="1" dirty="0">
                <a:solidFill>
                  <a:schemeClr val="tx1"/>
                </a:solidFill>
              </a:rPr>
              <a:t>주 </a:t>
            </a:r>
            <a:r>
              <a:rPr lang="en-US" altLang="ko-KR" sz="1400" b="1" dirty="0">
                <a:solidFill>
                  <a:schemeClr val="tx1"/>
                </a:solidFill>
              </a:rPr>
              <a:t>x 52</a:t>
            </a:r>
            <a:r>
              <a:rPr lang="ko-KR" altLang="en-US" sz="1400" b="1" dirty="0">
                <a:solidFill>
                  <a:schemeClr val="tx1"/>
                </a:solidFill>
              </a:rPr>
              <a:t>주</a:t>
            </a:r>
            <a:r>
              <a:rPr lang="en-US" altLang="ko-KR" sz="1400" b="1" dirty="0">
                <a:solidFill>
                  <a:schemeClr val="tx1"/>
                </a:solidFill>
              </a:rPr>
              <a:t>/</a:t>
            </a:r>
            <a:r>
              <a:rPr lang="ko-KR" altLang="en-US" sz="1400" b="1" dirty="0">
                <a:solidFill>
                  <a:schemeClr val="tx1"/>
                </a:solidFill>
              </a:rPr>
              <a:t>년 </a:t>
            </a:r>
            <a:r>
              <a:rPr lang="en-US" altLang="ko-KR" sz="1400" b="1" dirty="0">
                <a:solidFill>
                  <a:schemeClr val="tx1"/>
                </a:solidFill>
              </a:rPr>
              <a:t>x 2</a:t>
            </a:r>
            <a:r>
              <a:rPr lang="ko-KR" altLang="en-US" sz="1400" b="1" dirty="0">
                <a:solidFill>
                  <a:schemeClr val="tx1"/>
                </a:solidFill>
              </a:rPr>
              <a:t>시간</a:t>
            </a:r>
            <a:r>
              <a:rPr lang="en-US" altLang="ko-KR" sz="1400" b="1" dirty="0">
                <a:solidFill>
                  <a:schemeClr val="tx1"/>
                </a:solidFill>
              </a:rPr>
              <a:t>/</a:t>
            </a:r>
            <a:r>
              <a:rPr lang="ko-KR" altLang="en-US" sz="1400" b="1" dirty="0">
                <a:solidFill>
                  <a:schemeClr val="tx1"/>
                </a:solidFill>
              </a:rPr>
              <a:t>회 </a:t>
            </a:r>
            <a:r>
              <a:rPr lang="en-US" altLang="ko-KR" sz="1400" b="1" dirty="0">
                <a:solidFill>
                  <a:schemeClr val="tx1"/>
                </a:solidFill>
              </a:rPr>
              <a:t>x 0.5 (</a:t>
            </a:r>
            <a:r>
              <a:rPr lang="ko-KR" altLang="en-US" sz="1400" b="1" dirty="0">
                <a:solidFill>
                  <a:schemeClr val="tx1"/>
                </a:solidFill>
              </a:rPr>
              <a:t>기존장비로 사용률 분산</a:t>
            </a:r>
            <a:r>
              <a:rPr lang="en-US" altLang="ko-KR" sz="1400" b="1" dirty="0">
                <a:solidFill>
                  <a:schemeClr val="tx1"/>
                </a:solidFill>
              </a:rPr>
              <a:t>) = 2028</a:t>
            </a:r>
            <a:r>
              <a:rPr lang="ko-KR" altLang="en-US" sz="1400" b="1" dirty="0">
                <a:solidFill>
                  <a:schemeClr val="tx1"/>
                </a:solidFill>
              </a:rPr>
              <a:t>시간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chemeClr val="tx1"/>
                </a:solidFill>
              </a:rPr>
              <a:t>장치 사용 가능 시간 </a:t>
            </a:r>
            <a:r>
              <a:rPr lang="en-US" altLang="ko-KR" sz="1400" b="1" dirty="0">
                <a:solidFill>
                  <a:schemeClr val="tx1"/>
                </a:solidFill>
              </a:rPr>
              <a:t>: 250</a:t>
            </a:r>
            <a:r>
              <a:rPr lang="ko-KR" altLang="en-US" sz="1400" b="1" dirty="0">
                <a:solidFill>
                  <a:schemeClr val="tx1"/>
                </a:solidFill>
              </a:rPr>
              <a:t>일 </a:t>
            </a:r>
            <a:r>
              <a:rPr lang="en-US" altLang="ko-KR" sz="1400" b="1" dirty="0">
                <a:solidFill>
                  <a:schemeClr val="tx1"/>
                </a:solidFill>
              </a:rPr>
              <a:t>x 8</a:t>
            </a:r>
            <a:r>
              <a:rPr lang="ko-KR" altLang="en-US" sz="1400" b="1" dirty="0">
                <a:solidFill>
                  <a:schemeClr val="tx1"/>
                </a:solidFill>
              </a:rPr>
              <a:t>시간</a:t>
            </a:r>
            <a:r>
              <a:rPr lang="en-US" altLang="ko-KR" sz="1400" b="1" dirty="0">
                <a:solidFill>
                  <a:schemeClr val="tx1"/>
                </a:solidFill>
              </a:rPr>
              <a:t>/</a:t>
            </a:r>
            <a:r>
              <a:rPr lang="ko-KR" altLang="en-US" sz="1400" b="1" dirty="0">
                <a:solidFill>
                  <a:schemeClr val="tx1"/>
                </a:solidFill>
              </a:rPr>
              <a:t>일 </a:t>
            </a:r>
            <a:r>
              <a:rPr lang="en-US" altLang="ko-KR" sz="1400" b="1" dirty="0">
                <a:solidFill>
                  <a:schemeClr val="tx1"/>
                </a:solidFill>
              </a:rPr>
              <a:t>= 2000</a:t>
            </a:r>
            <a:r>
              <a:rPr lang="ko-KR" altLang="en-US" sz="1400" b="1" dirty="0">
                <a:solidFill>
                  <a:schemeClr val="tx1"/>
                </a:solidFill>
              </a:rPr>
              <a:t>시간</a:t>
            </a:r>
            <a:endParaRPr lang="en-US" altLang="ko-KR" sz="1400" b="1" dirty="0">
              <a:solidFill>
                <a:schemeClr val="tx1"/>
              </a:solidFill>
            </a:endParaRPr>
          </a:p>
          <a:p>
            <a:pPr marL="742950" lvl="1" indent="-285750" fontAlgn="base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400" b="1" dirty="0">
                <a:solidFill>
                  <a:schemeClr val="tx1"/>
                </a:solidFill>
              </a:rPr>
              <a:t>유지비용 </a:t>
            </a:r>
            <a:r>
              <a:rPr lang="en-US" altLang="ko-KR" sz="1400" b="1" dirty="0">
                <a:solidFill>
                  <a:schemeClr val="tx1"/>
                </a:solidFill>
              </a:rPr>
              <a:t>(30</a:t>
            </a:r>
            <a:r>
              <a:rPr lang="ko-KR" altLang="en-US" sz="1400" b="1" dirty="0">
                <a:solidFill>
                  <a:schemeClr val="tx1"/>
                </a:solidFill>
              </a:rPr>
              <a:t>백만원</a:t>
            </a:r>
            <a:r>
              <a:rPr lang="en-US" altLang="ko-KR" sz="1400" b="1" dirty="0">
                <a:solidFill>
                  <a:schemeClr val="tx1"/>
                </a:solidFill>
              </a:rPr>
              <a:t>/</a:t>
            </a:r>
            <a:r>
              <a:rPr lang="ko-KR" altLang="en-US" sz="1400" b="1" dirty="0">
                <a:solidFill>
                  <a:schemeClr val="tx1"/>
                </a:solidFill>
              </a:rPr>
              <a:t>년</a:t>
            </a:r>
            <a:r>
              <a:rPr lang="en-US" altLang="ko-KR" sz="1400" b="1" dirty="0">
                <a:solidFill>
                  <a:schemeClr val="tx1"/>
                </a:solidFill>
              </a:rPr>
              <a:t>)</a:t>
            </a:r>
            <a:r>
              <a:rPr lang="ko-KR" altLang="en-US" sz="1400" b="1" dirty="0">
                <a:solidFill>
                  <a:schemeClr val="tx1"/>
                </a:solidFill>
              </a:rPr>
              <a:t>은 장비사용료 </a:t>
            </a:r>
            <a:r>
              <a:rPr lang="en-US" altLang="ko-KR" sz="1400" b="1" dirty="0">
                <a:solidFill>
                  <a:schemeClr val="tx1"/>
                </a:solidFill>
              </a:rPr>
              <a:t>(</a:t>
            </a:r>
            <a:r>
              <a:rPr lang="ko-KR" altLang="en-US" sz="1400" b="1" dirty="0">
                <a:solidFill>
                  <a:schemeClr val="tx1"/>
                </a:solidFill>
              </a:rPr>
              <a:t>최소 </a:t>
            </a:r>
            <a:r>
              <a:rPr lang="en-US" altLang="ko-KR" sz="1400" b="1" dirty="0">
                <a:solidFill>
                  <a:schemeClr val="tx1"/>
                </a:solidFill>
              </a:rPr>
              <a:t>4</a:t>
            </a:r>
            <a:r>
              <a:rPr lang="ko-KR" altLang="en-US" sz="1400" b="1" dirty="0">
                <a:solidFill>
                  <a:schemeClr val="tx1"/>
                </a:solidFill>
              </a:rPr>
              <a:t>만원</a:t>
            </a:r>
            <a:r>
              <a:rPr lang="en-US" altLang="ko-KR" sz="1400" b="1" dirty="0">
                <a:solidFill>
                  <a:schemeClr val="tx1"/>
                </a:solidFill>
              </a:rPr>
              <a:t>/</a:t>
            </a:r>
            <a:r>
              <a:rPr lang="ko-KR" altLang="en-US" sz="1400" b="1" dirty="0">
                <a:solidFill>
                  <a:schemeClr val="tx1"/>
                </a:solidFill>
              </a:rPr>
              <a:t>시간 </a:t>
            </a:r>
            <a:r>
              <a:rPr lang="en-US" altLang="ko-KR" sz="1400" b="1" dirty="0">
                <a:solidFill>
                  <a:schemeClr val="tx1"/>
                </a:solidFill>
              </a:rPr>
              <a:t>x 2000</a:t>
            </a:r>
            <a:r>
              <a:rPr lang="ko-KR" altLang="en-US" sz="1400" b="1" dirty="0">
                <a:solidFill>
                  <a:schemeClr val="tx1"/>
                </a:solidFill>
              </a:rPr>
              <a:t>시간 </a:t>
            </a:r>
            <a:r>
              <a:rPr lang="en-US" altLang="ko-KR" sz="1400" b="1" dirty="0">
                <a:solidFill>
                  <a:schemeClr val="tx1"/>
                </a:solidFill>
              </a:rPr>
              <a:t>= 80</a:t>
            </a:r>
            <a:r>
              <a:rPr lang="ko-KR" altLang="en-US" sz="1400" b="1" dirty="0">
                <a:solidFill>
                  <a:schemeClr val="tx1"/>
                </a:solidFill>
              </a:rPr>
              <a:t>백만원</a:t>
            </a:r>
            <a:r>
              <a:rPr lang="en-US" altLang="ko-KR" sz="1400" b="1" dirty="0">
                <a:solidFill>
                  <a:schemeClr val="tx1"/>
                </a:solidFill>
              </a:rPr>
              <a:t>/</a:t>
            </a:r>
            <a:r>
              <a:rPr lang="ko-KR" altLang="en-US" sz="1400" b="1" dirty="0">
                <a:solidFill>
                  <a:schemeClr val="tx1"/>
                </a:solidFill>
              </a:rPr>
              <a:t>년</a:t>
            </a:r>
            <a:r>
              <a:rPr lang="en-US" altLang="ko-KR" sz="1400" b="1" dirty="0">
                <a:solidFill>
                  <a:schemeClr val="tx1"/>
                </a:solidFill>
              </a:rPr>
              <a:t>)</a:t>
            </a:r>
            <a:r>
              <a:rPr lang="ko-KR" altLang="en-US" sz="1400" b="1" dirty="0">
                <a:solidFill>
                  <a:schemeClr val="tx1"/>
                </a:solidFill>
              </a:rPr>
              <a:t>로 충당 가능</a:t>
            </a:r>
            <a:endParaRPr lang="en-US" altLang="ko-KR" sz="14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13420" y="74344"/>
            <a:ext cx="37705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연구장비의 파급성</a:t>
            </a:r>
          </a:p>
        </p:txBody>
      </p:sp>
      <p:grpSp>
        <p:nvGrpSpPr>
          <p:cNvPr id="19" name="그룹 18"/>
          <p:cNvGrpSpPr/>
          <p:nvPr/>
        </p:nvGrpSpPr>
        <p:grpSpPr>
          <a:xfrm>
            <a:off x="7075952" y="6570020"/>
            <a:ext cx="1804196" cy="230832"/>
            <a:chOff x="2335756" y="2268708"/>
            <a:chExt cx="1804196" cy="230832"/>
          </a:xfrm>
        </p:grpSpPr>
        <p:grpSp>
          <p:nvGrpSpPr>
            <p:cNvPr id="20" name="그룹 37"/>
            <p:cNvGrpSpPr/>
            <p:nvPr/>
          </p:nvGrpSpPr>
          <p:grpSpPr>
            <a:xfrm>
              <a:off x="2335756" y="2276872"/>
              <a:ext cx="1804194" cy="222304"/>
              <a:chOff x="1198501" y="5268505"/>
              <a:chExt cx="3589523" cy="716703"/>
            </a:xfrm>
          </p:grpSpPr>
          <p:grpSp>
            <p:nvGrpSpPr>
              <p:cNvPr id="22" name="그룹 20"/>
              <p:cNvGrpSpPr/>
              <p:nvPr/>
            </p:nvGrpSpPr>
            <p:grpSpPr>
              <a:xfrm>
                <a:off x="1198501" y="5268505"/>
                <a:ext cx="581003" cy="692872"/>
                <a:chOff x="1235249" y="2279290"/>
                <a:chExt cx="815801" cy="751574"/>
              </a:xfrm>
            </p:grpSpPr>
            <p:sp>
              <p:nvSpPr>
                <p:cNvPr id="26" name="직사각형 25"/>
                <p:cNvSpPr/>
                <p:nvPr/>
              </p:nvSpPr>
              <p:spPr>
                <a:xfrm>
                  <a:off x="1235249" y="2301255"/>
                  <a:ext cx="684000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tx2">
                        <a:lumMod val="75000"/>
                      </a:schemeClr>
                    </a:gs>
                    <a:gs pos="50000">
                      <a:schemeClr val="tx2">
                        <a:lumMod val="75000"/>
                      </a:schemeClr>
                    </a:gs>
                    <a:gs pos="100000">
                      <a:schemeClr val="tx2"/>
                    </a:gs>
                  </a:gsLst>
                  <a:lin ang="27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600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  <p:sp>
              <p:nvSpPr>
                <p:cNvPr id="27" name="직사각형 26"/>
                <p:cNvSpPr/>
                <p:nvPr/>
              </p:nvSpPr>
              <p:spPr>
                <a:xfrm>
                  <a:off x="1286187" y="2279290"/>
                  <a:ext cx="764863" cy="751574"/>
                </a:xfrm>
                <a:prstGeom prst="rect">
                  <a:avLst/>
                </a:prstGeom>
                <a:gradFill flip="none" rotWithShape="1">
                  <a:gsLst>
                    <a:gs pos="0">
                      <a:srgbClr val="0066CC"/>
                    </a:gs>
                    <a:gs pos="50000">
                      <a:srgbClr val="0066CC"/>
                    </a:gs>
                    <a:gs pos="100000">
                      <a:srgbClr val="0099FF"/>
                    </a:gs>
                  </a:gsLst>
                  <a:lin ang="13500000" scaled="1"/>
                  <a:tileRect/>
                </a:gradFill>
                <a:ln>
                  <a:solidFill>
                    <a:schemeClr val="accent1">
                      <a:shade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ko-KR" sz="900" b="1" dirty="0">
                      <a:latin typeface="나눔명조 ExtraBold" pitchFamily="18" charset="-127"/>
                      <a:ea typeface="나눔명조 ExtraBold" pitchFamily="18" charset="-127"/>
                    </a:rPr>
                    <a:t>II</a:t>
                  </a:r>
                  <a:endParaRPr lang="ko-KR" altLang="en-US" sz="900" b="1" dirty="0">
                    <a:latin typeface="나눔명조 ExtraBold" pitchFamily="18" charset="-127"/>
                    <a:ea typeface="나눔명조 ExtraBold" pitchFamily="18" charset="-127"/>
                  </a:endParaRPr>
                </a:p>
              </p:txBody>
            </p:sp>
          </p:grpSp>
          <p:grpSp>
            <p:nvGrpSpPr>
              <p:cNvPr id="23" name="그룹 23"/>
              <p:cNvGrpSpPr/>
              <p:nvPr/>
            </p:nvGrpSpPr>
            <p:grpSpPr>
              <a:xfrm>
                <a:off x="1907704" y="5301208"/>
                <a:ext cx="2880320" cy="684000"/>
                <a:chOff x="1518892" y="2169692"/>
                <a:chExt cx="6942868" cy="684000"/>
              </a:xfrm>
            </p:grpSpPr>
            <p:sp>
              <p:nvSpPr>
                <p:cNvPr id="24" name="직사각형 23"/>
                <p:cNvSpPr/>
                <p:nvPr/>
              </p:nvSpPr>
              <p:spPr>
                <a:xfrm>
                  <a:off x="1518892" y="2169692"/>
                  <a:ext cx="115962" cy="684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25" name="직사각형 24"/>
                <p:cNvSpPr/>
                <p:nvPr/>
              </p:nvSpPr>
              <p:spPr>
                <a:xfrm>
                  <a:off x="1623668" y="2169692"/>
                  <a:ext cx="6838092" cy="684000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>
                        <a:lumMod val="75000"/>
                        <a:alpha val="61000"/>
                      </a:schemeClr>
                    </a:gs>
                    <a:gs pos="50000">
                      <a:schemeClr val="bg1">
                        <a:lumMod val="75000"/>
                        <a:alpha val="53000"/>
                      </a:schemeClr>
                    </a:gs>
                    <a:gs pos="100000">
                      <a:schemeClr val="bg1">
                        <a:alpha val="4000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</p:grpSp>
        </p:grpSp>
        <p:sp>
          <p:nvSpPr>
            <p:cNvPr id="21" name="직사각형 20"/>
            <p:cNvSpPr/>
            <p:nvPr/>
          </p:nvSpPr>
          <p:spPr>
            <a:xfrm>
              <a:off x="2627784" y="2268708"/>
              <a:ext cx="1512168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연구시설</a:t>
              </a:r>
              <a:r>
                <a:rPr lang="en-US" altLang="ko-KR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·</a:t>
              </a:r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장비의 개요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35" name="모서리가 둥근 직사각형 3"/>
          <p:cNvSpPr/>
          <p:nvPr/>
        </p:nvSpPr>
        <p:spPr>
          <a:xfrm>
            <a:off x="137220" y="1065308"/>
            <a:ext cx="4320480" cy="2435699"/>
          </a:xfrm>
          <a:prstGeom prst="roundRect">
            <a:avLst>
              <a:gd name="adj" fmla="val 4406"/>
            </a:avLst>
          </a:prstGeom>
          <a:noFill/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모서리가 둥근 직사각형 4"/>
          <p:cNvSpPr/>
          <p:nvPr/>
        </p:nvSpPr>
        <p:spPr>
          <a:xfrm>
            <a:off x="819580" y="844712"/>
            <a:ext cx="3024336" cy="440048"/>
          </a:xfrm>
          <a:prstGeom prst="roundRect">
            <a:avLst/>
          </a:prstGeom>
          <a:solidFill>
            <a:srgbClr val="003366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과학기술적 측면</a:t>
            </a:r>
          </a:p>
        </p:txBody>
      </p:sp>
      <p:sp>
        <p:nvSpPr>
          <p:cNvPr id="37" name="모서리가 둥근 직사각형 5"/>
          <p:cNvSpPr/>
          <p:nvPr/>
        </p:nvSpPr>
        <p:spPr>
          <a:xfrm>
            <a:off x="4673724" y="1057308"/>
            <a:ext cx="4320480" cy="2435699"/>
          </a:xfrm>
          <a:prstGeom prst="roundRect">
            <a:avLst>
              <a:gd name="adj" fmla="val 4406"/>
            </a:avLst>
          </a:prstGeom>
          <a:noFill/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모서리가 둥근 직사각형 6"/>
          <p:cNvSpPr/>
          <p:nvPr/>
        </p:nvSpPr>
        <p:spPr>
          <a:xfrm>
            <a:off x="5356084" y="836712"/>
            <a:ext cx="3024336" cy="440048"/>
          </a:xfrm>
          <a:prstGeom prst="roundRect">
            <a:avLst/>
          </a:prstGeom>
          <a:solidFill>
            <a:srgbClr val="003366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ko-KR" altLang="en-US" sz="2000" b="1" dirty="0">
                <a:solidFill>
                  <a:schemeClr val="bg1"/>
                </a:solidFill>
              </a:rPr>
              <a:t>경제적 측면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5604" y="1290477"/>
            <a:ext cx="431209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□ 제조업 고품질 전주기 데이터셋 생산 기반 구축</a:t>
            </a:r>
            <a:endParaRPr lang="en-US" altLang="ko-KR" sz="1400" b="1" dirty="0"/>
          </a:p>
          <a:p>
            <a:pPr marL="171450" indent="-171450">
              <a:buFont typeface="MS Gothic" panose="020B0609070205080204" pitchFamily="49" charset="-128"/>
              <a:buChar char="-"/>
            </a:pPr>
            <a:r>
              <a:rPr lang="ko-KR" altLang="en-US" sz="1200" dirty="0"/>
              <a:t>소재개발 전주기 이력 정보가 담긴 완전한 형태의 데이터셋 생산 시설 구축</a:t>
            </a:r>
            <a:endParaRPr lang="en-US" altLang="ko-KR" sz="1200" dirty="0"/>
          </a:p>
          <a:p>
            <a:pPr marL="171450" indent="-171450">
              <a:buFont typeface="MS Gothic" panose="020B0609070205080204" pitchFamily="49" charset="-128"/>
              <a:buChar char="-"/>
            </a:pPr>
            <a:r>
              <a:rPr lang="ko-KR" altLang="en-US" sz="1200" dirty="0"/>
              <a:t>고품질 전주기 데이터의 생성</a:t>
            </a:r>
            <a:r>
              <a:rPr lang="en-US" altLang="ko-KR" sz="1200" dirty="0"/>
              <a:t>‧</a:t>
            </a:r>
            <a:r>
              <a:rPr lang="ko-KR" altLang="en-US" sz="1200" dirty="0"/>
              <a:t>축적</a:t>
            </a:r>
            <a:r>
              <a:rPr lang="en-US" altLang="ko-KR" sz="1200" dirty="0"/>
              <a:t>‧</a:t>
            </a:r>
            <a:r>
              <a:rPr lang="ko-KR" altLang="en-US" sz="1200" dirty="0"/>
              <a:t>활용을 위한 체계적 여건 마련</a:t>
            </a:r>
            <a:endParaRPr lang="en-US" altLang="ko-KR" sz="1400" b="1" dirty="0"/>
          </a:p>
        </p:txBody>
      </p:sp>
      <p:sp>
        <p:nvSpPr>
          <p:cNvPr id="40" name="모서리가 둥근 직사각형 9"/>
          <p:cNvSpPr/>
          <p:nvPr/>
        </p:nvSpPr>
        <p:spPr>
          <a:xfrm>
            <a:off x="145604" y="3851904"/>
            <a:ext cx="4320480" cy="2609432"/>
          </a:xfrm>
          <a:prstGeom prst="roundRect">
            <a:avLst>
              <a:gd name="adj" fmla="val 4406"/>
            </a:avLst>
          </a:prstGeom>
          <a:noFill/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모서리가 둥근 직사각형 10"/>
          <p:cNvSpPr/>
          <p:nvPr/>
        </p:nvSpPr>
        <p:spPr>
          <a:xfrm>
            <a:off x="827964" y="3631307"/>
            <a:ext cx="3024336" cy="440048"/>
          </a:xfrm>
          <a:prstGeom prst="roundRect">
            <a:avLst/>
          </a:prstGeom>
          <a:solidFill>
            <a:srgbClr val="003366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사회적 측면</a:t>
            </a:r>
          </a:p>
        </p:txBody>
      </p:sp>
      <p:sp>
        <p:nvSpPr>
          <p:cNvPr id="42" name="모서리가 둥근 직사각형 11"/>
          <p:cNvSpPr/>
          <p:nvPr/>
        </p:nvSpPr>
        <p:spPr>
          <a:xfrm>
            <a:off x="4682108" y="3843904"/>
            <a:ext cx="4320480" cy="2609432"/>
          </a:xfrm>
          <a:prstGeom prst="roundRect">
            <a:avLst>
              <a:gd name="adj" fmla="val 4406"/>
            </a:avLst>
          </a:prstGeom>
          <a:noFill/>
          <a:ln w="127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모서리가 둥근 직사각형 12"/>
          <p:cNvSpPr/>
          <p:nvPr/>
        </p:nvSpPr>
        <p:spPr>
          <a:xfrm>
            <a:off x="5364468" y="3623307"/>
            <a:ext cx="3024336" cy="440048"/>
          </a:xfrm>
          <a:prstGeom prst="roundRect">
            <a:avLst/>
          </a:prstGeom>
          <a:solidFill>
            <a:srgbClr val="003366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r>
              <a:rPr lang="ko-KR" altLang="en-US" sz="2000" b="1" dirty="0">
                <a:solidFill>
                  <a:schemeClr val="bg1"/>
                </a:solidFill>
              </a:rPr>
              <a:t>지역적 측면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9425" y="2370597"/>
            <a:ext cx="431209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□ 데이터 중심 제조업 기술혁신을 위한 기반 조성</a:t>
            </a:r>
          </a:p>
          <a:p>
            <a:pPr marL="171450" indent="-171450">
              <a:buFont typeface="MS Gothic" panose="020B0609070205080204" pitchFamily="49" charset="-128"/>
              <a:buChar char="-"/>
            </a:pPr>
            <a:r>
              <a:rPr lang="ko-KR" altLang="en-US" sz="1200" dirty="0"/>
              <a:t>전산해석과 연계하여 첨단 공정 설계 및 최적화 기술 확보</a:t>
            </a:r>
            <a:endParaRPr lang="en-US" altLang="ko-KR" sz="1200" dirty="0"/>
          </a:p>
          <a:p>
            <a:pPr marL="171450" indent="-171450">
              <a:buFont typeface="MS Gothic" panose="020B0609070205080204" pitchFamily="49" charset="-128"/>
              <a:buChar char="-"/>
            </a:pPr>
            <a:r>
              <a:rPr lang="ko-KR" altLang="en-US" sz="1200" dirty="0"/>
              <a:t>데이터</a:t>
            </a:r>
            <a:r>
              <a:rPr lang="en-US" altLang="ko-KR" sz="1200" dirty="0"/>
              <a:t>·</a:t>
            </a:r>
            <a:r>
              <a:rPr lang="ko-KR" altLang="en-US" sz="1200" dirty="0"/>
              <a:t>인공지능 중심의 소재개발 가속화 위한 인공지능 서비스 플랫폼 구축</a:t>
            </a:r>
            <a:endParaRPr lang="en-US" altLang="ko-KR" sz="1400" dirty="0"/>
          </a:p>
        </p:txBody>
      </p:sp>
      <p:sp>
        <p:nvSpPr>
          <p:cNvPr id="45" name="TextBox 44"/>
          <p:cNvSpPr txBox="1"/>
          <p:nvPr/>
        </p:nvSpPr>
        <p:spPr>
          <a:xfrm>
            <a:off x="4690492" y="1320433"/>
            <a:ext cx="431209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□ 신소재</a:t>
            </a:r>
            <a:r>
              <a:rPr lang="en-US" altLang="ko-KR" sz="1400" b="1" dirty="0"/>
              <a:t>·</a:t>
            </a:r>
            <a:r>
              <a:rPr lang="ko-KR" altLang="en-US" sz="1400" b="1" dirty="0"/>
              <a:t>부품에 대한 시장 진입장벽을 낮추기</a:t>
            </a:r>
          </a:p>
          <a:p>
            <a:pPr marL="171450" indent="-171450">
              <a:buFont typeface="MS Gothic" panose="020B0609070205080204" pitchFamily="49" charset="-128"/>
              <a:buChar char="-"/>
            </a:pPr>
            <a:r>
              <a:rPr lang="ko-KR" altLang="en-US" sz="1200" dirty="0"/>
              <a:t>데이터 팩토리를 통해 기업 지원에 활용 가능한 고품질 전주기 데이터베이스 구축</a:t>
            </a:r>
            <a:endParaRPr lang="en-US" altLang="ko-KR" sz="1200" dirty="0"/>
          </a:p>
          <a:p>
            <a:pPr marL="171450" indent="-171450">
              <a:buFont typeface="MS Gothic" panose="020B0609070205080204" pitchFamily="49" charset="-128"/>
              <a:buChar char="-"/>
            </a:pPr>
            <a:r>
              <a:rPr lang="ko-KR" altLang="en-US" sz="1200" dirty="0"/>
              <a:t>소재</a:t>
            </a:r>
            <a:r>
              <a:rPr lang="en-US" altLang="ko-KR" sz="1200" dirty="0"/>
              <a:t>·</a:t>
            </a:r>
            <a:r>
              <a:rPr lang="ko-KR" altLang="en-US" sz="1200" dirty="0"/>
              <a:t>부품 개발에 필요한 시간과 비용 절감을 위한 공정 설계 자동화와 같은 인공지능 기술 개발 및 보급화</a:t>
            </a:r>
            <a:endParaRPr lang="en-US" altLang="ko-KR" sz="1200" dirty="0"/>
          </a:p>
        </p:txBody>
      </p:sp>
      <p:sp>
        <p:nvSpPr>
          <p:cNvPr id="46" name="TextBox 45"/>
          <p:cNvSpPr txBox="1"/>
          <p:nvPr/>
        </p:nvSpPr>
        <p:spPr>
          <a:xfrm>
            <a:off x="4674313" y="2400553"/>
            <a:ext cx="431209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□ 제조업 신사업 창출을 위한 기초 마련</a:t>
            </a:r>
          </a:p>
          <a:p>
            <a:pPr marL="171450" indent="-171450">
              <a:buFont typeface="MS Gothic" panose="020B0609070205080204" pitchFamily="49" charset="-128"/>
              <a:buChar char="-"/>
            </a:pPr>
            <a:r>
              <a:rPr lang="ko-KR" altLang="en-US" sz="1200" dirty="0"/>
              <a:t>신사업에 활용된 신제품 개발 혹은 시제품 제작에 필요한 데이터 지속적으로 생산</a:t>
            </a:r>
            <a:endParaRPr lang="en-US" altLang="ko-KR" sz="1200" dirty="0"/>
          </a:p>
          <a:p>
            <a:pPr marL="171450" indent="-171450">
              <a:buFont typeface="MS Gothic" panose="020B0609070205080204" pitchFamily="49" charset="-128"/>
              <a:buChar char="-"/>
            </a:pPr>
            <a:r>
              <a:rPr lang="ko-KR" altLang="en-US" sz="1200" dirty="0"/>
              <a:t>미래 제조업의 비즈니스 모델 창출을 위한 개방형 데이터베이스와 인공지능 서비스 도출</a:t>
            </a:r>
            <a:endParaRPr lang="en-US" altLang="ko-KR" sz="1200" dirty="0"/>
          </a:p>
        </p:txBody>
      </p:sp>
      <p:sp>
        <p:nvSpPr>
          <p:cNvPr id="47" name="TextBox 46"/>
          <p:cNvSpPr txBox="1"/>
          <p:nvPr/>
        </p:nvSpPr>
        <p:spPr>
          <a:xfrm>
            <a:off x="154964" y="4095819"/>
            <a:ext cx="431209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□ 선진국형 소재강국 실현을 위한 기반 구축</a:t>
            </a:r>
            <a:endParaRPr lang="en-US" altLang="ko-KR" sz="1400" b="1" dirty="0"/>
          </a:p>
          <a:p>
            <a:pPr marL="171450" indent="-171450">
              <a:buFont typeface="MS Gothic" panose="020B0609070205080204" pitchFamily="49" charset="-128"/>
              <a:buChar char="-"/>
            </a:pPr>
            <a:r>
              <a:rPr lang="ko-KR" altLang="en-US" sz="1200" dirty="0"/>
              <a:t>데이터 팩토리 기반 데이터</a:t>
            </a:r>
            <a:r>
              <a:rPr lang="en-US" altLang="ko-KR" sz="1200" dirty="0"/>
              <a:t>·</a:t>
            </a:r>
            <a:r>
              <a:rPr lang="ko-KR" altLang="en-US" sz="1200" dirty="0"/>
              <a:t>인공지능 인프라 확충과 빅데이터 구축을 통한 세계 소재부품개발 경쟁력 강화</a:t>
            </a:r>
            <a:endParaRPr lang="en-US" altLang="ko-KR" sz="1200" dirty="0"/>
          </a:p>
          <a:p>
            <a:pPr marL="171450" indent="-171450">
              <a:buFont typeface="MS Gothic" panose="020B0609070205080204" pitchFamily="49" charset="-128"/>
              <a:buChar char="-"/>
            </a:pPr>
            <a:r>
              <a:rPr lang="ko-KR" altLang="en-US" sz="1200" dirty="0"/>
              <a:t>세계적으로도 거의 없는 소재개발 전주기 이력 정보다 담긴 데이터베이스와 기업지원형 데이터 생산 시설 확보</a:t>
            </a:r>
            <a:endParaRPr lang="en-US" altLang="ko-KR" sz="1400" b="1" dirty="0"/>
          </a:p>
        </p:txBody>
      </p:sp>
      <p:sp>
        <p:nvSpPr>
          <p:cNvPr id="48" name="TextBox 47"/>
          <p:cNvSpPr txBox="1"/>
          <p:nvPr/>
        </p:nvSpPr>
        <p:spPr>
          <a:xfrm>
            <a:off x="138785" y="5175939"/>
            <a:ext cx="4312096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□ 제조업 인공지능 관련 고용 창출 기여</a:t>
            </a:r>
          </a:p>
          <a:p>
            <a:pPr marL="171450" indent="-171450">
              <a:buFont typeface="MS Gothic" panose="020B0609070205080204" pitchFamily="49" charset="-128"/>
              <a:buChar char="-"/>
            </a:pPr>
            <a:r>
              <a:rPr lang="ko-KR" altLang="en-US" sz="1200" dirty="0"/>
              <a:t>소재 제조업 데이터베이스 개방과 인공지능 교육 지원을 통한 제조업 인공지능 전문 인력 양성으로 고용 창출 기여</a:t>
            </a:r>
            <a:endParaRPr lang="en-US" altLang="ko-KR" sz="1200" dirty="0"/>
          </a:p>
          <a:p>
            <a:pPr marL="171450" indent="-171450">
              <a:buFont typeface="MS Gothic" panose="020B0609070205080204" pitchFamily="49" charset="-128"/>
              <a:buChar char="-"/>
            </a:pPr>
            <a:r>
              <a:rPr lang="ko-KR" altLang="en-US" sz="1200" dirty="0"/>
              <a:t>개방형 데이터베이스와 인공지능 플랫폼을 활용한 데이터</a:t>
            </a:r>
            <a:r>
              <a:rPr lang="en-US" altLang="ko-KR" sz="1200" dirty="0"/>
              <a:t>·</a:t>
            </a:r>
            <a:r>
              <a:rPr lang="ko-KR" altLang="en-US" sz="1200" dirty="0"/>
              <a:t>인공지능과 소재 제조업 융합 사업 확장을 통해 일자리 창출에 기여</a:t>
            </a:r>
            <a:endParaRPr lang="en-US" altLang="ko-KR" sz="1200" dirty="0"/>
          </a:p>
        </p:txBody>
      </p:sp>
      <p:sp>
        <p:nvSpPr>
          <p:cNvPr id="49" name="TextBox 48"/>
          <p:cNvSpPr txBox="1"/>
          <p:nvPr/>
        </p:nvSpPr>
        <p:spPr>
          <a:xfrm>
            <a:off x="4699852" y="4125775"/>
            <a:ext cx="431209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□ 동남권 산학연의 인공지능 인프라 확충 기여</a:t>
            </a:r>
          </a:p>
          <a:p>
            <a:pPr marL="171450" indent="-171450">
              <a:buFont typeface="MS Gothic" panose="020B0609070205080204" pitchFamily="49" charset="-128"/>
              <a:buChar char="-"/>
            </a:pPr>
            <a:r>
              <a:rPr lang="ko-KR" altLang="en-US" sz="1200" dirty="0"/>
              <a:t>데이터 팩토리 활용 서비스로 산학연의 소재개발 및 공정 설계를 위한 인공지능 연구 지원</a:t>
            </a:r>
            <a:endParaRPr lang="en-US" altLang="ko-KR" sz="1200" dirty="0"/>
          </a:p>
          <a:p>
            <a:pPr marL="171450" indent="-171450">
              <a:buFont typeface="MS Gothic" panose="020B0609070205080204" pitchFamily="49" charset="-128"/>
              <a:buChar char="-"/>
            </a:pPr>
            <a:r>
              <a:rPr lang="ko-KR" altLang="en-US" sz="1200" dirty="0"/>
              <a:t>개방형 데이터베이스와 인공지능 서비스 플랫폼 활용을 위한 전문 교육 및 지원으로 인공지능 전문가 양성</a:t>
            </a:r>
            <a:endParaRPr lang="en-US" altLang="ko-KR" sz="1200" dirty="0"/>
          </a:p>
        </p:txBody>
      </p:sp>
      <p:sp>
        <p:nvSpPr>
          <p:cNvPr id="50" name="TextBox 49"/>
          <p:cNvSpPr txBox="1"/>
          <p:nvPr/>
        </p:nvSpPr>
        <p:spPr>
          <a:xfrm>
            <a:off x="4683673" y="5205895"/>
            <a:ext cx="431209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/>
              <a:t>□ 동남권 관련 사업 추진 및 지원</a:t>
            </a:r>
          </a:p>
          <a:p>
            <a:pPr marL="171450" indent="-171450">
              <a:buFont typeface="MS Gothic" panose="020B0609070205080204" pitchFamily="49" charset="-128"/>
              <a:buChar char="-"/>
            </a:pPr>
            <a:r>
              <a:rPr lang="ko-KR" altLang="en-US" sz="1200" dirty="0"/>
              <a:t>연관기업 및 관내 학연과의 협업을 통한 데이터 기반 소재개발 사업 추진</a:t>
            </a:r>
            <a:endParaRPr lang="en-US" altLang="ko-KR" sz="1200" dirty="0"/>
          </a:p>
          <a:p>
            <a:pPr marL="171450" indent="-171450">
              <a:buFont typeface="MS Gothic" panose="020B0609070205080204" pitchFamily="49" charset="-128"/>
              <a:buChar char="-"/>
            </a:pPr>
            <a:r>
              <a:rPr lang="ko-KR" altLang="en-US" sz="1200" dirty="0"/>
              <a:t>연관 기업에서 데이터 기반 소재개발 사업 추진 혹은 </a:t>
            </a:r>
            <a:r>
              <a:rPr lang="ko-KR" altLang="en-US" sz="1200" dirty="0" err="1"/>
              <a:t>진행시</a:t>
            </a:r>
            <a:r>
              <a:rPr lang="ko-KR" altLang="en-US" sz="1200" dirty="0"/>
              <a:t> 기술지원</a:t>
            </a:r>
            <a:endParaRPr lang="en-US" altLang="ko-KR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204575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향후 계획</a:t>
            </a:r>
          </a:p>
        </p:txBody>
      </p:sp>
      <p:graphicFrame>
        <p:nvGraphicFramePr>
          <p:cNvPr id="4" name="Group 269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6267513"/>
              </p:ext>
            </p:extLst>
          </p:nvPr>
        </p:nvGraphicFramePr>
        <p:xfrm>
          <a:off x="899592" y="1700808"/>
          <a:ext cx="7272808" cy="4317752"/>
        </p:xfrm>
        <a:graphic>
          <a:graphicData uri="http://schemas.openxmlformats.org/drawingml/2006/table">
            <a:tbl>
              <a:tblPr/>
              <a:tblGrid>
                <a:gridCol w="11617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014">
                  <a:extLst>
                    <a:ext uri="{9D8B030D-6E8A-4147-A177-3AD203B41FA5}">
                      <a16:colId xmlns:a16="http://schemas.microsoft.com/office/drawing/2014/main" val="2911073664"/>
                    </a:ext>
                  </a:extLst>
                </a:gridCol>
                <a:gridCol w="5630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3014">
                  <a:extLst>
                    <a:ext uri="{9D8B030D-6E8A-4147-A177-3AD203B41FA5}">
                      <a16:colId xmlns:a16="http://schemas.microsoft.com/office/drawing/2014/main" val="620386362"/>
                    </a:ext>
                  </a:extLst>
                </a:gridCol>
                <a:gridCol w="749640">
                  <a:extLst>
                    <a:ext uri="{9D8B030D-6E8A-4147-A177-3AD203B41FA5}">
                      <a16:colId xmlns:a16="http://schemas.microsoft.com/office/drawing/2014/main" val="1244754032"/>
                    </a:ext>
                  </a:extLst>
                </a:gridCol>
                <a:gridCol w="4697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9701">
                  <a:extLst>
                    <a:ext uri="{9D8B030D-6E8A-4147-A177-3AD203B41FA5}">
                      <a16:colId xmlns:a16="http://schemas.microsoft.com/office/drawing/2014/main" val="1264307815"/>
                    </a:ext>
                  </a:extLst>
                </a:gridCol>
                <a:gridCol w="273300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788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         </a:t>
                      </a: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 분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내 용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2021</a:t>
                      </a: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년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2022</a:t>
                      </a: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년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비고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88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9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10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3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구매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발주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구매처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한국재료연구원</a:t>
                      </a: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발주처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한국재료연구원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3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최종검수 等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최종검수 날짜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계약일로부터 약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개월 안에 입고 전 검수 가능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3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입고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입고 날짜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계약일로부터 약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개월 안에 입고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3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조립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설치</a:t>
                      </a:r>
                      <a:endParaRPr kumimoji="1" lang="en-US" altLang="ko-KR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(Set Up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기간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조립기간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‘21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말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~ ‘22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년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 초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6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설치기간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: ’21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년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12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월 말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~ ’22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년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2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월 초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3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완료 및 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NTIS </a:t>
                      </a: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등록</a:t>
                      </a: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 예정일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장비 설치 후 약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1-3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 이내</a:t>
                      </a:r>
                    </a:p>
                    <a:p>
                      <a:pPr marL="0" marR="0" indent="0" algn="l" fontAlgn="base" latinLnBrk="0">
                        <a:lnSpc>
                          <a:spcPct val="16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NTIS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 예정일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: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완료 직후</a:t>
                      </a:r>
                    </a:p>
                  </a:txBody>
                  <a:tcPr marL="64770" marR="64770" marT="17907" marB="179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032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운용 및 활용</a:t>
                      </a: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FF9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0000" marR="90000" marT="46800" marB="4680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Box 173"/>
          <p:cNvSpPr txBox="1">
            <a:spLocks noChangeArrowheads="1"/>
          </p:cNvSpPr>
          <p:nvPr/>
        </p:nvSpPr>
        <p:spPr bwMode="auto">
          <a:xfrm>
            <a:off x="7984306" y="1207095"/>
            <a:ext cx="6921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ko-KR" altLang="en-US" sz="1000" b="1" dirty="0">
                <a:latin typeface="+mn-ea"/>
              </a:rPr>
              <a:t>진행계획</a:t>
            </a:r>
          </a:p>
        </p:txBody>
      </p:sp>
      <p:sp>
        <p:nvSpPr>
          <p:cNvPr id="17" name="오른쪽 화살표 16"/>
          <p:cNvSpPr/>
          <p:nvPr/>
        </p:nvSpPr>
        <p:spPr>
          <a:xfrm>
            <a:off x="7524328" y="1196752"/>
            <a:ext cx="509389" cy="28803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grpSp>
        <p:nvGrpSpPr>
          <p:cNvPr id="22" name="그룹 21"/>
          <p:cNvGrpSpPr/>
          <p:nvPr/>
        </p:nvGrpSpPr>
        <p:grpSpPr>
          <a:xfrm>
            <a:off x="7594868" y="6570020"/>
            <a:ext cx="1312472" cy="230832"/>
            <a:chOff x="7075952" y="6570020"/>
            <a:chExt cx="1312472" cy="230832"/>
          </a:xfrm>
        </p:grpSpPr>
        <p:grpSp>
          <p:nvGrpSpPr>
            <p:cNvPr id="14" name="그룹 20"/>
            <p:cNvGrpSpPr/>
            <p:nvPr/>
          </p:nvGrpSpPr>
          <p:grpSpPr>
            <a:xfrm>
              <a:off x="7075952" y="6578184"/>
              <a:ext cx="319423" cy="214912"/>
              <a:chOff x="1235249" y="2279290"/>
              <a:chExt cx="1051410" cy="751574"/>
            </a:xfrm>
          </p:grpSpPr>
          <p:sp>
            <p:nvSpPr>
              <p:cNvPr id="20" name="직사각형 19"/>
              <p:cNvSpPr/>
              <p:nvPr/>
            </p:nvSpPr>
            <p:spPr>
              <a:xfrm>
                <a:off x="1235249" y="2301255"/>
                <a:ext cx="684000" cy="684000"/>
              </a:xfrm>
              <a:prstGeom prst="rect">
                <a:avLst/>
              </a:prstGeom>
              <a:gradFill flip="none" rotWithShape="1">
                <a:gsLst>
                  <a:gs pos="0">
                    <a:schemeClr val="tx2">
                      <a:lumMod val="75000"/>
                    </a:schemeClr>
                  </a:gs>
                  <a:gs pos="50000">
                    <a:schemeClr val="tx2">
                      <a:lumMod val="75000"/>
                    </a:schemeClr>
                  </a:gs>
                  <a:gs pos="100000">
                    <a:schemeClr val="tx2"/>
                  </a:gs>
                </a:gsLst>
                <a:lin ang="27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명조 ExtraBold" pitchFamily="18" charset="-127"/>
                  <a:ea typeface="나눔명조 ExtraBold" pitchFamily="18" charset="-127"/>
                </a:endParaRPr>
              </a:p>
            </p:txBody>
          </p:sp>
          <p:sp>
            <p:nvSpPr>
              <p:cNvPr id="21" name="직사각형 20"/>
              <p:cNvSpPr/>
              <p:nvPr/>
            </p:nvSpPr>
            <p:spPr>
              <a:xfrm>
                <a:off x="1286187" y="2279290"/>
                <a:ext cx="1000472" cy="751574"/>
              </a:xfrm>
              <a:prstGeom prst="rect">
                <a:avLst/>
              </a:prstGeom>
              <a:gradFill flip="none" rotWithShape="1">
                <a:gsLst>
                  <a:gs pos="0">
                    <a:srgbClr val="0066CC"/>
                  </a:gs>
                  <a:gs pos="50000">
                    <a:srgbClr val="0066CC"/>
                  </a:gs>
                  <a:gs pos="100000">
                    <a:srgbClr val="0099FF"/>
                  </a:gs>
                </a:gsLst>
                <a:lin ang="13500000" scaled="1"/>
                <a:tileRect/>
              </a:gradFill>
              <a:ln>
                <a:solidFill>
                  <a:schemeClr val="accent1">
                    <a:shade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900" b="1" dirty="0">
                    <a:latin typeface="나눔명조 ExtraBold" pitchFamily="18" charset="-127"/>
                    <a:ea typeface="나눔명조 ExtraBold" pitchFamily="18" charset="-127"/>
                  </a:rPr>
                  <a:t>III</a:t>
                </a:r>
                <a:endParaRPr lang="ko-KR" altLang="en-US" sz="900" b="1" dirty="0">
                  <a:latin typeface="나눔명조 ExtraBold" pitchFamily="18" charset="-127"/>
                  <a:ea typeface="나눔명조 ExtraBold" pitchFamily="18" charset="-127"/>
                </a:endParaRPr>
              </a:p>
            </p:txBody>
          </p:sp>
        </p:grpSp>
        <p:grpSp>
          <p:nvGrpSpPr>
            <p:cNvPr id="15" name="그룹 23"/>
            <p:cNvGrpSpPr/>
            <p:nvPr/>
          </p:nvGrpSpPr>
          <p:grpSpPr>
            <a:xfrm>
              <a:off x="7378483" y="6588328"/>
              <a:ext cx="865925" cy="212160"/>
              <a:chOff x="1518892" y="2169692"/>
              <a:chExt cx="7334389" cy="684000"/>
            </a:xfrm>
          </p:grpSpPr>
          <p:sp>
            <p:nvSpPr>
              <p:cNvPr id="18" name="직사각형 17"/>
              <p:cNvSpPr/>
              <p:nvPr/>
            </p:nvSpPr>
            <p:spPr>
              <a:xfrm>
                <a:off x="1518892" y="2169692"/>
                <a:ext cx="115962" cy="6840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2015189" y="2169692"/>
                <a:ext cx="6838092" cy="684000"/>
              </a:xfrm>
              <a:prstGeom prst="rect">
                <a:avLst/>
              </a:prstGeom>
              <a:gradFill flip="none" rotWithShape="1">
                <a:gsLst>
                  <a:gs pos="0">
                    <a:schemeClr val="bg1">
                      <a:lumMod val="75000"/>
                      <a:alpha val="61000"/>
                    </a:schemeClr>
                  </a:gs>
                  <a:gs pos="50000">
                    <a:schemeClr val="bg1">
                      <a:lumMod val="75000"/>
                      <a:alpha val="53000"/>
                    </a:schemeClr>
                  </a:gs>
                  <a:gs pos="100000">
                    <a:schemeClr val="bg1">
                      <a:alpha val="40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 dirty="0"/>
              </a:p>
            </p:txBody>
          </p:sp>
        </p:grpSp>
        <p:sp>
          <p:nvSpPr>
            <p:cNvPr id="12" name="직사각형 11"/>
            <p:cNvSpPr/>
            <p:nvPr/>
          </p:nvSpPr>
          <p:spPr>
            <a:xfrm>
              <a:off x="7474112" y="6570020"/>
              <a:ext cx="914312" cy="230832"/>
            </a:xfrm>
            <a:prstGeom prst="rect">
              <a:avLst/>
            </a:prstGeom>
          </p:spPr>
          <p:txBody>
            <a:bodyPr wrap="square" anchor="ctr" anchorCtr="1">
              <a:spAutoFit/>
            </a:bodyPr>
            <a:lstStyle/>
            <a:p>
              <a:r>
                <a:rPr lang="ko-KR" altLang="en-US" sz="900" b="1" dirty="0">
                  <a:ln w="3175" cmpd="sng">
                    <a:noFill/>
                    <a:prstDash val="solid"/>
                  </a:ln>
                  <a:gradFill flip="none" rotWithShape="1">
                    <a:gsLst>
                      <a:gs pos="0">
                        <a:schemeClr val="tx2">
                          <a:lumMod val="50000"/>
                        </a:schemeClr>
                      </a:gs>
                      <a:gs pos="50000">
                        <a:srgbClr val="0066CC">
                          <a:shade val="67500"/>
                          <a:satMod val="115000"/>
                        </a:srgbClr>
                      </a:gs>
                      <a:gs pos="100000">
                        <a:srgbClr val="0066CC">
                          <a:shade val="100000"/>
                          <a:satMod val="115000"/>
                        </a:srgbClr>
                      </a:gs>
                    </a:gsLst>
                    <a:lin ang="5400000" scaled="1"/>
                    <a:tileRect/>
                  </a:gradFill>
                  <a:latin typeface="나눔고딕 ExtraBold" pitchFamily="50" charset="-127"/>
                  <a:ea typeface="나눔고딕 ExtraBold" pitchFamily="50" charset="-127"/>
                </a:rPr>
                <a:t>기 타</a:t>
              </a:r>
              <a:endParaRPr lang="ko-KR" altLang="en-US" sz="900" b="1" dirty="0">
                <a:latin typeface="나눔고딕 ExtraBold" pitchFamily="50" charset="-127"/>
                <a:ea typeface="나눔고딕 ExtraBold" pitchFamily="50" charset="-127"/>
              </a:endParaRPr>
            </a:p>
          </p:txBody>
        </p:sp>
      </p:grpSp>
      <p:sp>
        <p:nvSpPr>
          <p:cNvPr id="23" name="오른쪽 화살표 15"/>
          <p:cNvSpPr/>
          <p:nvPr/>
        </p:nvSpPr>
        <p:spPr>
          <a:xfrm>
            <a:off x="2171188" y="2492896"/>
            <a:ext cx="888644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오른쪽 화살표 15"/>
          <p:cNvSpPr/>
          <p:nvPr/>
        </p:nvSpPr>
        <p:spPr>
          <a:xfrm>
            <a:off x="3059831" y="3090741"/>
            <a:ext cx="648073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오른쪽 화살표 15"/>
          <p:cNvSpPr/>
          <p:nvPr/>
        </p:nvSpPr>
        <p:spPr>
          <a:xfrm>
            <a:off x="3707903" y="3666603"/>
            <a:ext cx="1314671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오른쪽 화살표 15"/>
          <p:cNvSpPr/>
          <p:nvPr/>
        </p:nvSpPr>
        <p:spPr>
          <a:xfrm>
            <a:off x="4932040" y="4293096"/>
            <a:ext cx="216024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오른쪽 화살표 15"/>
          <p:cNvSpPr/>
          <p:nvPr/>
        </p:nvSpPr>
        <p:spPr>
          <a:xfrm>
            <a:off x="5022575" y="4919485"/>
            <a:ext cx="394994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오른쪽 화살표 15"/>
          <p:cNvSpPr/>
          <p:nvPr/>
        </p:nvSpPr>
        <p:spPr>
          <a:xfrm>
            <a:off x="5022575" y="5489253"/>
            <a:ext cx="394994" cy="4320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감사합니다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53326" y="2662227"/>
            <a:ext cx="4437348" cy="1050948"/>
          </a:xfrm>
          <a:prstGeom prst="rect">
            <a:avLst/>
          </a:prstGeom>
          <a:noFill/>
        </p:spPr>
      </p:pic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747672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별 첨 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1: </a:t>
            </a: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연계 가능한 정부 전략 및 비전 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2476631"/>
              </p:ext>
            </p:extLst>
          </p:nvPr>
        </p:nvGraphicFramePr>
        <p:xfrm>
          <a:off x="323528" y="908720"/>
          <a:ext cx="8496944" cy="5256583"/>
        </p:xfrm>
        <a:graphic>
          <a:graphicData uri="http://schemas.openxmlformats.org/drawingml/2006/table">
            <a:tbl>
              <a:tblPr/>
              <a:tblGrid>
                <a:gridCol w="2371315">
                  <a:extLst>
                    <a:ext uri="{9D8B030D-6E8A-4147-A177-3AD203B41FA5}">
                      <a16:colId xmlns:a16="http://schemas.microsoft.com/office/drawing/2014/main" val="2073458210"/>
                    </a:ext>
                  </a:extLst>
                </a:gridCol>
                <a:gridCol w="5131593">
                  <a:extLst>
                    <a:ext uri="{9D8B030D-6E8A-4147-A177-3AD203B41FA5}">
                      <a16:colId xmlns:a16="http://schemas.microsoft.com/office/drawing/2014/main" val="1101706358"/>
                    </a:ext>
                  </a:extLst>
                </a:gridCol>
                <a:gridCol w="994036">
                  <a:extLst>
                    <a:ext uri="{9D8B030D-6E8A-4147-A177-3AD203B41FA5}">
                      <a16:colId xmlns:a16="http://schemas.microsoft.com/office/drawing/2014/main" val="2158223600"/>
                    </a:ext>
                  </a:extLst>
                </a:gridCol>
              </a:tblGrid>
              <a:tr h="36529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구분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주요 내용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소관 부처</a:t>
                      </a:r>
                      <a:endParaRPr lang="ko-KR" altLang="en-US" sz="1100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978146"/>
                  </a:ext>
                </a:extLst>
              </a:tr>
              <a:tr h="59539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제조업 르네상스 비전 선포 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(‘19.6)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ㅇ 신산업 육성 및 주력산업 혁신</a:t>
                      </a:r>
                    </a:p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ㅇ 소재부품장비 디지털 시뮬레이션 플랫폼 구축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관계부처 합동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2373664"/>
                  </a:ext>
                </a:extLst>
              </a:tr>
              <a:tr h="51909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산업기술 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R&amp;BD 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전략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(‘18.4)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ㅇ 수송기기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헬스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스마트전자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스마트제조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에너지신업의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 미래 신산업에 우선투자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첨단소재는 기반투자 분야로 추진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산업부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1360202"/>
                  </a:ext>
                </a:extLst>
              </a:tr>
              <a:tr h="866993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새정부의 산업정책</a:t>
                      </a:r>
                    </a:p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방향</a:t>
                      </a: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(‘17)</a:t>
                      </a:r>
                      <a:endParaRPr lang="ko-KR" altLang="en-US" sz="10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ㅇ 제조업을 중심으로 구조적 문제점과 시대적 요구 해결을 위한 새로운 산업정책 제시</a:t>
                      </a:r>
                    </a:p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ㅇ 함께 가치를 창출하는 업종별 상생협력과 주력산업 성장활력 회복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산업부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3186772"/>
                  </a:ext>
                </a:extLst>
              </a:tr>
              <a:tr h="51909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문정부 </a:t>
                      </a: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r>
                        <a:rPr lang="ko-KR" altLang="en-US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 국정과제</a:t>
                      </a:r>
                      <a:r>
                        <a:rPr lang="en-US" altLang="ko-KR" sz="1000" b="1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(‘17)</a:t>
                      </a:r>
                      <a:endParaRPr lang="ko-KR" altLang="en-US" sz="1000" b="1" kern="0" spc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ㅇ 고부가가치 창출 미래형 신산업 발굴・육성이 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 국정과제에 포함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산업부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80360991"/>
                  </a:ext>
                </a:extLst>
              </a:tr>
              <a:tr h="757131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 신산업 육성정략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(‘17)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ㅇ 전기・자율차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스마트・친환경 선박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en-US" altLang="ko-KR" sz="1000" kern="0" spc="0" dirty="0" err="1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IoT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항공・드론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로봇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헬스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프리미엄 소비재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첨단소재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AR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・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VR,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차세대 반도체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차세대 디스플레이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에너지신산업 육성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산업부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7521730"/>
                  </a:ext>
                </a:extLst>
              </a:tr>
              <a:tr h="51909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2017 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소재부품 기술기반 혁신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(‘17)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ㅇ 미래형 인프라 ‘가상공학 플랫폼’ 추진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산업부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83213652"/>
                  </a:ext>
                </a:extLst>
              </a:tr>
              <a:tr h="595390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 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소재・부품 발전 기본계획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(‘16)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ㅇ 사물인터넷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로봇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빅데이터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AI, 3D 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프린팅 등 </a:t>
                      </a:r>
                      <a:r>
                        <a:rPr lang="en-US" altLang="ko-KR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  <a:r>
                        <a:rPr lang="ko-KR" altLang="en-US" sz="1000" kern="0" spc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차 산업혁명 대응 소재・부품 기술개발 추진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관계부처</a:t>
                      </a:r>
                    </a:p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합동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8775467"/>
                  </a:ext>
                </a:extLst>
              </a:tr>
              <a:tr h="519097"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제조업 혁신 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3.0</a:t>
                      </a:r>
                      <a:r>
                        <a:rPr lang="ko-KR" altLang="en-US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전략</a:t>
                      </a:r>
                      <a:r>
                        <a:rPr lang="en-US" altLang="ko-KR" sz="1000" b="1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(‘15)</a:t>
                      </a:r>
                      <a:endParaRPr lang="ko-KR" altLang="en-US" sz="1000" b="1" kern="0" spc="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ㅇ 급변하는 제조업 패러다임 변화에 발맞춰 새로운 제조업→</a:t>
                      </a:r>
                      <a:r>
                        <a:rPr lang="en-US" altLang="ko-KR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IT</a:t>
                      </a: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 수립 및 기업이 제조업 혁신을 주도할 수 있는 환경조성 추진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just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50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산업부</a:t>
                      </a:r>
                    </a:p>
                  </a:txBody>
                  <a:tcPr marL="64770" marR="64770" marT="17907" marB="17907" anchor="ctr"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567754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56156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별 첨 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2: </a:t>
            </a: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수요조사 결과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(1/3)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77376E3B-CD53-494C-A546-8B9943499E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0614919"/>
              </p:ext>
            </p:extLst>
          </p:nvPr>
        </p:nvGraphicFramePr>
        <p:xfrm>
          <a:off x="467544" y="1700808"/>
          <a:ext cx="3505201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780F72A0-76DD-4B3E-9B04-9C2E5EFB124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11608498"/>
              </p:ext>
            </p:extLst>
          </p:nvPr>
        </p:nvGraphicFramePr>
        <p:xfrm>
          <a:off x="4211960" y="1968691"/>
          <a:ext cx="4572000" cy="2495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355415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56156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별 첨 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2: </a:t>
            </a: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수요조사 결과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(2/3)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A86951CD-6B9E-4EED-9792-31E4A7E8B8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47815362"/>
              </p:ext>
            </p:extLst>
          </p:nvPr>
        </p:nvGraphicFramePr>
        <p:xfrm>
          <a:off x="778768" y="1772816"/>
          <a:ext cx="3505200" cy="3024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05F31EAA-DDBD-498C-A9F7-B14E5A16AFF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3182940"/>
              </p:ext>
            </p:extLst>
          </p:nvPr>
        </p:nvGraphicFramePr>
        <p:xfrm>
          <a:off x="4499992" y="1772816"/>
          <a:ext cx="4104456" cy="3024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709342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56156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별 첨 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2: </a:t>
            </a: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수요조사 결과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(3/3)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graphicFrame>
        <p:nvGraphicFramePr>
          <p:cNvPr id="3" name="차트 2">
            <a:extLst>
              <a:ext uri="{FF2B5EF4-FFF2-40B4-BE49-F238E27FC236}">
                <a16:creationId xmlns:a16="http://schemas.microsoft.com/office/drawing/2014/main" id="{5A0EF815-C1CB-4059-9CF9-8CB62649B2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6545705"/>
              </p:ext>
            </p:extLst>
          </p:nvPr>
        </p:nvGraphicFramePr>
        <p:xfrm>
          <a:off x="179512" y="1628800"/>
          <a:ext cx="4466531" cy="33026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4" name="차트 3">
            <a:extLst>
              <a:ext uri="{FF2B5EF4-FFF2-40B4-BE49-F238E27FC236}">
                <a16:creationId xmlns:a16="http://schemas.microsoft.com/office/drawing/2014/main" id="{D58D4374-45D0-4662-AB88-16F8AA7E30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2689413"/>
              </p:ext>
            </p:extLst>
          </p:nvPr>
        </p:nvGraphicFramePr>
        <p:xfrm>
          <a:off x="4862067" y="1628800"/>
          <a:ext cx="4030413" cy="33026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1713730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/>
          <p:cNvSpPr/>
          <p:nvPr/>
        </p:nvSpPr>
        <p:spPr>
          <a:xfrm>
            <a:off x="213420" y="74344"/>
            <a:ext cx="435728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별 첨 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3: </a:t>
            </a: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비교견적서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(1)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DD02505-3319-4040-9FB7-C673853169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02" y="1484784"/>
            <a:ext cx="2912438" cy="412326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B85A73D9-A8BD-4188-A395-22D094B81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630" y="1484784"/>
            <a:ext cx="2912438" cy="412326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E131A56-2FF0-4619-A17B-2E6BF0BB06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4058" y="1484784"/>
            <a:ext cx="2912438" cy="412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5471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F5C078F-3B1A-4BFA-AE6B-05ABCE485B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02" y="1484784"/>
            <a:ext cx="2912438" cy="412326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1429BEA8-12AC-48B8-9B3C-3E84BCE78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630" y="1484784"/>
            <a:ext cx="2912438" cy="412326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D490292-641F-4DB0-9D01-F73D97633B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4058" y="1492050"/>
            <a:ext cx="2907306" cy="4115994"/>
          </a:xfrm>
          <a:prstGeom prst="rect">
            <a:avLst/>
          </a:prstGeom>
        </p:spPr>
      </p:pic>
      <p:sp>
        <p:nvSpPr>
          <p:cNvPr id="41" name="직사각형 40"/>
          <p:cNvSpPr/>
          <p:nvPr/>
        </p:nvSpPr>
        <p:spPr>
          <a:xfrm>
            <a:off x="213420" y="74344"/>
            <a:ext cx="435728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별 첨 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3: </a:t>
            </a: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비교견적서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(1)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04870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BB095A7-BAC2-4B66-AAC9-C52308D8F7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02" y="1484784"/>
            <a:ext cx="2912438" cy="412326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283967F-E557-442E-8283-BE422728C7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630" y="1484784"/>
            <a:ext cx="2912438" cy="412326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5FAF60B-5662-4B71-842D-42867FC674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3110" y="1492050"/>
            <a:ext cx="2912438" cy="4123260"/>
          </a:xfrm>
          <a:prstGeom prst="rect">
            <a:avLst/>
          </a:prstGeom>
        </p:spPr>
      </p:pic>
      <p:sp>
        <p:nvSpPr>
          <p:cNvPr id="41" name="직사각형 40"/>
          <p:cNvSpPr/>
          <p:nvPr/>
        </p:nvSpPr>
        <p:spPr>
          <a:xfrm>
            <a:off x="213420" y="74344"/>
            <a:ext cx="435728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별 첨 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3: </a:t>
            </a: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비교견적서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(1)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76432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E5A68F7-0AED-4D4B-816F-4820B443A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02" y="1484784"/>
            <a:ext cx="2912438" cy="412326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0B38D5CE-9206-4C07-B915-CF6011EA5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630" y="1484784"/>
            <a:ext cx="2912438" cy="412326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37465C80-92C7-436B-B05E-F7A33F8016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4058" y="1484784"/>
            <a:ext cx="2912438" cy="4123260"/>
          </a:xfrm>
          <a:prstGeom prst="rect">
            <a:avLst/>
          </a:prstGeom>
        </p:spPr>
      </p:pic>
      <p:sp>
        <p:nvSpPr>
          <p:cNvPr id="41" name="직사각형 40"/>
          <p:cNvSpPr/>
          <p:nvPr/>
        </p:nvSpPr>
        <p:spPr>
          <a:xfrm>
            <a:off x="213420" y="74344"/>
            <a:ext cx="435728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별 첨 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3: </a:t>
            </a: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비교견적서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(1)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9978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58616256-EAE8-434B-8E70-48B3C244EF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268760"/>
            <a:ext cx="3263340" cy="4613461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6A36E77-704D-4228-8542-A11C8DB522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5" y="1268760"/>
            <a:ext cx="3263340" cy="4613461"/>
          </a:xfrm>
          <a:prstGeom prst="rect">
            <a:avLst/>
          </a:prstGeom>
        </p:spPr>
      </p:pic>
      <p:sp>
        <p:nvSpPr>
          <p:cNvPr id="41" name="직사각형 40"/>
          <p:cNvSpPr/>
          <p:nvPr/>
        </p:nvSpPr>
        <p:spPr>
          <a:xfrm>
            <a:off x="213420" y="74344"/>
            <a:ext cx="435728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 latinLnBrk="0">
              <a:defRPr/>
            </a:pP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별 첨 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3: </a:t>
            </a:r>
            <a:r>
              <a:rPr lang="ko-KR" altLang="en-US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비교견적서</a:t>
            </a:r>
            <a:r>
              <a:rPr lang="en-US" altLang="ko-KR" sz="3600" b="1" kern="0" spc="-150" dirty="0">
                <a:ln w="3175">
                  <a:solidFill>
                    <a:schemeClr val="tx2">
                      <a:lumMod val="75000"/>
                    </a:schemeClr>
                  </a:solidFill>
                </a:ln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옥션고딕 B" pitchFamily="2" charset="-127"/>
                <a:ea typeface="옥션고딕 B" pitchFamily="2" charset="-127"/>
                <a:cs typeface="Arial" pitchFamily="34" charset="0"/>
              </a:rPr>
              <a:t>(2)</a:t>
            </a:r>
            <a:endParaRPr lang="ko-KR" altLang="en-US" sz="3600" b="1" kern="0" dirty="0">
              <a:ln w="3175">
                <a:solidFill>
                  <a:schemeClr val="tx2">
                    <a:lumMod val="75000"/>
                  </a:schemeClr>
                </a:solidFill>
              </a:ln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옥션고딕 B" pitchFamily="2" charset="-127"/>
              <a:ea typeface="옥션고딕 B" pitchFamily="2" charset="-127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908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lIns="0" tIns="0" rIns="0" bIns="0" rtlCol="0">
        <a:spAutoFit/>
      </a:bodyPr>
      <a:lstStyle>
        <a:defPPr algn="ctr" latinLnBrk="0">
          <a:defRPr sz="1400" kern="0" dirty="0" smtClean="0">
            <a:gradFill>
              <a:gsLst>
                <a:gs pos="0">
                  <a:srgbClr val="FFE400"/>
                </a:gs>
                <a:gs pos="100000">
                  <a:srgbClr val="FFE400"/>
                </a:gs>
              </a:gsLst>
              <a:lin ang="5400000" scaled="0"/>
            </a:gradFill>
            <a:latin typeface="HY견고딕" pitchFamily="18" charset="-127"/>
            <a:ea typeface="HY견고딕" pitchFamily="18" charset="-127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5_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5_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디자인 사용자 지정">
  <a:themeElements>
    <a:clrScheme name="디자인 사용자 지정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디자인 사용자 지정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디자인 사용자 지정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디자인 사용자 지정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디자인 사용자 지정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12693</TotalTime>
  <Words>2729</Words>
  <Application>Microsoft Office PowerPoint</Application>
  <PresentationFormat>화면 슬라이드 쇼(4:3)</PresentationFormat>
  <Paragraphs>416</Paragraphs>
  <Slides>30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16</vt:i4>
      </vt:variant>
      <vt:variant>
        <vt:lpstr>테마</vt:lpstr>
      </vt:variant>
      <vt:variant>
        <vt:i4>4</vt:i4>
      </vt:variant>
      <vt:variant>
        <vt:lpstr>슬라이드 제목</vt:lpstr>
      </vt:variant>
      <vt:variant>
        <vt:i4>30</vt:i4>
      </vt:variant>
    </vt:vector>
  </HeadingPairs>
  <TitlesOfParts>
    <vt:vector size="50" baseType="lpstr">
      <vt:lpstr>HCI Poppy</vt:lpstr>
      <vt:lpstr>HY헤드라인M</vt:lpstr>
      <vt:lpstr>MS Gothic</vt:lpstr>
      <vt:lpstr>굴림</vt:lpstr>
      <vt:lpstr>나눔고딕 ExtraBold</vt:lpstr>
      <vt:lpstr>나눔명조 ExtraBold</vt:lpstr>
      <vt:lpstr>맑은 고딕</vt:lpstr>
      <vt:lpstr>맑은 고딕</vt:lpstr>
      <vt:lpstr>옥션고딕 B</vt:lpstr>
      <vt:lpstr>옥션고딕 L</vt:lpstr>
      <vt:lpstr>함초롬바탕</vt:lpstr>
      <vt:lpstr>휴먼명조</vt:lpstr>
      <vt:lpstr>Arial</vt:lpstr>
      <vt:lpstr>Calibri</vt:lpstr>
      <vt:lpstr>Century Gothic</vt:lpstr>
      <vt:lpstr>Wingdings</vt:lpstr>
      <vt:lpstr>Office 테마</vt:lpstr>
      <vt:lpstr>1_Office 테마</vt:lpstr>
      <vt:lpstr>5_디자인 사용자 지정</vt:lpstr>
      <vt:lpstr>디자인 사용자 지정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user</dc:creator>
  <cp:lastModifiedBy>MyPC</cp:lastModifiedBy>
  <cp:revision>1311</cp:revision>
  <dcterms:created xsi:type="dcterms:W3CDTF">2012-10-07T06:06:37Z</dcterms:created>
  <dcterms:modified xsi:type="dcterms:W3CDTF">2021-08-13T04:43:52Z</dcterms:modified>
</cp:coreProperties>
</file>