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5" r:id="rId3"/>
    <p:sldMasterId id="2147483697" r:id="rId4"/>
  </p:sldMasterIdLst>
  <p:notesMasterIdLst>
    <p:notesMasterId r:id="rId31"/>
  </p:notesMasterIdLst>
  <p:sldIdLst>
    <p:sldId id="257" r:id="rId5"/>
    <p:sldId id="605" r:id="rId6"/>
    <p:sldId id="627" r:id="rId7"/>
    <p:sldId id="606" r:id="rId8"/>
    <p:sldId id="622" r:id="rId9"/>
    <p:sldId id="628" r:id="rId10"/>
    <p:sldId id="602" r:id="rId11"/>
    <p:sldId id="583" r:id="rId12"/>
    <p:sldId id="612" r:id="rId13"/>
    <p:sldId id="584" r:id="rId14"/>
    <p:sldId id="585" r:id="rId15"/>
    <p:sldId id="3098" r:id="rId16"/>
    <p:sldId id="3099" r:id="rId17"/>
    <p:sldId id="613" r:id="rId18"/>
    <p:sldId id="595" r:id="rId19"/>
    <p:sldId id="597" r:id="rId20"/>
    <p:sldId id="588" r:id="rId21"/>
    <p:sldId id="591" r:id="rId22"/>
    <p:sldId id="589" r:id="rId23"/>
    <p:sldId id="593" r:id="rId24"/>
    <p:sldId id="592" r:id="rId25"/>
    <p:sldId id="614" r:id="rId26"/>
    <p:sldId id="618" r:id="rId27"/>
    <p:sldId id="619" r:id="rId28"/>
    <p:sldId id="626" r:id="rId29"/>
    <p:sldId id="616" r:id="rId30"/>
  </p:sldIdLst>
  <p:sldSz cx="9144000" cy="6858000" type="screen4x3"/>
  <p:notesSz cx="6669088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  <a:srgbClr val="0000FF"/>
    <a:srgbClr val="F2F2F2"/>
    <a:srgbClr val="FFFF99"/>
    <a:srgbClr val="FFFF00"/>
    <a:srgbClr val="D60093"/>
    <a:srgbClr val="0066FF"/>
    <a:srgbClr val="05D1BE"/>
    <a:srgbClr val="0AC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94" autoAdjust="0"/>
    <p:restoredTop sz="93151" autoAdjust="0"/>
  </p:normalViewPr>
  <p:slideViewPr>
    <p:cSldViewPr>
      <p:cViewPr varScale="1">
        <p:scale>
          <a:sx n="114" d="100"/>
          <a:sy n="114" d="100"/>
        </p:scale>
        <p:origin x="11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412" y="7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C5E2F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C4C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697-4288-A6A1-CC5BA4B4D06F}"/>
              </c:ext>
            </c:extLst>
          </c:dPt>
          <c:dPt>
            <c:idx val="4"/>
            <c:invertIfNegative val="0"/>
            <c:bubble3D val="0"/>
            <c:spPr>
              <a:solidFill>
                <a:srgbClr val="0C4C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697-4288-A6A1-CC5BA4B4D06F}"/>
              </c:ext>
            </c:extLst>
          </c:dPt>
          <c:cat>
            <c:strRef>
              <c:f>Sheet1!$A$2:$A$6</c:f>
              <c:strCache>
                <c:ptCount val="5"/>
                <c:pt idx="0">
                  <c:v>24'</c:v>
                </c:pt>
                <c:pt idx="1">
                  <c:v>26'</c:v>
                </c:pt>
                <c:pt idx="2">
                  <c:v>28'</c:v>
                </c:pt>
                <c:pt idx="3">
                  <c:v>30'</c:v>
                </c:pt>
                <c:pt idx="4">
                  <c:v>32'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2636</c:v>
                </c:pt>
                <c:pt idx="1">
                  <c:v>2980</c:v>
                </c:pt>
                <c:pt idx="2">
                  <c:v>3381</c:v>
                </c:pt>
                <c:pt idx="3">
                  <c:v>3854</c:v>
                </c:pt>
                <c:pt idx="4">
                  <c:v>4413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97-4288-A6A1-CC5BA4B4D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27"/>
        <c:axId val="818783152"/>
        <c:axId val="818783808"/>
      </c:barChart>
      <c:catAx>
        <c:axId val="8187831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18783808"/>
        <c:crosses val="autoZero"/>
        <c:auto val="1"/>
        <c:lblAlgn val="ctr"/>
        <c:lblOffset val="100"/>
        <c:noMultiLvlLbl val="0"/>
      </c:catAx>
      <c:valAx>
        <c:axId val="818783808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18783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7609" y="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/>
          <a:lstStyle>
            <a:lvl1pPr algn="r">
              <a:defRPr sz="1100"/>
            </a:lvl1pPr>
          </a:lstStyle>
          <a:p>
            <a:fld id="{8E4BF0FD-BB12-4622-97E2-976EBF9E08A1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1" tIns="45360" rIns="90721" bIns="4536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909" y="4715908"/>
            <a:ext cx="5335270" cy="4467701"/>
          </a:xfrm>
          <a:prstGeom prst="rect">
            <a:avLst/>
          </a:prstGeom>
        </p:spPr>
        <p:txBody>
          <a:bodyPr vert="horz" lIns="90721" tIns="45360" rIns="90721" bIns="4536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7609" y="943009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 anchor="b"/>
          <a:lstStyle>
            <a:lvl1pPr algn="r">
              <a:defRPr sz="1100"/>
            </a:lvl1pPr>
          </a:lstStyle>
          <a:p>
            <a:fld id="{84B391F6-C4AA-44F2-A496-BA2047C241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9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286A2-3C37-4575-820C-79F49E177F09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76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pic>
        <p:nvPicPr>
          <p:cNvPr id="16" name="Picture 3" descr="kbsibt-1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2875" y="160325"/>
            <a:ext cx="8858250" cy="730250"/>
          </a:xfrm>
          <a:prstGeom prst="rect">
            <a:avLst/>
          </a:prstGeom>
        </p:spPr>
      </p:pic>
      <p:pic>
        <p:nvPicPr>
          <p:cNvPr id="8" name="Picture 2" descr="D:\Bakcup_100316\바탕 화면\[엔팩]\[홍보]\엔팩 CI\Logo-png\국문-2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496" y="6465904"/>
            <a:ext cx="2376389" cy="347472"/>
          </a:xfrm>
          <a:prstGeom prst="rect">
            <a:avLst/>
          </a:prstGeom>
          <a:noFill/>
        </p:spPr>
      </p:pic>
      <p:sp>
        <p:nvSpPr>
          <p:cNvPr id="10" name="슬라이드 번호 개체 틀 5"/>
          <p:cNvSpPr txBox="1">
            <a:spLocks/>
          </p:cNvSpPr>
          <p:nvPr userDrawn="1"/>
        </p:nvSpPr>
        <p:spPr>
          <a:xfrm>
            <a:off x="2281833" y="6453336"/>
            <a:ext cx="561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D46430-F91F-4F01-9FEC-29DFA57BA1B0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자유형 10"/>
          <p:cNvSpPr/>
          <p:nvPr userDrawn="1"/>
        </p:nvSpPr>
        <p:spPr>
          <a:xfrm>
            <a:off x="214282" y="928670"/>
            <a:ext cx="8715436" cy="5429288"/>
          </a:xfrm>
          <a:custGeom>
            <a:avLst/>
            <a:gdLst>
              <a:gd name="connsiteX0" fmla="*/ 0 w 8429684"/>
              <a:gd name="connsiteY0" fmla="*/ 92830 h 3921861"/>
              <a:gd name="connsiteX1" fmla="*/ 27189 w 8429684"/>
              <a:gd name="connsiteY1" fmla="*/ 27189 h 3921861"/>
              <a:gd name="connsiteX2" fmla="*/ 92830 w 8429684"/>
              <a:gd name="connsiteY2" fmla="*/ 0 h 3921861"/>
              <a:gd name="connsiteX3" fmla="*/ 8336854 w 8429684"/>
              <a:gd name="connsiteY3" fmla="*/ 0 h 3921861"/>
              <a:gd name="connsiteX4" fmla="*/ 8402495 w 8429684"/>
              <a:gd name="connsiteY4" fmla="*/ 27189 h 3921861"/>
              <a:gd name="connsiteX5" fmla="*/ 8429684 w 8429684"/>
              <a:gd name="connsiteY5" fmla="*/ 92830 h 3921861"/>
              <a:gd name="connsiteX6" fmla="*/ 8429684 w 8429684"/>
              <a:gd name="connsiteY6" fmla="*/ 3829031 h 3921861"/>
              <a:gd name="connsiteX7" fmla="*/ 8402495 w 8429684"/>
              <a:gd name="connsiteY7" fmla="*/ 3894672 h 3921861"/>
              <a:gd name="connsiteX8" fmla="*/ 8336854 w 8429684"/>
              <a:gd name="connsiteY8" fmla="*/ 3921861 h 3921861"/>
              <a:gd name="connsiteX9" fmla="*/ 92830 w 8429684"/>
              <a:gd name="connsiteY9" fmla="*/ 3921861 h 3921861"/>
              <a:gd name="connsiteX10" fmla="*/ 27189 w 8429684"/>
              <a:gd name="connsiteY10" fmla="*/ 3894672 h 3921861"/>
              <a:gd name="connsiteX11" fmla="*/ 0 w 8429684"/>
              <a:gd name="connsiteY11" fmla="*/ 3829031 h 3921861"/>
              <a:gd name="connsiteX12" fmla="*/ 0 w 8429684"/>
              <a:gd name="connsiteY12" fmla="*/ 92830 h 392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9684" h="3921861">
                <a:moveTo>
                  <a:pt x="0" y="92830"/>
                </a:moveTo>
                <a:cubicBezTo>
                  <a:pt x="0" y="68210"/>
                  <a:pt x="9780" y="44598"/>
                  <a:pt x="27189" y="27189"/>
                </a:cubicBezTo>
                <a:cubicBezTo>
                  <a:pt x="44598" y="9780"/>
                  <a:pt x="68210" y="0"/>
                  <a:pt x="92830" y="0"/>
                </a:cubicBezTo>
                <a:lnTo>
                  <a:pt x="8336854" y="0"/>
                </a:lnTo>
                <a:cubicBezTo>
                  <a:pt x="8361474" y="0"/>
                  <a:pt x="8385086" y="9780"/>
                  <a:pt x="8402495" y="27189"/>
                </a:cubicBezTo>
                <a:cubicBezTo>
                  <a:pt x="8419904" y="44598"/>
                  <a:pt x="8429684" y="68210"/>
                  <a:pt x="8429684" y="92830"/>
                </a:cubicBezTo>
                <a:lnTo>
                  <a:pt x="8429684" y="3829031"/>
                </a:lnTo>
                <a:cubicBezTo>
                  <a:pt x="8429684" y="3853651"/>
                  <a:pt x="8419904" y="3877263"/>
                  <a:pt x="8402495" y="3894672"/>
                </a:cubicBezTo>
                <a:cubicBezTo>
                  <a:pt x="8385086" y="3912081"/>
                  <a:pt x="8361474" y="3921861"/>
                  <a:pt x="8336854" y="3921861"/>
                </a:cubicBezTo>
                <a:lnTo>
                  <a:pt x="92830" y="3921861"/>
                </a:lnTo>
                <a:cubicBezTo>
                  <a:pt x="68210" y="3921861"/>
                  <a:pt x="44598" y="3912081"/>
                  <a:pt x="27189" y="3894672"/>
                </a:cubicBezTo>
                <a:cubicBezTo>
                  <a:pt x="9780" y="3877263"/>
                  <a:pt x="0" y="3853651"/>
                  <a:pt x="0" y="3829031"/>
                </a:cubicBezTo>
                <a:lnTo>
                  <a:pt x="0" y="928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sp>
        <p:nvSpPr>
          <p:cNvPr id="11" name="자유형 10"/>
          <p:cNvSpPr/>
          <p:nvPr userDrawn="1"/>
        </p:nvSpPr>
        <p:spPr>
          <a:xfrm>
            <a:off x="214282" y="214290"/>
            <a:ext cx="8715436" cy="6143668"/>
          </a:xfrm>
          <a:custGeom>
            <a:avLst/>
            <a:gdLst>
              <a:gd name="connsiteX0" fmla="*/ 0 w 8429684"/>
              <a:gd name="connsiteY0" fmla="*/ 92830 h 3921861"/>
              <a:gd name="connsiteX1" fmla="*/ 27189 w 8429684"/>
              <a:gd name="connsiteY1" fmla="*/ 27189 h 3921861"/>
              <a:gd name="connsiteX2" fmla="*/ 92830 w 8429684"/>
              <a:gd name="connsiteY2" fmla="*/ 0 h 3921861"/>
              <a:gd name="connsiteX3" fmla="*/ 8336854 w 8429684"/>
              <a:gd name="connsiteY3" fmla="*/ 0 h 3921861"/>
              <a:gd name="connsiteX4" fmla="*/ 8402495 w 8429684"/>
              <a:gd name="connsiteY4" fmla="*/ 27189 h 3921861"/>
              <a:gd name="connsiteX5" fmla="*/ 8429684 w 8429684"/>
              <a:gd name="connsiteY5" fmla="*/ 92830 h 3921861"/>
              <a:gd name="connsiteX6" fmla="*/ 8429684 w 8429684"/>
              <a:gd name="connsiteY6" fmla="*/ 3829031 h 3921861"/>
              <a:gd name="connsiteX7" fmla="*/ 8402495 w 8429684"/>
              <a:gd name="connsiteY7" fmla="*/ 3894672 h 3921861"/>
              <a:gd name="connsiteX8" fmla="*/ 8336854 w 8429684"/>
              <a:gd name="connsiteY8" fmla="*/ 3921861 h 3921861"/>
              <a:gd name="connsiteX9" fmla="*/ 92830 w 8429684"/>
              <a:gd name="connsiteY9" fmla="*/ 3921861 h 3921861"/>
              <a:gd name="connsiteX10" fmla="*/ 27189 w 8429684"/>
              <a:gd name="connsiteY10" fmla="*/ 3894672 h 3921861"/>
              <a:gd name="connsiteX11" fmla="*/ 0 w 8429684"/>
              <a:gd name="connsiteY11" fmla="*/ 3829031 h 3921861"/>
              <a:gd name="connsiteX12" fmla="*/ 0 w 8429684"/>
              <a:gd name="connsiteY12" fmla="*/ 92830 h 392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9684" h="3921861">
                <a:moveTo>
                  <a:pt x="0" y="92830"/>
                </a:moveTo>
                <a:cubicBezTo>
                  <a:pt x="0" y="68210"/>
                  <a:pt x="9780" y="44598"/>
                  <a:pt x="27189" y="27189"/>
                </a:cubicBezTo>
                <a:cubicBezTo>
                  <a:pt x="44598" y="9780"/>
                  <a:pt x="68210" y="0"/>
                  <a:pt x="92830" y="0"/>
                </a:cubicBezTo>
                <a:lnTo>
                  <a:pt x="8336854" y="0"/>
                </a:lnTo>
                <a:cubicBezTo>
                  <a:pt x="8361474" y="0"/>
                  <a:pt x="8385086" y="9780"/>
                  <a:pt x="8402495" y="27189"/>
                </a:cubicBezTo>
                <a:cubicBezTo>
                  <a:pt x="8419904" y="44598"/>
                  <a:pt x="8429684" y="68210"/>
                  <a:pt x="8429684" y="92830"/>
                </a:cubicBezTo>
                <a:lnTo>
                  <a:pt x="8429684" y="3829031"/>
                </a:lnTo>
                <a:cubicBezTo>
                  <a:pt x="8429684" y="3853651"/>
                  <a:pt x="8419904" y="3877263"/>
                  <a:pt x="8402495" y="3894672"/>
                </a:cubicBezTo>
                <a:cubicBezTo>
                  <a:pt x="8385086" y="3912081"/>
                  <a:pt x="8361474" y="3921861"/>
                  <a:pt x="8336854" y="3921861"/>
                </a:cubicBezTo>
                <a:lnTo>
                  <a:pt x="92830" y="3921861"/>
                </a:lnTo>
                <a:cubicBezTo>
                  <a:pt x="68210" y="3921861"/>
                  <a:pt x="44598" y="3912081"/>
                  <a:pt x="27189" y="3894672"/>
                </a:cubicBezTo>
                <a:cubicBezTo>
                  <a:pt x="9780" y="3877263"/>
                  <a:pt x="0" y="3853651"/>
                  <a:pt x="0" y="3829031"/>
                </a:cubicBezTo>
                <a:lnTo>
                  <a:pt x="0" y="928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5914" t="11510" r="57826" b="3032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53"/>
          <p:cNvPicPr>
            <a:picLocks noChangeAspect="1" noChangeArrowheads="1"/>
          </p:cNvPicPr>
          <p:nvPr userDrawn="1"/>
        </p:nvPicPr>
        <p:blipFill>
          <a:blip r:embed="rId2" cstate="print"/>
          <a:srcRect t="85251"/>
          <a:stretch>
            <a:fillRect/>
          </a:stretch>
        </p:blipFill>
        <p:spPr bwMode="auto">
          <a:xfrm>
            <a:off x="-108520" y="4644898"/>
            <a:ext cx="925252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 userDrawn="1"/>
        </p:nvSpPr>
        <p:spPr>
          <a:xfrm>
            <a:off x="0" y="2276872"/>
            <a:ext cx="9144000" cy="2376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3" descr="D:\[엔팩]\엔팩's\PT작업\소스's\ppt 템플릿\BG\line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571424" y="2852936"/>
            <a:ext cx="10177268" cy="1285875"/>
          </a:xfrm>
          <a:prstGeom prst="rect">
            <a:avLst/>
          </a:prstGeom>
          <a:noFill/>
        </p:spPr>
      </p:pic>
      <p:pic>
        <p:nvPicPr>
          <p:cNvPr id="10" name="Picture 2" descr="53"/>
          <p:cNvPicPr>
            <a:picLocks noChangeAspect="1" noChangeArrowheads="1"/>
          </p:cNvPicPr>
          <p:nvPr userDrawn="1"/>
        </p:nvPicPr>
        <p:blipFill>
          <a:blip r:embed="rId2" cstate="print"/>
          <a:srcRect t="85251"/>
          <a:stretch>
            <a:fillRect/>
          </a:stretch>
        </p:blipFill>
        <p:spPr bwMode="auto">
          <a:xfrm>
            <a:off x="-108520" y="2284013"/>
            <a:ext cx="925252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7439" y="114571"/>
            <a:ext cx="6829444" cy="582594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0062A5C-BB22-4DBE-ADD1-3FE35BB72D8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7" descr="슬로건_w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2313" y="6402388"/>
            <a:ext cx="20288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_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master2.jpg"/>
          <p:cNvPicPr>
            <a:picLocks noChangeAspect="1"/>
          </p:cNvPicPr>
          <p:nvPr userDrawn="1"/>
        </p:nvPicPr>
        <p:blipFill>
          <a:blip r:embed="rId2" cstate="print"/>
          <a:srcRect l="290" r="290" b="206"/>
          <a:stretch>
            <a:fillRect/>
          </a:stretch>
        </p:blipFill>
        <p:spPr>
          <a:xfrm>
            <a:off x="-82378" y="-65314"/>
            <a:ext cx="9308756" cy="6985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23968"/>
            <a:ext cx="9144000" cy="4571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3892380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70095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19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3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sp>
        <p:nvSpPr>
          <p:cNvPr id="110594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2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27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2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31468" t="11510" r="59113" b="8719"/>
          <a:stretch>
            <a:fillRect/>
          </a:stretch>
        </p:blipFill>
        <p:spPr bwMode="auto">
          <a:xfrm>
            <a:off x="6768752" y="0"/>
            <a:ext cx="237524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53"/>
          <p:cNvPicPr>
            <a:picLocks noChangeAspect="1" noChangeArrowheads="1"/>
          </p:cNvPicPr>
          <p:nvPr userDrawn="1"/>
        </p:nvPicPr>
        <p:blipFill>
          <a:blip r:embed="rId3" cstate="print"/>
          <a:srcRect t="85251"/>
          <a:stretch>
            <a:fillRect/>
          </a:stretch>
        </p:blipFill>
        <p:spPr bwMode="auto">
          <a:xfrm rot="16200000">
            <a:off x="3449326" y="3319426"/>
            <a:ext cx="685800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DAD2B6-3D88-40AC-8B27-77E60855EFE7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98E8F-1708-42D0-A125-A57D68DBF0A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7BE01-1F18-46F5-A3F2-688B23DB0186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2A5F5-E794-4469-B1A3-7A8B28E5C9E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D3E8C6-D90E-4D5C-A2C4-BA8DB504401A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62D9B-6A6B-42DB-AD54-5DD13871716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22BF61-DDF5-494C-A9DD-258F5C5E0A66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5FB91-7D21-4836-BAA7-F10CF9D8D48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936C5D-C212-4102-9A22-6F6C052CF063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3D8C82-BBED-4D53-A8C1-6251F13FA59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7A4260-E6D5-4FE6-AEBD-ADBDEBD818B3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D77C5-5C02-4D19-BAC0-0560D3BDBF4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722DF8-7D69-428B-80C3-C740C8579AE1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D18E8-FCD4-4E7D-90CB-085F12F0C4B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EFF062-1190-4E49-B938-C66660DA73CA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B0AFD-7650-4FAE-B6C3-3FBF48F3CC4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6F49D3-15A1-4FB4-8525-1F28665E4072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6DAA6-B5CB-4531-9C6F-47AC75BAA28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4A7ED-3625-4702-9B4B-536478883156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5D0E86-6564-4C2B-BC55-46DCB6B810F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733A85-C916-4682-9CD8-7C4D8AEEDFCB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AA932-F2EE-4E9E-8D7D-9B436D46EB8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11A2A-92DB-4B66-A04A-FB21F3E2483C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7" r:id="rId12"/>
    <p:sldLayoutId id="2147483664" r:id="rId13"/>
    <p:sldLayoutId id="2147483663" r:id="rId14"/>
    <p:sldLayoutId id="2147483661" r:id="rId15"/>
    <p:sldLayoutId id="2147483665" r:id="rId16"/>
    <p:sldLayoutId id="2147483666" r:id="rId17"/>
    <p:sldLayoutId id="2147483668" r:id="rId18"/>
    <p:sldLayoutId id="2147483669" r:id="rId19"/>
    <p:sldLayoutId id="2147483671" r:id="rId20"/>
    <p:sldLayoutId id="2147483672" r:id="rId21"/>
    <p:sldLayoutId id="2147483670" r:id="rId2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fld id="{0A63DA9F-87E7-4323-8A95-A7876770F730}" type="datetimeFigureOut">
              <a:rPr lang="ko-KR" altLang="en-US"/>
              <a:pPr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fld id="{08C3D03A-C725-45C6-85FF-40FA60568616}" type="slidenum">
              <a:rPr lang="ko-KR" altLang="en-US"/>
              <a:pPr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-323882" y="-23813"/>
            <a:ext cx="9772682" cy="100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b3"/>
          <p:cNvPicPr>
            <a:picLocks noChangeAspect="1" noChangeArrowheads="1"/>
          </p:cNvPicPr>
          <p:nvPr userDrawn="1"/>
        </p:nvPicPr>
        <p:blipFill>
          <a:blip r:embed="rId13" cstate="print"/>
          <a:srcRect b="19872"/>
          <a:stretch>
            <a:fillRect/>
          </a:stretch>
        </p:blipFill>
        <p:spPr bwMode="auto">
          <a:xfrm>
            <a:off x="0" y="-17145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568" descr="빛"/>
          <p:cNvPicPr>
            <a:picLocks noChangeAspect="1" noChangeArrowheads="1"/>
          </p:cNvPicPr>
          <p:nvPr userDrawn="1"/>
        </p:nvPicPr>
        <p:blipFill>
          <a:blip r:embed="rId14" cstate="print"/>
          <a:srcRect l="58646" b="44444"/>
          <a:stretch>
            <a:fillRect/>
          </a:stretch>
        </p:blipFill>
        <p:spPr bwMode="auto">
          <a:xfrm>
            <a:off x="6732588" y="-4763"/>
            <a:ext cx="2160587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슬라이드 번호 개체 틀 4"/>
          <p:cNvSpPr txBox="1">
            <a:spLocks/>
          </p:cNvSpPr>
          <p:nvPr userDrawn="1"/>
        </p:nvSpPr>
        <p:spPr>
          <a:xfrm>
            <a:off x="3479800" y="6132537"/>
            <a:ext cx="2143125" cy="527050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- </a:t>
            </a:r>
            <a:fld id="{8C9C2726-73D7-412F-BA19-1091F1663751}" type="slidenum">
              <a:rPr kumimoji="0" lang="ko-KR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 </a:t>
            </a:r>
            <a:r>
              <a:rPr kumimoji="0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-</a:t>
            </a:r>
            <a:endParaRPr kumimoji="0"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옥션고딕 L" pitchFamily="2" charset="-127"/>
              <a:ea typeface="옥션고딕 L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간지"/>
          <p:cNvPicPr>
            <a:picLocks noChangeAspect="1" noChangeArrowheads="1"/>
          </p:cNvPicPr>
          <p:nvPr userDrawn="1"/>
        </p:nvPicPr>
        <p:blipFill>
          <a:blip r:embed="rId13" cstate="print"/>
          <a:srcRect l="2569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8.jpeg"/><Relationship Id="rId4" Type="http://schemas.openxmlformats.org/officeDocument/2006/relationships/hyperlink" Target="http://www.google.co.kr/url?sa=i&amp;rct=j&amp;q=&amp;esrc=s&amp;source=images&amp;cd=&amp;cad=rja&amp;uact=8&amp;docid=0xSEhOGudwzAMM&amp;tbnid=n6jFfD52KPFNUM:&amp;ved=0CAUQjRw&amp;url=http://rotc2416.tistory.com/393&amp;ei=0NaCU_z5BYXy8QWqxoKwBg&amp;bvm=bv.67720277,d.dGc&amp;psig=AFQjCNFTy0XCzMCGBZa5JVK02sF7CIkKqg&amp;ust=1401169984959098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chart" Target="../charts/chart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051720" y="1048976"/>
            <a:ext cx="6912768" cy="12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인공지능 학습용 서버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/>
            </a:r>
            <a:b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</a:b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AI training server</a:t>
            </a:r>
          </a:p>
        </p:txBody>
      </p:sp>
      <p:pic>
        <p:nvPicPr>
          <p:cNvPr id="8" name="Picture 3" descr="C:\Documents and Settings\Aone\바탕 화면\표지_01_0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 l="1033" t="4073" r="54607" b="65784"/>
          <a:stretch>
            <a:fillRect/>
          </a:stretch>
        </p:blipFill>
        <p:spPr bwMode="auto">
          <a:xfrm>
            <a:off x="0" y="5877272"/>
            <a:ext cx="1020487" cy="980728"/>
          </a:xfrm>
          <a:prstGeom prst="rect">
            <a:avLst/>
          </a:prstGeom>
          <a:noFill/>
        </p:spPr>
      </p:pic>
      <p:pic>
        <p:nvPicPr>
          <p:cNvPr id="86020" name="Picture 4" descr="http://cfile26.uf.tistory.com/image/1128F9384DA9C22827CAFA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63282" y="5949280"/>
            <a:ext cx="1080718" cy="908720"/>
          </a:xfrm>
          <a:prstGeom prst="rect">
            <a:avLst/>
          </a:prstGeom>
          <a:noFill/>
        </p:spPr>
      </p:pic>
      <p:sp>
        <p:nvSpPr>
          <p:cNvPr id="374" name="TextBox 373"/>
          <p:cNvSpPr txBox="1"/>
          <p:nvPr/>
        </p:nvSpPr>
        <p:spPr>
          <a:xfrm>
            <a:off x="179512" y="18864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’26</a:t>
            </a:r>
            <a:r>
              <a:rPr lang="ko-KR" altLang="en-US" sz="2000" b="1" dirty="0">
                <a:solidFill>
                  <a:schemeClr val="bg1"/>
                </a:solidFill>
              </a:rPr>
              <a:t>년도 국가연구시설</a:t>
            </a:r>
            <a:r>
              <a:rPr lang="en-US" altLang="ko-KR" sz="2000" b="1" dirty="0">
                <a:solidFill>
                  <a:schemeClr val="bg1"/>
                </a:solidFill>
              </a:rPr>
              <a:t>·</a:t>
            </a:r>
            <a:r>
              <a:rPr lang="ko-KR" altLang="en-US" sz="2000" b="1" dirty="0">
                <a:solidFill>
                  <a:schemeClr val="bg1"/>
                </a:solidFill>
              </a:rPr>
              <a:t>장비심의위원회 본심의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780016" y="3807272"/>
            <a:ext cx="617636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장비심의번호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(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임시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)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심</a:t>
            </a:r>
            <a:r>
              <a:rPr lang="en-US" altLang="ko-KR" sz="2800" b="1" dirty="0" smtClean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26-000</a:t>
            </a:r>
            <a:endParaRPr lang="en-US" altLang="ko-KR" sz="28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발표일자      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2026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년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5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월  일</a:t>
            </a:r>
            <a:endParaRPr lang="en-US" altLang="ko-KR" sz="28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신청기관      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한국재료연구원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290228" y="1412776"/>
            <a:ext cx="187514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장비명 </a:t>
            </a:r>
            <a:r>
              <a:rPr lang="en-US" altLang="ko-KR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</a:t>
            </a:r>
            <a:endParaRPr lang="ko-KR" altLang="en-US" sz="36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60" name="Rounded Rectangle 18"/>
          <p:cNvSpPr/>
          <p:nvPr/>
        </p:nvSpPr>
        <p:spPr bwMode="gray">
          <a:xfrm>
            <a:off x="2274327" y="4372078"/>
            <a:ext cx="6329210" cy="782123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조성 및 공정 자동 설계가 가능한 금속소재 특화 초거대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서비스를 개발하여 누구나 활용 가능한 소재 혁신 기술 개발</a:t>
            </a:r>
            <a:endParaRPr 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Round Diagonal Corner Rectangle 17"/>
          <p:cNvSpPr/>
          <p:nvPr/>
        </p:nvSpPr>
        <p:spPr bwMode="gray">
          <a:xfrm>
            <a:off x="556316" y="4358135"/>
            <a:ext cx="2101775" cy="834263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최종 목표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2" name="Rounded Rectangle 18"/>
          <p:cNvSpPr/>
          <p:nvPr/>
        </p:nvSpPr>
        <p:spPr bwMode="gray">
          <a:xfrm>
            <a:off x="2266136" y="5332361"/>
            <a:ext cx="6329210" cy="1044166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금속소재 멀티모달 파운데이션 모델 개발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조성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공정 최적화 모델 개발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전산재료과학 기반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시뮬레이터 개발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그리고 기업 사용자 활용을 위한 에이전트 기반 서비스 플랫폼 구축</a:t>
            </a:r>
          </a:p>
        </p:txBody>
      </p:sp>
      <p:sp>
        <p:nvSpPr>
          <p:cNvPr id="63" name="Round Diagonal Corner Rectangle 17"/>
          <p:cNvSpPr/>
          <p:nvPr/>
        </p:nvSpPr>
        <p:spPr bwMode="gray">
          <a:xfrm>
            <a:off x="556316" y="5302356"/>
            <a:ext cx="2101775" cy="1078972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사업 내용</a:t>
            </a:r>
            <a:endParaRPr lang="en-US" altLang="ko-KR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4" name="Rounded Rectangle 18"/>
          <p:cNvSpPr/>
          <p:nvPr/>
        </p:nvSpPr>
        <p:spPr bwMode="gray">
          <a:xfrm>
            <a:off x="2256611" y="1333799"/>
            <a:ext cx="6327402" cy="540000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한국재료연구원연구운영비지원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(R&amp;D)</a:t>
            </a:r>
            <a:endParaRPr 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Round Diagonal Corner Rectangle 17"/>
          <p:cNvSpPr/>
          <p:nvPr/>
        </p:nvSpPr>
        <p:spPr bwMode="gray">
          <a:xfrm>
            <a:off x="546369" y="1316865"/>
            <a:ext cx="2101775" cy="576000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 업 명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6" name="Rounded Rectangle 18"/>
          <p:cNvSpPr/>
          <p:nvPr/>
        </p:nvSpPr>
        <p:spPr bwMode="gray">
          <a:xfrm>
            <a:off x="2256611" y="1970793"/>
            <a:ext cx="6327402" cy="540000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금속 소재 거대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파운데이션모델 개발</a:t>
            </a:r>
            <a:endParaRPr 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Round Diagonal Corner Rectangle 17"/>
          <p:cNvSpPr/>
          <p:nvPr/>
        </p:nvSpPr>
        <p:spPr bwMode="gray">
          <a:xfrm>
            <a:off x="546369" y="1953859"/>
            <a:ext cx="2101775" cy="576000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과 제 명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8" name="Rounded Rectangle 18"/>
          <p:cNvSpPr/>
          <p:nvPr/>
        </p:nvSpPr>
        <p:spPr bwMode="gray">
          <a:xfrm>
            <a:off x="2247086" y="2607786"/>
            <a:ext cx="6327402" cy="886983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주 관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한국재료연구원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ct val="125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위 탁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서울대학교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한국과학기술원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포항공과대학교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국민대학교</a:t>
            </a:r>
            <a:endParaRPr 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Round Diagonal Corner Rectangle 17"/>
          <p:cNvSpPr/>
          <p:nvPr/>
        </p:nvSpPr>
        <p:spPr bwMode="gray">
          <a:xfrm>
            <a:off x="539552" y="2590853"/>
            <a:ext cx="2101775" cy="931332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수행 기관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0" name="Rounded Rectangle 18"/>
          <p:cNvSpPr/>
          <p:nvPr/>
        </p:nvSpPr>
        <p:spPr bwMode="gray">
          <a:xfrm>
            <a:off x="2256611" y="3585874"/>
            <a:ext cx="6327402" cy="681157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사업 기간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: 2026. 1. 1 ~ 2030. 12. 31(60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개월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</a:p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총 사업비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: 131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.73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억원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정부출연금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131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.73,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민간부담금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0)</a:t>
            </a:r>
          </a:p>
        </p:txBody>
      </p:sp>
      <p:sp>
        <p:nvSpPr>
          <p:cNvPr id="71" name="Round Diagonal Corner Rectangle 17"/>
          <p:cNvSpPr/>
          <p:nvPr/>
        </p:nvSpPr>
        <p:spPr bwMode="gray">
          <a:xfrm>
            <a:off x="546369" y="3568940"/>
            <a:ext cx="2101775" cy="726567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과제 개요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4" name="직사각형 51">
            <a:extLst>
              <a:ext uri="{FF2B5EF4-FFF2-40B4-BE49-F238E27FC236}">
                <a16:creationId xmlns:a16="http://schemas.microsoft.com/office/drawing/2014/main" id="{953B0705-EB59-4032-BA42-14F77E3E9EE8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4CC46EE9-A3E1-49E6-B459-690FB4C18446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AB6693-BD73-DCFA-C375-14DC7B87A8B7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196">
            <a:extLst>
              <a:ext uri="{FF2B5EF4-FFF2-40B4-BE49-F238E27FC236}">
                <a16:creationId xmlns:a16="http://schemas.microsoft.com/office/drawing/2014/main" id="{CB3508B5-0F36-3EAB-66F4-32E602B12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23" t="25082" r="20109"/>
          <a:stretch/>
        </p:blipFill>
        <p:spPr>
          <a:xfrm>
            <a:off x="6552907" y="3546340"/>
            <a:ext cx="1240171" cy="82916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496ED8C-6C63-73A9-9863-9534FEF05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907" y="1995692"/>
            <a:ext cx="1237566" cy="830282"/>
          </a:xfrm>
          <a:prstGeom prst="rect">
            <a:avLst/>
          </a:prstGeom>
        </p:spPr>
      </p:pic>
      <p:sp>
        <p:nvSpPr>
          <p:cNvPr id="69" name="모서리가 둥근 직사각형 2">
            <a:extLst>
              <a:ext uri="{FF2B5EF4-FFF2-40B4-BE49-F238E27FC236}">
                <a16:creationId xmlns:a16="http://schemas.microsoft.com/office/drawing/2014/main" id="{E4F4DB04-2338-01F4-7F6E-DE7E2B3FB391}"/>
              </a:ext>
            </a:extLst>
          </p:cNvPr>
          <p:cNvSpPr/>
          <p:nvPr/>
        </p:nvSpPr>
        <p:spPr>
          <a:xfrm>
            <a:off x="1864942" y="4886653"/>
            <a:ext cx="4089333" cy="1325345"/>
          </a:xfrm>
          <a:prstGeom prst="roundRect">
            <a:avLst>
              <a:gd name="adj" fmla="val 4303"/>
            </a:avLst>
          </a:prstGeom>
          <a:solidFill>
            <a:srgbClr val="32323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70" name="그림 4" descr="텍스트, 컴퓨터, 멀티미디어, 전자 기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DB02797-6A5F-0CBE-2FDC-E06EFFF507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37" t="10428" r="8001" b="20387"/>
          <a:stretch>
            <a:fillRect/>
          </a:stretch>
        </p:blipFill>
        <p:spPr>
          <a:xfrm>
            <a:off x="1864942" y="1607838"/>
            <a:ext cx="4089333" cy="3932147"/>
          </a:xfrm>
          <a:prstGeom prst="rect">
            <a:avLst/>
          </a:prstGeom>
        </p:spPr>
      </p:pic>
      <p:sp>
        <p:nvSpPr>
          <p:cNvPr id="71" name="직사각형 5">
            <a:extLst>
              <a:ext uri="{FF2B5EF4-FFF2-40B4-BE49-F238E27FC236}">
                <a16:creationId xmlns:a16="http://schemas.microsoft.com/office/drawing/2014/main" id="{242BCFAF-6DB1-A3D9-B187-6253FF9CB8AC}"/>
              </a:ext>
            </a:extLst>
          </p:cNvPr>
          <p:cNvSpPr/>
          <p:nvPr/>
        </p:nvSpPr>
        <p:spPr>
          <a:xfrm>
            <a:off x="2435826" y="1672233"/>
            <a:ext cx="465538" cy="142711"/>
          </a:xfrm>
          <a:prstGeom prst="rect">
            <a:avLst/>
          </a:prstGeom>
          <a:solidFill>
            <a:srgbClr val="444444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551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rPr>
              <a:t>MaterAI</a:t>
            </a:r>
            <a:endParaRPr kumimoji="1" lang="ko-KR" altLang="en-US" sz="551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sp>
        <p:nvSpPr>
          <p:cNvPr id="72" name="Speech Bubble: Rectangle 92">
            <a:extLst>
              <a:ext uri="{FF2B5EF4-FFF2-40B4-BE49-F238E27FC236}">
                <a16:creationId xmlns:a16="http://schemas.microsoft.com/office/drawing/2014/main" id="{AE1E544E-6855-B957-C6CC-AB7B7DD8541C}"/>
              </a:ext>
            </a:extLst>
          </p:cNvPr>
          <p:cNvSpPr/>
          <p:nvPr/>
        </p:nvSpPr>
        <p:spPr>
          <a:xfrm>
            <a:off x="7807915" y="2010123"/>
            <a:ext cx="1250097" cy="534831"/>
          </a:xfrm>
          <a:prstGeom prst="wedgeRectCallout">
            <a:avLst>
              <a:gd name="adj1" fmla="val -73923"/>
              <a:gd name="adj2" fmla="val 19002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소재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〮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공정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후보군 도출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8F7AFF-B04B-E900-0AE3-D7B0BAEFB2F8}"/>
              </a:ext>
            </a:extLst>
          </p:cNvPr>
          <p:cNvSpPr txBox="1"/>
          <p:nvPr/>
        </p:nvSpPr>
        <p:spPr>
          <a:xfrm>
            <a:off x="6403605" y="1600529"/>
            <a:ext cx="2159076" cy="313744"/>
          </a:xfrm>
          <a:prstGeom prst="roundRect">
            <a:avLst/>
          </a:prstGeom>
          <a:solidFill>
            <a:sysClr val="window" lastClr="FFFFFF"/>
          </a:solidFill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소재 거대 </a:t>
            </a:r>
            <a:r>
              <a:rPr kumimoji="0" lang="en-US" altLang="ko-KR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AI </a:t>
            </a: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파운데이션 모델</a:t>
            </a:r>
            <a:endParaRPr kumimoji="0" lang="en-US" altLang="ko-KR" sz="1544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74" name="Speech Bubble: Rectangle 92">
            <a:extLst>
              <a:ext uri="{FF2B5EF4-FFF2-40B4-BE49-F238E27FC236}">
                <a16:creationId xmlns:a16="http://schemas.microsoft.com/office/drawing/2014/main" id="{C7864107-0BE4-4E8B-8526-819199B9393F}"/>
              </a:ext>
            </a:extLst>
          </p:cNvPr>
          <p:cNvSpPr/>
          <p:nvPr/>
        </p:nvSpPr>
        <p:spPr>
          <a:xfrm>
            <a:off x="7824855" y="3586273"/>
            <a:ext cx="1230884" cy="534830"/>
          </a:xfrm>
          <a:prstGeom prst="wedgeRectCallout">
            <a:avLst>
              <a:gd name="adj1" fmla="val -72499"/>
              <a:gd name="adj2" fmla="val 2031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현장 데이터 기반 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조성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〮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공정 최적화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61154A-30CC-BDA7-0E68-50A8FEED0973}"/>
              </a:ext>
            </a:extLst>
          </p:cNvPr>
          <p:cNvSpPr txBox="1"/>
          <p:nvPr/>
        </p:nvSpPr>
        <p:spPr>
          <a:xfrm>
            <a:off x="6403803" y="3158077"/>
            <a:ext cx="1940692" cy="313744"/>
          </a:xfrm>
          <a:prstGeom prst="roundRect">
            <a:avLst/>
          </a:prstGeom>
          <a:solidFill>
            <a:sysClr val="window" lastClr="FFFFFF"/>
          </a:solidFill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파인튜닝 기반 공정 최적화</a:t>
            </a:r>
            <a:endParaRPr kumimoji="0" lang="en-US" altLang="ko-KR" sz="1544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6 SemiBold" pitchFamily="2" charset="-127"/>
              <a:ea typeface="Paperlogy 6 SemiBold" pitchFamily="2" charset="-127"/>
            </a:endParaRPr>
          </a:p>
        </p:txBody>
      </p:sp>
      <p:pic>
        <p:nvPicPr>
          <p:cNvPr id="76" name="그림 17" descr="만화 영화, 생일 케이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4B3318-C5AF-DE61-9073-CA6D94A7DD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7" t="16864" r="71692" b="62989"/>
          <a:stretch/>
        </p:blipFill>
        <p:spPr>
          <a:xfrm>
            <a:off x="606499" y="1548197"/>
            <a:ext cx="983379" cy="1766751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87FEC1A-3EEF-80E2-676D-13E141E0CD0C}"/>
              </a:ext>
            </a:extLst>
          </p:cNvPr>
          <p:cNvSpPr txBox="1"/>
          <p:nvPr/>
        </p:nvSpPr>
        <p:spPr>
          <a:xfrm>
            <a:off x="6403803" y="4722444"/>
            <a:ext cx="1704226" cy="313744"/>
          </a:xfrm>
          <a:prstGeom prst="roundRect">
            <a:avLst/>
          </a:prstGeom>
          <a:solidFill>
            <a:sysClr val="window" lastClr="FFFFFF"/>
          </a:solidFill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AI </a:t>
            </a: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기반 실험 결과 분석</a:t>
            </a:r>
            <a:endParaRPr kumimoji="0" lang="en-US" altLang="ko-KR" sz="1544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80" name="Arrow: Chevron 183">
            <a:extLst>
              <a:ext uri="{FF2B5EF4-FFF2-40B4-BE49-F238E27FC236}">
                <a16:creationId xmlns:a16="http://schemas.microsoft.com/office/drawing/2014/main" id="{51267B43-60B5-2ADA-D6D5-9C66B630B86B}"/>
              </a:ext>
            </a:extLst>
          </p:cNvPr>
          <p:cNvSpPr/>
          <p:nvPr/>
        </p:nvSpPr>
        <p:spPr>
          <a:xfrm rot="5400000">
            <a:off x="8269596" y="2611725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Arrow: Chevron 183">
            <a:extLst>
              <a:ext uri="{FF2B5EF4-FFF2-40B4-BE49-F238E27FC236}">
                <a16:creationId xmlns:a16="http://schemas.microsoft.com/office/drawing/2014/main" id="{18CB87A4-F8DA-FB26-77A8-53C9627AA986}"/>
              </a:ext>
            </a:extLst>
          </p:cNvPr>
          <p:cNvSpPr/>
          <p:nvPr/>
        </p:nvSpPr>
        <p:spPr>
          <a:xfrm rot="5400000">
            <a:off x="8269596" y="4191171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2" name="그림 28">
            <a:extLst>
              <a:ext uri="{FF2B5EF4-FFF2-40B4-BE49-F238E27FC236}">
                <a16:creationId xmlns:a16="http://schemas.microsoft.com/office/drawing/2014/main" id="{587B9E94-4721-4D6F-8127-BD0391F640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85" y="4891371"/>
            <a:ext cx="1162590" cy="1147489"/>
          </a:xfrm>
          <a:prstGeom prst="rect">
            <a:avLst/>
          </a:prstGeom>
        </p:spPr>
      </p:pic>
      <p:sp>
        <p:nvSpPr>
          <p:cNvPr id="83" name="Arrow: Chevron 183">
            <a:extLst>
              <a:ext uri="{FF2B5EF4-FFF2-40B4-BE49-F238E27FC236}">
                <a16:creationId xmlns:a16="http://schemas.microsoft.com/office/drawing/2014/main" id="{07ED363E-3177-7893-71C3-94FF3914F0DF}"/>
              </a:ext>
            </a:extLst>
          </p:cNvPr>
          <p:cNvSpPr/>
          <p:nvPr/>
        </p:nvSpPr>
        <p:spPr>
          <a:xfrm>
            <a:off x="1711267" y="1998785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Arrow: Chevron 183">
            <a:extLst>
              <a:ext uri="{FF2B5EF4-FFF2-40B4-BE49-F238E27FC236}">
                <a16:creationId xmlns:a16="http://schemas.microsoft.com/office/drawing/2014/main" id="{1DCD50E5-721B-0891-5A55-5AA8DC5109C6}"/>
              </a:ext>
            </a:extLst>
          </p:cNvPr>
          <p:cNvSpPr/>
          <p:nvPr/>
        </p:nvSpPr>
        <p:spPr>
          <a:xfrm rot="10800000">
            <a:off x="1711268" y="5280259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모서리가 둥근 직사각형 12">
            <a:extLst>
              <a:ext uri="{FF2B5EF4-FFF2-40B4-BE49-F238E27FC236}">
                <a16:creationId xmlns:a16="http://schemas.microsoft.com/office/drawing/2014/main" id="{8ABA97CC-4C7B-2849-48E6-7D6B8969D2D4}"/>
              </a:ext>
            </a:extLst>
          </p:cNvPr>
          <p:cNvSpPr/>
          <p:nvPr/>
        </p:nvSpPr>
        <p:spPr>
          <a:xfrm>
            <a:off x="478954" y="1125750"/>
            <a:ext cx="1238471" cy="346283"/>
          </a:xfrm>
          <a:prstGeom prst="roundRect">
            <a:avLst>
              <a:gd name="adj" fmla="val 31290"/>
            </a:avLst>
          </a:prstGeom>
          <a:solidFill>
            <a:srgbClr val="177DF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연구자</a:t>
            </a:r>
          </a:p>
        </p:txBody>
      </p:sp>
      <p:sp>
        <p:nvSpPr>
          <p:cNvPr id="87" name="모서리가 둥근 직사각형 12">
            <a:extLst>
              <a:ext uri="{FF2B5EF4-FFF2-40B4-BE49-F238E27FC236}">
                <a16:creationId xmlns:a16="http://schemas.microsoft.com/office/drawing/2014/main" id="{C276A3F3-87A3-38C1-6CC8-67EE7A7AAC0C}"/>
              </a:ext>
            </a:extLst>
          </p:cNvPr>
          <p:cNvSpPr/>
          <p:nvPr/>
        </p:nvSpPr>
        <p:spPr>
          <a:xfrm>
            <a:off x="2146123" y="1125750"/>
            <a:ext cx="3505997" cy="346283"/>
          </a:xfrm>
          <a:prstGeom prst="roundRect">
            <a:avLst>
              <a:gd name="adj" fmla="val 31290"/>
            </a:avLst>
          </a:prstGeom>
          <a:solidFill>
            <a:srgbClr val="6B3CE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금속 소재 설계 서비스 </a:t>
            </a:r>
          </a:p>
        </p:txBody>
      </p:sp>
      <p:sp>
        <p:nvSpPr>
          <p:cNvPr id="88" name="모서리가 둥근 직사각형 12">
            <a:extLst>
              <a:ext uri="{FF2B5EF4-FFF2-40B4-BE49-F238E27FC236}">
                <a16:creationId xmlns:a16="http://schemas.microsoft.com/office/drawing/2014/main" id="{C5839D6B-85C4-9CCB-F775-7B37D5B38A93}"/>
              </a:ext>
            </a:extLst>
          </p:cNvPr>
          <p:cNvSpPr/>
          <p:nvPr/>
        </p:nvSpPr>
        <p:spPr>
          <a:xfrm>
            <a:off x="6457213" y="1124848"/>
            <a:ext cx="2176948" cy="346283"/>
          </a:xfrm>
          <a:prstGeom prst="roundRect">
            <a:avLst>
              <a:gd name="adj" fmla="val 31290"/>
            </a:avLst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소재 개발 과정</a:t>
            </a:r>
          </a:p>
        </p:txBody>
      </p:sp>
      <p:sp>
        <p:nvSpPr>
          <p:cNvPr id="89" name="사각형: 둥근 모서리 76">
            <a:extLst>
              <a:ext uri="{FF2B5EF4-FFF2-40B4-BE49-F238E27FC236}">
                <a16:creationId xmlns:a16="http://schemas.microsoft.com/office/drawing/2014/main" id="{AF05055E-73B2-44EF-99FC-6B4A4772D9E7}"/>
              </a:ext>
            </a:extLst>
          </p:cNvPr>
          <p:cNvSpPr/>
          <p:nvPr/>
        </p:nvSpPr>
        <p:spPr>
          <a:xfrm>
            <a:off x="399945" y="4135731"/>
            <a:ext cx="1238471" cy="677018"/>
          </a:xfrm>
          <a:prstGeom prst="roundRect">
            <a:avLst/>
          </a:prstGeom>
          <a:solidFill>
            <a:srgbClr val="E77D1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새로운</a:t>
            </a:r>
            <a:br>
              <a:rPr kumimoji="0" lang="ko-KR" altLang="en-US" sz="2000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</a:br>
            <a:r>
              <a:rPr kumimoji="0" lang="ko-KR" altLang="en-US" sz="2000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금속 소재</a:t>
            </a:r>
          </a:p>
        </p:txBody>
      </p:sp>
      <p:sp>
        <p:nvSpPr>
          <p:cNvPr id="90" name="모서리가 둥근 직사각형 39">
            <a:extLst>
              <a:ext uri="{FF2B5EF4-FFF2-40B4-BE49-F238E27FC236}">
                <a16:creationId xmlns:a16="http://schemas.microsoft.com/office/drawing/2014/main" id="{CFE897AA-63D1-09D8-FECF-404369064B2A}"/>
              </a:ext>
            </a:extLst>
          </p:cNvPr>
          <p:cNvSpPr/>
          <p:nvPr/>
        </p:nvSpPr>
        <p:spPr>
          <a:xfrm>
            <a:off x="2161806" y="3710252"/>
            <a:ext cx="3504438" cy="945367"/>
          </a:xfrm>
          <a:prstGeom prst="roundRect">
            <a:avLst>
              <a:gd name="adj" fmla="val 5979"/>
            </a:avLst>
          </a:prstGeom>
          <a:solidFill>
            <a:srgbClr val="EFEFF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92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03F4FEC-EC0F-B14C-E28D-80A097AC3045}"/>
              </a:ext>
            </a:extLst>
          </p:cNvPr>
          <p:cNvSpPr txBox="1"/>
          <p:nvPr/>
        </p:nvSpPr>
        <p:spPr>
          <a:xfrm>
            <a:off x="2115449" y="1973726"/>
            <a:ext cx="1211234" cy="254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1. 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소재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〮공정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 탐색</a:t>
            </a:r>
            <a:endParaRPr kumimoji="1" lang="ja-JP" altLang="en-US" sz="132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B4CF947-57E0-7856-D2E0-11A2AB1B8DCF}"/>
              </a:ext>
            </a:extLst>
          </p:cNvPr>
          <p:cNvSpPr txBox="1"/>
          <p:nvPr/>
        </p:nvSpPr>
        <p:spPr>
          <a:xfrm>
            <a:off x="2115449" y="3431291"/>
            <a:ext cx="1303537" cy="254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2.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 조성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〮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공정 최적화</a:t>
            </a:r>
            <a:endParaRPr kumimoji="1" lang="ja-JP" altLang="en-US" sz="132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829BF0C-3287-63A1-649C-C807466DE02F}"/>
              </a:ext>
            </a:extLst>
          </p:cNvPr>
          <p:cNvSpPr txBox="1"/>
          <p:nvPr/>
        </p:nvSpPr>
        <p:spPr>
          <a:xfrm>
            <a:off x="2115449" y="4787129"/>
            <a:ext cx="870954" cy="254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3.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 결과 분석</a:t>
            </a:r>
            <a:endParaRPr kumimoji="1" lang="ja-JP" altLang="en-US" sz="132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4" name="모서리가 둥근 직사각형 44">
            <a:extLst>
              <a:ext uri="{FF2B5EF4-FFF2-40B4-BE49-F238E27FC236}">
                <a16:creationId xmlns:a16="http://schemas.microsoft.com/office/drawing/2014/main" id="{09DA28B0-8FC8-A9E8-20B1-36468CFD395B}"/>
              </a:ext>
            </a:extLst>
          </p:cNvPr>
          <p:cNvSpPr/>
          <p:nvPr/>
        </p:nvSpPr>
        <p:spPr>
          <a:xfrm>
            <a:off x="2161805" y="2263086"/>
            <a:ext cx="3504297" cy="939242"/>
          </a:xfrm>
          <a:prstGeom prst="roundRect">
            <a:avLst>
              <a:gd name="adj" fmla="val 3975"/>
            </a:avLst>
          </a:prstGeom>
          <a:solidFill>
            <a:srgbClr val="EFEFF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92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DAEE560-E278-0DBD-9664-7DD78D4A4A0A}"/>
              </a:ext>
            </a:extLst>
          </p:cNvPr>
          <p:cNvGrpSpPr/>
          <p:nvPr/>
        </p:nvGrpSpPr>
        <p:grpSpPr>
          <a:xfrm>
            <a:off x="5333879" y="1720244"/>
            <a:ext cx="1059837" cy="3922338"/>
            <a:chOff x="4503375" y="1720244"/>
            <a:chExt cx="3548847" cy="3922338"/>
          </a:xfrm>
        </p:grpSpPr>
        <p:sp>
          <p:nvSpPr>
            <p:cNvPr id="78" name="자유형 22">
              <a:extLst>
                <a:ext uri="{FF2B5EF4-FFF2-40B4-BE49-F238E27FC236}">
                  <a16:creationId xmlns:a16="http://schemas.microsoft.com/office/drawing/2014/main" id="{FE2CA604-8A20-326A-6E5F-87F848C0B497}"/>
                </a:ext>
              </a:extLst>
            </p:cNvPr>
            <p:cNvSpPr/>
            <p:nvPr/>
          </p:nvSpPr>
          <p:spPr>
            <a:xfrm>
              <a:off x="4508311" y="1720244"/>
              <a:ext cx="3543911" cy="1036984"/>
            </a:xfrm>
            <a:custGeom>
              <a:avLst/>
              <a:gdLst>
                <a:gd name="connsiteX0" fmla="*/ 0 w 3090441"/>
                <a:gd name="connsiteY0" fmla="*/ 1145894 h 1145894"/>
                <a:gd name="connsiteX1" fmla="*/ 2777924 w 3090441"/>
                <a:gd name="connsiteY1" fmla="*/ 1145894 h 1145894"/>
                <a:gd name="connsiteX2" fmla="*/ 2777924 w 3090441"/>
                <a:gd name="connsiteY2" fmla="*/ 0 h 1145894"/>
                <a:gd name="connsiteX3" fmla="*/ 3090441 w 3090441"/>
                <a:gd name="connsiteY3" fmla="*/ 0 h 114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0441" h="1145894">
                  <a:moveTo>
                    <a:pt x="0" y="1145894"/>
                  </a:moveTo>
                  <a:lnTo>
                    <a:pt x="2777924" y="1145894"/>
                  </a:lnTo>
                  <a:lnTo>
                    <a:pt x="2777924" y="0"/>
                  </a:lnTo>
                  <a:lnTo>
                    <a:pt x="3090441" y="0"/>
                  </a:lnTo>
                </a:path>
              </a:pathLst>
            </a:custGeom>
            <a:noFill/>
            <a:ln w="127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ysDash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자유형 23">
              <a:extLst>
                <a:ext uri="{FF2B5EF4-FFF2-40B4-BE49-F238E27FC236}">
                  <a16:creationId xmlns:a16="http://schemas.microsoft.com/office/drawing/2014/main" id="{EBCE99B4-1BA1-377B-62D1-D06B8AF42732}"/>
                </a:ext>
              </a:extLst>
            </p:cNvPr>
            <p:cNvSpPr/>
            <p:nvPr/>
          </p:nvSpPr>
          <p:spPr>
            <a:xfrm>
              <a:off x="4508311" y="3326644"/>
              <a:ext cx="3543911" cy="882656"/>
            </a:xfrm>
            <a:custGeom>
              <a:avLst/>
              <a:gdLst>
                <a:gd name="connsiteX0" fmla="*/ 0 w 3090441"/>
                <a:gd name="connsiteY0" fmla="*/ 1145894 h 1145894"/>
                <a:gd name="connsiteX1" fmla="*/ 2777924 w 3090441"/>
                <a:gd name="connsiteY1" fmla="*/ 1145894 h 1145894"/>
                <a:gd name="connsiteX2" fmla="*/ 2777924 w 3090441"/>
                <a:gd name="connsiteY2" fmla="*/ 0 h 1145894"/>
                <a:gd name="connsiteX3" fmla="*/ 3090441 w 3090441"/>
                <a:gd name="connsiteY3" fmla="*/ 0 h 114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0441" h="1145894">
                  <a:moveTo>
                    <a:pt x="0" y="1145894"/>
                  </a:moveTo>
                  <a:lnTo>
                    <a:pt x="2777924" y="1145894"/>
                  </a:lnTo>
                  <a:lnTo>
                    <a:pt x="2777924" y="0"/>
                  </a:lnTo>
                  <a:lnTo>
                    <a:pt x="3090441" y="0"/>
                  </a:lnTo>
                </a:path>
              </a:pathLst>
            </a:custGeom>
            <a:noFill/>
            <a:ln w="127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ysDash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자유형 45">
              <a:extLst>
                <a:ext uri="{FF2B5EF4-FFF2-40B4-BE49-F238E27FC236}">
                  <a16:creationId xmlns:a16="http://schemas.microsoft.com/office/drawing/2014/main" id="{E03BE137-7B89-27AA-0535-E28A9A1E893F}"/>
                </a:ext>
              </a:extLst>
            </p:cNvPr>
            <p:cNvSpPr/>
            <p:nvPr/>
          </p:nvSpPr>
          <p:spPr>
            <a:xfrm>
              <a:off x="4503375" y="4915511"/>
              <a:ext cx="3543910" cy="727071"/>
            </a:xfrm>
            <a:custGeom>
              <a:avLst/>
              <a:gdLst>
                <a:gd name="connsiteX0" fmla="*/ 0 w 3090441"/>
                <a:gd name="connsiteY0" fmla="*/ 1145894 h 1145894"/>
                <a:gd name="connsiteX1" fmla="*/ 2777924 w 3090441"/>
                <a:gd name="connsiteY1" fmla="*/ 1145894 h 1145894"/>
                <a:gd name="connsiteX2" fmla="*/ 2777924 w 3090441"/>
                <a:gd name="connsiteY2" fmla="*/ 0 h 1145894"/>
                <a:gd name="connsiteX3" fmla="*/ 3090441 w 3090441"/>
                <a:gd name="connsiteY3" fmla="*/ 0 h 114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0441" h="1145894">
                  <a:moveTo>
                    <a:pt x="0" y="1145894"/>
                  </a:moveTo>
                  <a:lnTo>
                    <a:pt x="2777924" y="1145894"/>
                  </a:lnTo>
                  <a:lnTo>
                    <a:pt x="2777924" y="0"/>
                  </a:lnTo>
                  <a:lnTo>
                    <a:pt x="3090441" y="0"/>
                  </a:lnTo>
                </a:path>
              </a:pathLst>
            </a:custGeom>
            <a:noFill/>
            <a:ln w="127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ysDash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6" name="모서리가 둥근 직사각형 53">
            <a:extLst>
              <a:ext uri="{FF2B5EF4-FFF2-40B4-BE49-F238E27FC236}">
                <a16:creationId xmlns:a16="http://schemas.microsoft.com/office/drawing/2014/main" id="{27CD5FBD-578C-B077-61EE-0B96D39E5AC4}"/>
              </a:ext>
            </a:extLst>
          </p:cNvPr>
          <p:cNvSpPr/>
          <p:nvPr/>
        </p:nvSpPr>
        <p:spPr>
          <a:xfrm>
            <a:off x="2161806" y="5097501"/>
            <a:ext cx="3504438" cy="945367"/>
          </a:xfrm>
          <a:prstGeom prst="roundRect">
            <a:avLst>
              <a:gd name="adj" fmla="val 5979"/>
            </a:avLst>
          </a:prstGeom>
          <a:solidFill>
            <a:srgbClr val="EFEFF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92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grpSp>
        <p:nvGrpSpPr>
          <p:cNvPr id="97" name="그룹 59">
            <a:extLst>
              <a:ext uri="{FF2B5EF4-FFF2-40B4-BE49-F238E27FC236}">
                <a16:creationId xmlns:a16="http://schemas.microsoft.com/office/drawing/2014/main" id="{3E795455-2A29-0AF0-7351-DD1E3FFD108A}"/>
              </a:ext>
            </a:extLst>
          </p:cNvPr>
          <p:cNvGrpSpPr/>
          <p:nvPr/>
        </p:nvGrpSpPr>
        <p:grpSpPr>
          <a:xfrm>
            <a:off x="2267665" y="2569362"/>
            <a:ext cx="3058456" cy="326690"/>
            <a:chOff x="4696630" y="2500783"/>
            <a:chExt cx="2667104" cy="284888"/>
          </a:xfrm>
        </p:grpSpPr>
        <p:sp>
          <p:nvSpPr>
            <p:cNvPr id="98" name="모서리가 둥근 직사각형 85">
              <a:extLst>
                <a:ext uri="{FF2B5EF4-FFF2-40B4-BE49-F238E27FC236}">
                  <a16:creationId xmlns:a16="http://schemas.microsoft.com/office/drawing/2014/main" id="{BF073DD7-BDE0-D852-FD23-929BDBC80029}"/>
                </a:ext>
              </a:extLst>
            </p:cNvPr>
            <p:cNvSpPr/>
            <p:nvPr/>
          </p:nvSpPr>
          <p:spPr>
            <a:xfrm>
              <a:off x="4696630" y="2500783"/>
              <a:ext cx="2667104" cy="284888"/>
            </a:xfrm>
            <a:prstGeom prst="roundRect">
              <a:avLst>
                <a:gd name="adj" fmla="val 278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b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탐색하려는 합금 원소를 입력하세요</a:t>
              </a:r>
              <a:r>
                <a:rPr kumimoji="1" lang="en-US" altLang="ko-KR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.</a:t>
              </a:r>
              <a:endParaRPr kumimoji="1" lang="ko-KR" altLang="en-US" sz="132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99" name="양쪽 모서리가 둥근 사각형 86">
              <a:extLst>
                <a:ext uri="{FF2B5EF4-FFF2-40B4-BE49-F238E27FC236}">
                  <a16:creationId xmlns:a16="http://schemas.microsoft.com/office/drawing/2014/main" id="{993BE316-AAD8-AFF4-B8FA-7ABA9CA26EA5}"/>
                </a:ext>
              </a:extLst>
            </p:cNvPr>
            <p:cNvSpPr/>
            <p:nvPr/>
          </p:nvSpPr>
          <p:spPr>
            <a:xfrm rot="5400000">
              <a:off x="7053202" y="2475138"/>
              <a:ext cx="284400" cy="336665"/>
            </a:xfrm>
            <a:prstGeom prst="round2SameRect">
              <a:avLst>
                <a:gd name="adj1" fmla="val 26714"/>
                <a:gd name="adj2" fmla="val 0"/>
              </a:avLst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그룹 87">
              <a:extLst>
                <a:ext uri="{FF2B5EF4-FFF2-40B4-BE49-F238E27FC236}">
                  <a16:creationId xmlns:a16="http://schemas.microsoft.com/office/drawing/2014/main" id="{39EB194A-3C64-F45B-A9F0-4FF9BE9BC250}"/>
                </a:ext>
              </a:extLst>
            </p:cNvPr>
            <p:cNvGrpSpPr/>
            <p:nvPr/>
          </p:nvGrpSpPr>
          <p:grpSpPr>
            <a:xfrm>
              <a:off x="7118179" y="2562761"/>
              <a:ext cx="154444" cy="160930"/>
              <a:chOff x="7076355" y="2454622"/>
              <a:chExt cx="205565" cy="214197"/>
            </a:xfrm>
          </p:grpSpPr>
          <p:sp>
            <p:nvSpPr>
              <p:cNvPr id="101" name="타원 88">
                <a:extLst>
                  <a:ext uri="{FF2B5EF4-FFF2-40B4-BE49-F238E27FC236}">
                    <a16:creationId xmlns:a16="http://schemas.microsoft.com/office/drawing/2014/main" id="{7942A9F5-6B02-E6AC-DF72-ACDFCB7BB293}"/>
                  </a:ext>
                </a:extLst>
              </p:cNvPr>
              <p:cNvSpPr/>
              <p:nvPr/>
            </p:nvSpPr>
            <p:spPr>
              <a:xfrm>
                <a:off x="7076355" y="2454622"/>
                <a:ext cx="152400" cy="152400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2" name="직선 연결선[R] 89">
                <a:extLst>
                  <a:ext uri="{FF2B5EF4-FFF2-40B4-BE49-F238E27FC236}">
                    <a16:creationId xmlns:a16="http://schemas.microsoft.com/office/drawing/2014/main" id="{7B003B41-D109-38E7-4360-C85547864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6629" y="2592324"/>
                <a:ext cx="75291" cy="7649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</p:cxnSp>
        </p:grpSp>
      </p:grpSp>
      <p:grpSp>
        <p:nvGrpSpPr>
          <p:cNvPr id="103" name="그룹 60">
            <a:extLst>
              <a:ext uri="{FF2B5EF4-FFF2-40B4-BE49-F238E27FC236}">
                <a16:creationId xmlns:a16="http://schemas.microsoft.com/office/drawing/2014/main" id="{7DF349C9-1664-1930-ABAC-D6E4B1F0C818}"/>
              </a:ext>
            </a:extLst>
          </p:cNvPr>
          <p:cNvGrpSpPr/>
          <p:nvPr/>
        </p:nvGrpSpPr>
        <p:grpSpPr>
          <a:xfrm>
            <a:off x="2267665" y="4019590"/>
            <a:ext cx="3058456" cy="326690"/>
            <a:chOff x="4696630" y="4032430"/>
            <a:chExt cx="2667104" cy="284888"/>
          </a:xfrm>
        </p:grpSpPr>
        <p:sp>
          <p:nvSpPr>
            <p:cNvPr id="104" name="모서리가 둥근 직사각형 75">
              <a:extLst>
                <a:ext uri="{FF2B5EF4-FFF2-40B4-BE49-F238E27FC236}">
                  <a16:creationId xmlns:a16="http://schemas.microsoft.com/office/drawing/2014/main" id="{210C2C32-8EF5-751E-FE7A-1B693C245FC4}"/>
                </a:ext>
              </a:extLst>
            </p:cNvPr>
            <p:cNvSpPr/>
            <p:nvPr/>
          </p:nvSpPr>
          <p:spPr>
            <a:xfrm>
              <a:off x="4696630" y="4032430"/>
              <a:ext cx="2667104" cy="284888"/>
            </a:xfrm>
            <a:prstGeom prst="roundRect">
              <a:avLst>
                <a:gd name="adj" fmla="val 278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b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실험 설정을 입력해주세요</a:t>
              </a:r>
              <a:r>
                <a:rPr kumimoji="1" lang="en-US" altLang="ko-KR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.</a:t>
              </a:r>
              <a:endParaRPr kumimoji="1" lang="ko-KR" altLang="en-US" sz="132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05" name="양쪽 모서리가 둥근 사각형 78">
              <a:extLst>
                <a:ext uri="{FF2B5EF4-FFF2-40B4-BE49-F238E27FC236}">
                  <a16:creationId xmlns:a16="http://schemas.microsoft.com/office/drawing/2014/main" id="{1775C9EB-0A1A-D6E2-4CCD-9ED00D283B46}"/>
                </a:ext>
              </a:extLst>
            </p:cNvPr>
            <p:cNvSpPr/>
            <p:nvPr/>
          </p:nvSpPr>
          <p:spPr>
            <a:xfrm rot="5400000">
              <a:off x="7053202" y="4006785"/>
              <a:ext cx="284400" cy="336665"/>
            </a:xfrm>
            <a:prstGeom prst="round2SameRect">
              <a:avLst>
                <a:gd name="adj1" fmla="val 26714"/>
                <a:gd name="adj2" fmla="val 0"/>
              </a:avLst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6" name="그룹 79">
              <a:extLst>
                <a:ext uri="{FF2B5EF4-FFF2-40B4-BE49-F238E27FC236}">
                  <a16:creationId xmlns:a16="http://schemas.microsoft.com/office/drawing/2014/main" id="{6A2B5685-D60A-D1A9-B67C-228499AEC065}"/>
                </a:ext>
              </a:extLst>
            </p:cNvPr>
            <p:cNvGrpSpPr/>
            <p:nvPr/>
          </p:nvGrpSpPr>
          <p:grpSpPr>
            <a:xfrm>
              <a:off x="7118179" y="4094408"/>
              <a:ext cx="154444" cy="160930"/>
              <a:chOff x="7076355" y="2454622"/>
              <a:chExt cx="205565" cy="214197"/>
            </a:xfrm>
          </p:grpSpPr>
          <p:sp>
            <p:nvSpPr>
              <p:cNvPr id="107" name="타원 83">
                <a:extLst>
                  <a:ext uri="{FF2B5EF4-FFF2-40B4-BE49-F238E27FC236}">
                    <a16:creationId xmlns:a16="http://schemas.microsoft.com/office/drawing/2014/main" id="{5FD45B92-3BBC-6DD3-6EE2-FDD1A8331B31}"/>
                  </a:ext>
                </a:extLst>
              </p:cNvPr>
              <p:cNvSpPr/>
              <p:nvPr/>
            </p:nvSpPr>
            <p:spPr>
              <a:xfrm>
                <a:off x="7076355" y="2454622"/>
                <a:ext cx="152400" cy="152400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8" name="직선 연결선[R] 84">
                <a:extLst>
                  <a:ext uri="{FF2B5EF4-FFF2-40B4-BE49-F238E27FC236}">
                    <a16:creationId xmlns:a16="http://schemas.microsoft.com/office/drawing/2014/main" id="{334670C1-8B0B-0A88-328A-D6B913BDE7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6629" y="2592324"/>
                <a:ext cx="75291" cy="7649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</p:cxnSp>
        </p:grpSp>
      </p:grpSp>
      <p:grpSp>
        <p:nvGrpSpPr>
          <p:cNvPr id="109" name="그룹 61">
            <a:extLst>
              <a:ext uri="{FF2B5EF4-FFF2-40B4-BE49-F238E27FC236}">
                <a16:creationId xmlns:a16="http://schemas.microsoft.com/office/drawing/2014/main" id="{5AA51762-7DC5-3CB8-388E-2679C8106F56}"/>
              </a:ext>
            </a:extLst>
          </p:cNvPr>
          <p:cNvGrpSpPr/>
          <p:nvPr/>
        </p:nvGrpSpPr>
        <p:grpSpPr>
          <a:xfrm>
            <a:off x="2267665" y="5406839"/>
            <a:ext cx="3058456" cy="326690"/>
            <a:chOff x="4696630" y="5160119"/>
            <a:chExt cx="2667104" cy="284888"/>
          </a:xfrm>
        </p:grpSpPr>
        <p:sp>
          <p:nvSpPr>
            <p:cNvPr id="110" name="모서리가 둥근 직사각형 68">
              <a:extLst>
                <a:ext uri="{FF2B5EF4-FFF2-40B4-BE49-F238E27FC236}">
                  <a16:creationId xmlns:a16="http://schemas.microsoft.com/office/drawing/2014/main" id="{E3A88FFB-42C4-E6E8-D5C5-02E09132717A}"/>
                </a:ext>
              </a:extLst>
            </p:cNvPr>
            <p:cNvSpPr/>
            <p:nvPr/>
          </p:nvSpPr>
          <p:spPr>
            <a:xfrm>
              <a:off x="4696630" y="5160119"/>
              <a:ext cx="2667104" cy="284888"/>
            </a:xfrm>
            <a:prstGeom prst="roundRect">
              <a:avLst>
                <a:gd name="adj" fmla="val 278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b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실험 결과를 입력해주세요</a:t>
              </a:r>
              <a:r>
                <a:rPr kumimoji="1" lang="en-US" altLang="ko-KR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.</a:t>
              </a:r>
              <a:endParaRPr kumimoji="1" lang="ko-KR" altLang="en-US" sz="132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11" name="양쪽 모서리가 둥근 사각형 69">
              <a:extLst>
                <a:ext uri="{FF2B5EF4-FFF2-40B4-BE49-F238E27FC236}">
                  <a16:creationId xmlns:a16="http://schemas.microsoft.com/office/drawing/2014/main" id="{DFA2464E-2E62-E91C-3A7F-2B42072A5CE4}"/>
                </a:ext>
              </a:extLst>
            </p:cNvPr>
            <p:cNvSpPr/>
            <p:nvPr/>
          </p:nvSpPr>
          <p:spPr>
            <a:xfrm rot="5400000">
              <a:off x="7053202" y="5134474"/>
              <a:ext cx="284400" cy="336665"/>
            </a:xfrm>
            <a:prstGeom prst="round2SameRect">
              <a:avLst>
                <a:gd name="adj1" fmla="val 26714"/>
                <a:gd name="adj2" fmla="val 0"/>
              </a:avLst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2" name="그룹 71">
              <a:extLst>
                <a:ext uri="{FF2B5EF4-FFF2-40B4-BE49-F238E27FC236}">
                  <a16:creationId xmlns:a16="http://schemas.microsoft.com/office/drawing/2014/main" id="{B382EC4A-6D97-EA27-C86D-3F0DF0C1727C}"/>
                </a:ext>
              </a:extLst>
            </p:cNvPr>
            <p:cNvGrpSpPr/>
            <p:nvPr/>
          </p:nvGrpSpPr>
          <p:grpSpPr>
            <a:xfrm>
              <a:off x="7118179" y="5222097"/>
              <a:ext cx="154444" cy="160930"/>
              <a:chOff x="7076355" y="2454622"/>
              <a:chExt cx="205565" cy="214197"/>
            </a:xfrm>
          </p:grpSpPr>
          <p:sp>
            <p:nvSpPr>
              <p:cNvPr id="113" name="타원 72">
                <a:extLst>
                  <a:ext uri="{FF2B5EF4-FFF2-40B4-BE49-F238E27FC236}">
                    <a16:creationId xmlns:a16="http://schemas.microsoft.com/office/drawing/2014/main" id="{52BA3821-0277-7F81-D12C-930020D705FE}"/>
                  </a:ext>
                </a:extLst>
              </p:cNvPr>
              <p:cNvSpPr/>
              <p:nvPr/>
            </p:nvSpPr>
            <p:spPr>
              <a:xfrm>
                <a:off x="7076355" y="2454622"/>
                <a:ext cx="152400" cy="152400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4" name="직선 연결선[R] 73">
                <a:extLst>
                  <a:ext uri="{FF2B5EF4-FFF2-40B4-BE49-F238E27FC236}">
                    <a16:creationId xmlns:a16="http://schemas.microsoft.com/office/drawing/2014/main" id="{5E8E8758-8CF0-6457-5C25-F7A4E7B91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6629" y="2592324"/>
                <a:ext cx="75291" cy="7649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</p:cxnSp>
        </p:grp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D850555A-EF37-52B8-998E-57098CFD6CF7}"/>
              </a:ext>
            </a:extLst>
          </p:cNvPr>
          <p:cNvSpPr txBox="1"/>
          <p:nvPr/>
        </p:nvSpPr>
        <p:spPr>
          <a:xfrm>
            <a:off x="317644" y="3242827"/>
            <a:ext cx="1477597" cy="890882"/>
          </a:xfrm>
          <a:prstGeom prst="round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algn="ctr" latinLnBrk="0"/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원하는 조성</a:t>
            </a:r>
            <a: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,</a:t>
            </a:r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 물성 등</a:t>
            </a:r>
            <a: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/>
            </a:r>
            <a:b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</a:br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소재 정보 입력</a:t>
            </a:r>
            <a:endParaRPr lang="en-US" altLang="ko-KR" sz="1544" kern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829A9B-4950-77FD-47E2-80DC3CB2ADAE}"/>
              </a:ext>
            </a:extLst>
          </p:cNvPr>
          <p:cNvSpPr txBox="1"/>
          <p:nvPr/>
        </p:nvSpPr>
        <p:spPr>
          <a:xfrm>
            <a:off x="243115" y="5934505"/>
            <a:ext cx="1552126" cy="627973"/>
          </a:xfrm>
          <a:prstGeom prst="round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algn="ctr" latinLnBrk="0"/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사용자가 원하는 </a:t>
            </a:r>
            <a: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/>
            </a:r>
            <a:b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</a:br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소재 개발</a:t>
            </a:r>
            <a:endParaRPr lang="en-US" altLang="ko-KR" sz="1544" kern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latin typeface="Paperlogy 6 SemiBold" pitchFamily="2" charset="-127"/>
              <a:ea typeface="Paperlogy 6 SemiBold" pitchFamily="2" charset="-127"/>
            </a:endParaRP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4C50587D-C630-C00E-0D83-CF2E1ECE22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907" y="5151848"/>
            <a:ext cx="1237566" cy="825044"/>
          </a:xfrm>
          <a:prstGeom prst="rect">
            <a:avLst/>
          </a:prstGeom>
        </p:spPr>
      </p:pic>
      <p:sp>
        <p:nvSpPr>
          <p:cNvPr id="121" name="Speech Bubble: Rectangle 92">
            <a:extLst>
              <a:ext uri="{FF2B5EF4-FFF2-40B4-BE49-F238E27FC236}">
                <a16:creationId xmlns:a16="http://schemas.microsoft.com/office/drawing/2014/main" id="{6D5ACD7D-F90F-FE78-60E7-95085DA2C83F}"/>
              </a:ext>
            </a:extLst>
          </p:cNvPr>
          <p:cNvSpPr/>
          <p:nvPr/>
        </p:nvSpPr>
        <p:spPr>
          <a:xfrm>
            <a:off x="7824855" y="5107752"/>
            <a:ext cx="1230884" cy="534830"/>
          </a:xfrm>
          <a:prstGeom prst="wedgeRectCallout">
            <a:avLst>
              <a:gd name="adj1" fmla="val -72499"/>
              <a:gd name="adj2" fmla="val 2031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결과 자동 분석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실험 결과 저장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15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2A7672-CEAE-4CA9-835E-27C7B6CEBE4C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9" name="직사각형 51">
            <a:extLst>
              <a:ext uri="{FF2B5EF4-FFF2-40B4-BE49-F238E27FC236}">
                <a16:creationId xmlns:a16="http://schemas.microsoft.com/office/drawing/2014/main" id="{44F9531F-75C3-4CB2-8380-62C2FA69DE75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117" name="사각형: 둥근 모서리 2">
            <a:extLst>
              <a:ext uri="{FF2B5EF4-FFF2-40B4-BE49-F238E27FC236}">
                <a16:creationId xmlns:a16="http://schemas.microsoft.com/office/drawing/2014/main" id="{4F00B13E-C1E8-A80B-4990-EB739F72005B}"/>
              </a:ext>
            </a:extLst>
          </p:cNvPr>
          <p:cNvSpPr/>
          <p:nvPr/>
        </p:nvSpPr>
        <p:spPr>
          <a:xfrm>
            <a:off x="389365" y="1068630"/>
            <a:ext cx="3904269" cy="5358881"/>
          </a:xfrm>
          <a:prstGeom prst="roundRect">
            <a:avLst>
              <a:gd name="adj" fmla="val 3878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C5262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E35F2C-6E42-B790-05E8-DA09C837FF78}"/>
              </a:ext>
            </a:extLst>
          </p:cNvPr>
          <p:cNvSpPr txBox="1"/>
          <p:nvPr/>
        </p:nvSpPr>
        <p:spPr>
          <a:xfrm>
            <a:off x="465571" y="1312525"/>
            <a:ext cx="3811822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just" defTabSz="457200" rtl="0"/>
            <a:r>
              <a:rPr lang="en-US" altLang="ko-KR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주요국 거대 </a:t>
            </a:r>
            <a:r>
              <a:rPr lang="en-US" altLang="ko-KR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기반 신소재 개발</a:t>
            </a:r>
            <a:r>
              <a:rPr lang="en-US" altLang="ko-KR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) </a:t>
            </a:r>
          </a:p>
          <a:p>
            <a:pPr algn="just" defTabSz="457200" rtl="0">
              <a:lnSpc>
                <a:spcPct val="150000"/>
              </a:lnSpc>
            </a:pP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선진국은 소재 특화 거대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AI*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활용</a:t>
            </a:r>
            <a:endParaRPr lang="en-US" altLang="ko-KR" sz="14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200" rtl="0"/>
            <a:r>
              <a:rPr lang="ko-KR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→</a:t>
            </a:r>
            <a:r>
              <a:rPr lang="ko-KR" altLang="en-US" sz="1400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시행착오 최소화 및 시간</a:t>
            </a:r>
            <a:r>
              <a:rPr lang="ko-KR" altLang="en-US" sz="1400" kern="12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∙</a:t>
            </a:r>
            <a:r>
              <a:rPr lang="ko-KR" altLang="en-US" sz="1400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비용 단축 연구 진행 중</a:t>
            </a:r>
            <a:endParaRPr lang="en-US" altLang="ko-KR" sz="1400" kern="1200" dirty="0">
              <a:solidFill>
                <a:schemeClr val="tx1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200" rtl="0"/>
            <a:endParaRPr lang="en-US" altLang="ko-KR" sz="14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19" name="사각형: 둥근 모서리 6">
            <a:extLst>
              <a:ext uri="{FF2B5EF4-FFF2-40B4-BE49-F238E27FC236}">
                <a16:creationId xmlns:a16="http://schemas.microsoft.com/office/drawing/2014/main" id="{A9EB0D38-FEB9-FC7B-24D8-C67492650BA8}"/>
              </a:ext>
            </a:extLst>
          </p:cNvPr>
          <p:cNvSpPr/>
          <p:nvPr/>
        </p:nvSpPr>
        <p:spPr>
          <a:xfrm>
            <a:off x="657806" y="872531"/>
            <a:ext cx="3312000" cy="360000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현황</a:t>
            </a:r>
          </a:p>
        </p:txBody>
      </p:sp>
      <p:sp>
        <p:nvSpPr>
          <p:cNvPr id="120" name="직사각형 31">
            <a:extLst>
              <a:ext uri="{FF2B5EF4-FFF2-40B4-BE49-F238E27FC236}">
                <a16:creationId xmlns:a16="http://schemas.microsoft.com/office/drawing/2014/main" id="{DCE04B54-0B3E-01FF-2EDD-57C0E2AC4DE2}"/>
              </a:ext>
            </a:extLst>
          </p:cNvPr>
          <p:cNvSpPr/>
          <p:nvPr/>
        </p:nvSpPr>
        <p:spPr>
          <a:xfrm>
            <a:off x="384733" y="2296597"/>
            <a:ext cx="3904269" cy="16703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구글 딥마인드와 로렌스 버클리 국립연구소</a:t>
            </a:r>
            <a:endParaRPr lang="en-US" altLang="ko-KR" sz="1400" kern="1200" dirty="0">
              <a:solidFill>
                <a:schemeClr val="tx1"/>
              </a:solidFill>
              <a:latin typeface="페이퍼로지 3 Light" pitchFamily="2" charset="-127"/>
              <a:ea typeface="페이퍼로지 3 Light" pitchFamily="2" charset="-127"/>
              <a:cs typeface="KoPubWorld돋움체 Bold" panose="00000800000000000000" pitchFamily="2" charset="-127"/>
            </a:endParaRPr>
          </a:p>
          <a:p>
            <a:pPr algn="ctr">
              <a:lnSpc>
                <a:spcPts val="2000"/>
              </a:lnSpc>
            </a:pP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소재 탐색을 위한 “</a:t>
            </a:r>
            <a:r>
              <a:rPr lang="en-US" altLang="ko-KR" sz="1400" kern="120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GNoME </a:t>
            </a:r>
            <a:r>
              <a:rPr lang="ko-KR" altLang="en-US" sz="1400" kern="120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프로젝트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”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220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만개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400" kern="120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새로운 무기화합물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와 안정성이 확인된 후보 물질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38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만개 공개</a:t>
            </a: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네이처</a:t>
            </a: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, ’23.11</a:t>
            </a:r>
            <a:r>
              <a:rPr lang="ko-KR" altLang="en-US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월</a:t>
            </a: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)</a:t>
            </a:r>
          </a:p>
          <a:p>
            <a:pPr algn="ctr">
              <a:lnSpc>
                <a:spcPts val="2000"/>
              </a:lnSpc>
            </a:pP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 →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AI 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기반 신소재 개발은 기존 방식에 비해 </a:t>
            </a:r>
            <a:endParaRPr lang="en-US" altLang="ko-KR" sz="14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ctr">
              <a:lnSpc>
                <a:spcPts val="2000"/>
              </a:lnSpc>
            </a:pP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  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개발 시간 </a:t>
            </a:r>
            <a:r>
              <a:rPr lang="en-US" altLang="ko-KR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71%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단축</a:t>
            </a:r>
            <a:r>
              <a:rPr lang="en-US" altLang="ko-KR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,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프로토타입 제작 속도 </a:t>
            </a:r>
            <a:r>
              <a:rPr lang="en-US" altLang="ko-KR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17%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증가</a:t>
            </a:r>
            <a:endParaRPr lang="ko-KR" altLang="en-US" sz="1400" kern="1200" spc="-70" dirty="0">
              <a:solidFill>
                <a:srgbClr val="0000FF"/>
              </a:solidFill>
              <a:latin typeface="페이퍼로지 3 Light" pitchFamily="2" charset="-127"/>
              <a:ea typeface="페이퍼로지 3 Light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1" name="사각형: 둥근 모서리 108">
            <a:extLst>
              <a:ext uri="{FF2B5EF4-FFF2-40B4-BE49-F238E27FC236}">
                <a16:creationId xmlns:a16="http://schemas.microsoft.com/office/drawing/2014/main" id="{8F7B16B3-1F56-0514-2C44-8D574F128866}"/>
              </a:ext>
            </a:extLst>
          </p:cNvPr>
          <p:cNvSpPr/>
          <p:nvPr/>
        </p:nvSpPr>
        <p:spPr>
          <a:xfrm>
            <a:off x="554068" y="4128180"/>
            <a:ext cx="2986486" cy="369332"/>
          </a:xfrm>
          <a:prstGeom prst="roundRect">
            <a:avLst>
              <a:gd name="adj" fmla="val 9524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ctr" latinLnBrk="0">
              <a:buFont typeface="Arial" panose="020B0604020202020204" pitchFamily="34" charset="0"/>
              <a:buChar char="•"/>
            </a:pPr>
            <a:r>
              <a:rPr lang="ko-KR" altLang="en-US" sz="1200" b="1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Roboto Black" panose="02000000000000000000" pitchFamily="50" charset="0"/>
              </a:rPr>
              <a:t>선진국의 발 빠른 소재 </a:t>
            </a:r>
            <a:r>
              <a:rPr lang="en-US" altLang="ko-KR" sz="1200" b="1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Roboto Black" panose="02000000000000000000" pitchFamily="50" charset="0"/>
              </a:rPr>
              <a:t>AI </a:t>
            </a:r>
            <a:r>
              <a:rPr lang="ko-KR" altLang="en-US" sz="1200" b="1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Roboto Black" panose="02000000000000000000" pitchFamily="50" charset="0"/>
              </a:rPr>
              <a:t>전략 및 정책</a:t>
            </a:r>
            <a:endParaRPr lang="en-US" altLang="ko-KR" sz="1200" b="1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122" name="그룹 35">
            <a:extLst>
              <a:ext uri="{FF2B5EF4-FFF2-40B4-BE49-F238E27FC236}">
                <a16:creationId xmlns:a16="http://schemas.microsoft.com/office/drawing/2014/main" id="{06AA69A3-BA4E-4E47-BFE8-467ADBB66AB5}"/>
              </a:ext>
            </a:extLst>
          </p:cNvPr>
          <p:cNvGrpSpPr/>
          <p:nvPr/>
        </p:nvGrpSpPr>
        <p:grpSpPr>
          <a:xfrm>
            <a:off x="1246838" y="5612127"/>
            <a:ext cx="3160690" cy="346205"/>
            <a:chOff x="8990891" y="5648176"/>
            <a:chExt cx="3160690" cy="380826"/>
          </a:xfrm>
        </p:grpSpPr>
        <p:pic>
          <p:nvPicPr>
            <p:cNvPr id="123" name="_x585090672" descr="EMB00001848344b">
              <a:extLst>
                <a:ext uri="{FF2B5EF4-FFF2-40B4-BE49-F238E27FC236}">
                  <a16:creationId xmlns:a16="http://schemas.microsoft.com/office/drawing/2014/main" id="{586767A5-CE8A-A449-316E-529BE56FB76B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09" r="6409"/>
            <a:stretch/>
          </p:blipFill>
          <p:spPr bwMode="auto">
            <a:xfrm>
              <a:off x="8990891" y="5648176"/>
              <a:ext cx="559165" cy="380826"/>
            </a:xfrm>
            <a:prstGeom prst="rect">
              <a:avLst/>
            </a:prstGeom>
            <a:noFill/>
            <a:effectLst>
              <a:outerShdw blurRad="152400" dist="88900" dir="2700000" algn="tl" rotWithShape="0">
                <a:prstClr val="black">
                  <a:alpha val="2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DDDB8D3-3DC2-7BCC-9778-8EB82A3F0CC1}"/>
                </a:ext>
              </a:extLst>
            </p:cNvPr>
            <p:cNvSpPr txBox="1"/>
            <p:nvPr/>
          </p:nvSpPr>
          <p:spPr>
            <a:xfrm>
              <a:off x="9559581" y="5700089"/>
              <a:ext cx="2592000" cy="287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 latinLnBrk="0"/>
              <a: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CIFAR AI Chair  </a:t>
              </a: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정책</a:t>
              </a:r>
            </a:p>
          </p:txBody>
        </p:sp>
      </p:grpSp>
      <p:sp>
        <p:nvSpPr>
          <p:cNvPr id="125" name="TextBox 164">
            <a:extLst>
              <a:ext uri="{FF2B5EF4-FFF2-40B4-BE49-F238E27FC236}">
                <a16:creationId xmlns:a16="http://schemas.microsoft.com/office/drawing/2014/main" id="{55A0AD75-3226-0401-0AFC-9ABCB68C14B5}"/>
              </a:ext>
            </a:extLst>
          </p:cNvPr>
          <p:cNvSpPr txBox="1"/>
          <p:nvPr/>
        </p:nvSpPr>
        <p:spPr>
          <a:xfrm rot="5400000">
            <a:off x="789883" y="5447799"/>
            <a:ext cx="369332" cy="674862"/>
          </a:xfrm>
          <a:prstGeom prst="rect">
            <a:avLst/>
          </a:prstGeom>
          <a:noFill/>
        </p:spPr>
        <p:txBody>
          <a:bodyPr vert="vert270" wrap="square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캐나다</a:t>
            </a:r>
          </a:p>
        </p:txBody>
      </p:sp>
      <p:grpSp>
        <p:nvGrpSpPr>
          <p:cNvPr id="126" name="그룹 44">
            <a:extLst>
              <a:ext uri="{FF2B5EF4-FFF2-40B4-BE49-F238E27FC236}">
                <a16:creationId xmlns:a16="http://schemas.microsoft.com/office/drawing/2014/main" id="{5FD67EF7-E1B2-4CFB-CD8F-37DD30489945}"/>
              </a:ext>
            </a:extLst>
          </p:cNvPr>
          <p:cNvGrpSpPr/>
          <p:nvPr/>
        </p:nvGrpSpPr>
        <p:grpSpPr>
          <a:xfrm>
            <a:off x="1246838" y="4481772"/>
            <a:ext cx="3231924" cy="446276"/>
            <a:chOff x="8990891" y="4651253"/>
            <a:chExt cx="3231924" cy="490904"/>
          </a:xfrm>
        </p:grpSpPr>
        <p:pic>
          <p:nvPicPr>
            <p:cNvPr id="127" name="_x540298168" descr="EMB000018483449">
              <a:extLst>
                <a:ext uri="{FF2B5EF4-FFF2-40B4-BE49-F238E27FC236}">
                  <a16:creationId xmlns:a16="http://schemas.microsoft.com/office/drawing/2014/main" id="{7174EBF4-483B-0947-A6F6-2C1EBAC9DEE9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0891" y="4691672"/>
              <a:ext cx="559165" cy="380826"/>
            </a:xfrm>
            <a:prstGeom prst="rect">
              <a:avLst/>
            </a:prstGeom>
            <a:noFill/>
            <a:effectLst>
              <a:outerShdw blurRad="152400" dist="88900" dir="2700000" algn="tl" rotWithShape="0">
                <a:prstClr val="black">
                  <a:alpha val="2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F0ED6A7-3095-1715-DDD7-D7B880340E47}"/>
                </a:ext>
              </a:extLst>
            </p:cNvPr>
            <p:cNvSpPr txBox="1"/>
            <p:nvPr/>
          </p:nvSpPr>
          <p:spPr>
            <a:xfrm>
              <a:off x="9559581" y="4651253"/>
              <a:ext cx="2663234" cy="4909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fontAlgn="ctr" latinLnBrk="0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소재 게놈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(MGI, `21)</a:t>
              </a:r>
              <a:b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</a:b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소재</a:t>
              </a: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혁신 플랫폼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(MIP, `15)</a:t>
              </a:r>
              <a:endParaRPr lang="en-US" altLang="ko-KR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29" name="TextBox 147">
            <a:extLst>
              <a:ext uri="{FF2B5EF4-FFF2-40B4-BE49-F238E27FC236}">
                <a16:creationId xmlns:a16="http://schemas.microsoft.com/office/drawing/2014/main" id="{C600DEA9-AF81-C41B-FE7D-6699C0B6ED6B}"/>
              </a:ext>
            </a:extLst>
          </p:cNvPr>
          <p:cNvSpPr txBox="1"/>
          <p:nvPr/>
        </p:nvSpPr>
        <p:spPr>
          <a:xfrm rot="5400000">
            <a:off x="783785" y="4486754"/>
            <a:ext cx="363736" cy="409729"/>
          </a:xfrm>
          <a:prstGeom prst="rect">
            <a:avLst/>
          </a:prstGeom>
          <a:noFill/>
        </p:spPr>
        <p:txBody>
          <a:bodyPr vert="vert270" wrap="square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미국</a:t>
            </a:r>
          </a:p>
        </p:txBody>
      </p:sp>
      <p:grpSp>
        <p:nvGrpSpPr>
          <p:cNvPr id="130" name="그룹 48">
            <a:extLst>
              <a:ext uri="{FF2B5EF4-FFF2-40B4-BE49-F238E27FC236}">
                <a16:creationId xmlns:a16="http://schemas.microsoft.com/office/drawing/2014/main" id="{A71886E9-7C49-2D97-3077-B8DFB7C1CE68}"/>
              </a:ext>
            </a:extLst>
          </p:cNvPr>
          <p:cNvGrpSpPr/>
          <p:nvPr/>
        </p:nvGrpSpPr>
        <p:grpSpPr>
          <a:xfrm>
            <a:off x="1246838" y="5043966"/>
            <a:ext cx="3253154" cy="446276"/>
            <a:chOff x="8990891" y="5107981"/>
            <a:chExt cx="3253154" cy="490904"/>
          </a:xfrm>
        </p:grpSpPr>
        <p:pic>
          <p:nvPicPr>
            <p:cNvPr id="131" name="_x584986840" descr="EMB00001848344a">
              <a:extLst>
                <a:ext uri="{FF2B5EF4-FFF2-40B4-BE49-F238E27FC236}">
                  <a16:creationId xmlns:a16="http://schemas.microsoft.com/office/drawing/2014/main" id="{1D617360-9AEC-4D0F-3B7A-87B3CEEE68DA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0891" y="5148400"/>
              <a:ext cx="559165" cy="380826"/>
            </a:xfrm>
            <a:prstGeom prst="rect">
              <a:avLst/>
            </a:prstGeom>
            <a:noFill/>
            <a:effectLst>
              <a:outerShdw blurRad="152400" dist="88900" dir="2700000" algn="tl" rotWithShape="0">
                <a:prstClr val="black">
                  <a:alpha val="2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7678F9A-51D6-6802-741C-C5F951A9A005}"/>
                </a:ext>
              </a:extLst>
            </p:cNvPr>
            <p:cNvSpPr txBox="1"/>
            <p:nvPr/>
          </p:nvSpPr>
          <p:spPr>
            <a:xfrm>
              <a:off x="9559581" y="5107981"/>
              <a:ext cx="2684464" cy="4909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 latinLnBrk="0"/>
              <a: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Dial-a-Molecule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(`10-`25)</a:t>
              </a:r>
              <a:b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</a:br>
              <a: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SMART-POM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(`15-`21)</a:t>
              </a:r>
              <a:endParaRPr lang="en-US" altLang="ko-KR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33" name="TextBox 129">
            <a:extLst>
              <a:ext uri="{FF2B5EF4-FFF2-40B4-BE49-F238E27FC236}">
                <a16:creationId xmlns:a16="http://schemas.microsoft.com/office/drawing/2014/main" id="{77EC0BF3-907D-E062-B0D2-9C7DB115A042}"/>
              </a:ext>
            </a:extLst>
          </p:cNvPr>
          <p:cNvSpPr txBox="1"/>
          <p:nvPr/>
        </p:nvSpPr>
        <p:spPr>
          <a:xfrm rot="5400000">
            <a:off x="783784" y="5048948"/>
            <a:ext cx="363736" cy="409729"/>
          </a:xfrm>
          <a:prstGeom prst="rect">
            <a:avLst/>
          </a:prstGeom>
          <a:noFill/>
        </p:spPr>
        <p:txBody>
          <a:bodyPr vert="vert270" wrap="square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유럽</a:t>
            </a:r>
          </a:p>
        </p:txBody>
      </p:sp>
      <p:sp>
        <p:nvSpPr>
          <p:cNvPr id="134" name="양쪽 대괄호 66">
            <a:extLst>
              <a:ext uri="{FF2B5EF4-FFF2-40B4-BE49-F238E27FC236}">
                <a16:creationId xmlns:a16="http://schemas.microsoft.com/office/drawing/2014/main" id="{846BB6B5-7F52-0FE0-7362-7C91F8AE8A37}"/>
              </a:ext>
            </a:extLst>
          </p:cNvPr>
          <p:cNvSpPr/>
          <p:nvPr/>
        </p:nvSpPr>
        <p:spPr>
          <a:xfrm>
            <a:off x="595661" y="6132995"/>
            <a:ext cx="3551642" cy="231725"/>
          </a:xfrm>
          <a:prstGeom prst="bracketPair">
            <a:avLst/>
          </a:prstGeom>
          <a:solidFill>
            <a:srgbClr val="C00000">
              <a:alpha val="9000"/>
            </a:srgbClr>
          </a:solidFill>
          <a:ln>
            <a:solidFill>
              <a:srgbClr val="4C52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선진국 기술독점 및 전략적 통제 </a:t>
            </a:r>
            <a:r>
              <a:rPr lang="en-US" altLang="ko-KR" sz="1400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  <a:sym typeface="Wingdings" panose="05000000000000000000" pitchFamily="2" charset="2"/>
              </a:rPr>
              <a:t>국산화 필요</a:t>
            </a:r>
            <a:endParaRPr lang="ko-KR" altLang="en-US" sz="1400" dirty="0">
              <a:solidFill>
                <a:srgbClr val="B2646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35" name="사각형: 둥근 모서리 222">
            <a:extLst>
              <a:ext uri="{FF2B5EF4-FFF2-40B4-BE49-F238E27FC236}">
                <a16:creationId xmlns:a16="http://schemas.microsoft.com/office/drawing/2014/main" id="{072289F3-923C-D965-5F8D-63B27BED90DA}"/>
              </a:ext>
            </a:extLst>
          </p:cNvPr>
          <p:cNvSpPr/>
          <p:nvPr/>
        </p:nvSpPr>
        <p:spPr>
          <a:xfrm>
            <a:off x="4589658" y="1052736"/>
            <a:ext cx="4239314" cy="5446673"/>
          </a:xfrm>
          <a:prstGeom prst="roundRect">
            <a:avLst>
              <a:gd name="adj" fmla="val 6318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C5262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36" name="사각형: 둥근 모서리 223">
            <a:extLst>
              <a:ext uri="{FF2B5EF4-FFF2-40B4-BE49-F238E27FC236}">
                <a16:creationId xmlns:a16="http://schemas.microsoft.com/office/drawing/2014/main" id="{463A97F1-73CB-6527-B076-7E0636687B0B}"/>
              </a:ext>
            </a:extLst>
          </p:cNvPr>
          <p:cNvSpPr/>
          <p:nvPr/>
        </p:nvSpPr>
        <p:spPr>
          <a:xfrm>
            <a:off x="4674256" y="891928"/>
            <a:ext cx="3919776" cy="360000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소재 산업의 </a:t>
            </a:r>
            <a:r>
              <a:rPr lang="ko-KR" altLang="en-US" sz="160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중요성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pic>
        <p:nvPicPr>
          <p:cNvPr id="137" name="그림 53">
            <a:extLst>
              <a:ext uri="{FF2B5EF4-FFF2-40B4-BE49-F238E27FC236}">
                <a16:creationId xmlns:a16="http://schemas.microsoft.com/office/drawing/2014/main" id="{68D8A44A-433E-D8D9-CB73-2F92238088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288" t="19333" r="74263" b="61878"/>
          <a:stretch/>
        </p:blipFill>
        <p:spPr>
          <a:xfrm>
            <a:off x="5393522" y="1725244"/>
            <a:ext cx="237517" cy="381000"/>
          </a:xfrm>
          <a:prstGeom prst="rect">
            <a:avLst/>
          </a:prstGeom>
        </p:spPr>
      </p:pic>
      <p:pic>
        <p:nvPicPr>
          <p:cNvPr id="138" name="그림 54">
            <a:extLst>
              <a:ext uri="{FF2B5EF4-FFF2-40B4-BE49-F238E27FC236}">
                <a16:creationId xmlns:a16="http://schemas.microsoft.com/office/drawing/2014/main" id="{011ACD4E-2871-00C4-6267-7A4A4C507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4343" y="3946658"/>
            <a:ext cx="4142479" cy="2146638"/>
          </a:xfrm>
          <a:prstGeom prst="rect">
            <a:avLst/>
          </a:prstGeom>
        </p:spPr>
      </p:pic>
      <p:grpSp>
        <p:nvGrpSpPr>
          <p:cNvPr id="139" name="그룹 73">
            <a:extLst>
              <a:ext uri="{FF2B5EF4-FFF2-40B4-BE49-F238E27FC236}">
                <a16:creationId xmlns:a16="http://schemas.microsoft.com/office/drawing/2014/main" id="{93AE0EA0-AA61-206B-5DAB-0A49A6D4C06D}"/>
              </a:ext>
            </a:extLst>
          </p:cNvPr>
          <p:cNvGrpSpPr/>
          <p:nvPr/>
        </p:nvGrpSpPr>
        <p:grpSpPr>
          <a:xfrm>
            <a:off x="4588669" y="1581614"/>
            <a:ext cx="999305" cy="612000"/>
            <a:chOff x="4588669" y="2309085"/>
            <a:chExt cx="999305" cy="612000"/>
          </a:xfrm>
        </p:grpSpPr>
        <p:sp>
          <p:nvSpPr>
            <p:cNvPr id="140" name="타원 74">
              <a:extLst>
                <a:ext uri="{FF2B5EF4-FFF2-40B4-BE49-F238E27FC236}">
                  <a16:creationId xmlns:a16="http://schemas.microsoft.com/office/drawing/2014/main" id="{6F6B90E7-3F19-71C7-26D1-C1B67D133D8C}"/>
                </a:ext>
              </a:extLst>
            </p:cNvPr>
            <p:cNvSpPr/>
            <p:nvPr/>
          </p:nvSpPr>
          <p:spPr>
            <a:xfrm>
              <a:off x="4782321" y="2309085"/>
              <a:ext cx="612000" cy="612000"/>
            </a:xfrm>
            <a:prstGeom prst="ellipse">
              <a:avLst/>
            </a:prstGeom>
            <a:solidFill>
              <a:srgbClr val="197D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1000" b="1" dirty="0">
                <a:latin typeface="페이퍼로지 8 ExtraBold" pitchFamily="2" charset="-127"/>
                <a:ea typeface="Paperlogy 8 ExtraBold" pitchFamily="2" charset="-127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4220458-B06C-249E-F1CE-992B4D2F8419}"/>
                </a:ext>
              </a:extLst>
            </p:cNvPr>
            <p:cNvSpPr txBox="1"/>
            <p:nvPr/>
          </p:nvSpPr>
          <p:spPr>
            <a:xfrm>
              <a:off x="4588669" y="2384253"/>
              <a:ext cx="99930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200" b="1" dirty="0">
                  <a:solidFill>
                    <a:schemeClr val="bg1"/>
                  </a:solidFill>
                  <a:latin typeface="페이퍼로지 6 SemiBold" pitchFamily="2" charset="-127"/>
                  <a:ea typeface="Paperlogy 6 SemiBold" pitchFamily="2" charset="-127"/>
                </a:rPr>
                <a:t>글로벌 </a:t>
              </a:r>
              <a:r>
                <a:rPr kumimoji="1" lang="en-US" altLang="ja-JP" sz="1200" b="1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/>
              </a:r>
              <a:br>
                <a:rPr kumimoji="1" lang="en-US" altLang="ja-JP" sz="1200" b="1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</a:br>
              <a:r>
                <a:rPr kumimoji="1" lang="ja-JP" altLang="en-US" sz="1200" b="1" dirty="0">
                  <a:solidFill>
                    <a:schemeClr val="bg1"/>
                  </a:solidFill>
                  <a:latin typeface="페이퍼로지 6 SemiBold" pitchFamily="2" charset="-127"/>
                  <a:ea typeface="Paperlogy 6 SemiBold" pitchFamily="2" charset="-127"/>
                </a:rPr>
                <a:t>소재시장</a:t>
              </a: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A22BFFB8-1B5E-894F-D139-D5182745F37C}"/>
              </a:ext>
            </a:extLst>
          </p:cNvPr>
          <p:cNvSpPr txBox="1"/>
          <p:nvPr/>
        </p:nvSpPr>
        <p:spPr>
          <a:xfrm>
            <a:off x="5151403" y="1784115"/>
            <a:ext cx="3341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매년 성장 중인 글로벌 소재 시장</a:t>
            </a:r>
            <a:endParaRPr kumimoji="1" lang="ja-JP" altLang="en-US" sz="1400" b="1" dirty="0">
              <a:solidFill>
                <a:schemeClr val="tx1"/>
              </a:solidFill>
              <a:latin typeface="페이퍼로지 7 Bold" pitchFamily="2" charset="-127"/>
              <a:ea typeface="Paperlogy 7 Bold" pitchFamily="2" charset="-127"/>
            </a:endParaRPr>
          </a:p>
        </p:txBody>
      </p:sp>
      <p:grpSp>
        <p:nvGrpSpPr>
          <p:cNvPr id="143" name="그룹 80">
            <a:extLst>
              <a:ext uri="{FF2B5EF4-FFF2-40B4-BE49-F238E27FC236}">
                <a16:creationId xmlns:a16="http://schemas.microsoft.com/office/drawing/2014/main" id="{D89AF12A-93A2-A0C4-EC85-A0F7D33F0616}"/>
              </a:ext>
            </a:extLst>
          </p:cNvPr>
          <p:cNvGrpSpPr/>
          <p:nvPr/>
        </p:nvGrpSpPr>
        <p:grpSpPr>
          <a:xfrm>
            <a:off x="4692169" y="1996594"/>
            <a:ext cx="3997323" cy="1711526"/>
            <a:chOff x="4020795" y="2822054"/>
            <a:chExt cx="3997323" cy="1711526"/>
          </a:xfrm>
        </p:grpSpPr>
        <p:grpSp>
          <p:nvGrpSpPr>
            <p:cNvPr id="144" name="그룹 86">
              <a:extLst>
                <a:ext uri="{FF2B5EF4-FFF2-40B4-BE49-F238E27FC236}">
                  <a16:creationId xmlns:a16="http://schemas.microsoft.com/office/drawing/2014/main" id="{201DCB8E-32E1-D9F5-6629-5D12A9949EDC}"/>
                </a:ext>
              </a:extLst>
            </p:cNvPr>
            <p:cNvGrpSpPr/>
            <p:nvPr/>
          </p:nvGrpSpPr>
          <p:grpSpPr>
            <a:xfrm>
              <a:off x="5302476" y="2822054"/>
              <a:ext cx="2715642" cy="1711526"/>
              <a:chOff x="5461231" y="2626491"/>
              <a:chExt cx="2715642" cy="1882679"/>
            </a:xfrm>
          </p:grpSpPr>
          <p:grpSp>
            <p:nvGrpSpPr>
              <p:cNvPr id="146" name="그룹 89">
                <a:extLst>
                  <a:ext uri="{FF2B5EF4-FFF2-40B4-BE49-F238E27FC236}">
                    <a16:creationId xmlns:a16="http://schemas.microsoft.com/office/drawing/2014/main" id="{8563586F-9B4F-D665-0171-4B93466B0A04}"/>
                  </a:ext>
                </a:extLst>
              </p:cNvPr>
              <p:cNvGrpSpPr/>
              <p:nvPr/>
            </p:nvGrpSpPr>
            <p:grpSpPr>
              <a:xfrm>
                <a:off x="5461231" y="2626491"/>
                <a:ext cx="2715642" cy="1662223"/>
                <a:chOff x="5461231" y="2626491"/>
                <a:chExt cx="2715642" cy="1662223"/>
              </a:xfrm>
            </p:grpSpPr>
            <p:graphicFrame>
              <p:nvGraphicFramePr>
                <p:cNvPr id="148" name="차트 91">
                  <a:extLst>
                    <a:ext uri="{FF2B5EF4-FFF2-40B4-BE49-F238E27FC236}">
                      <a16:creationId xmlns:a16="http://schemas.microsoft.com/office/drawing/2014/main" id="{904C9395-4D64-ADB9-F4E4-5564810C822E}"/>
                    </a:ext>
                  </a:extLst>
                </p:cNvPr>
                <p:cNvGraphicFramePr/>
                <p:nvPr/>
              </p:nvGraphicFramePr>
              <p:xfrm>
                <a:off x="5461231" y="2626491"/>
                <a:ext cx="2715642" cy="1619396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7"/>
                </a:graphicData>
              </a:graphic>
            </p:graphicFrame>
            <p:grpSp>
              <p:nvGrpSpPr>
                <p:cNvPr id="149" name="그룹 92">
                  <a:extLst>
                    <a:ext uri="{FF2B5EF4-FFF2-40B4-BE49-F238E27FC236}">
                      <a16:creationId xmlns:a16="http://schemas.microsoft.com/office/drawing/2014/main" id="{EA105A43-C035-FB12-973E-56C81CCB4993}"/>
                    </a:ext>
                  </a:extLst>
                </p:cNvPr>
                <p:cNvGrpSpPr/>
                <p:nvPr/>
              </p:nvGrpSpPr>
              <p:grpSpPr>
                <a:xfrm>
                  <a:off x="5516233" y="2864148"/>
                  <a:ext cx="2637238" cy="1424566"/>
                  <a:chOff x="680010" y="4993604"/>
                  <a:chExt cx="3230000" cy="1295060"/>
                </a:xfrm>
              </p:grpSpPr>
              <p:grpSp>
                <p:nvGrpSpPr>
                  <p:cNvPr id="150" name="그룹 93">
                    <a:extLst>
                      <a:ext uri="{FF2B5EF4-FFF2-40B4-BE49-F238E27FC236}">
                        <a16:creationId xmlns:a16="http://schemas.microsoft.com/office/drawing/2014/main" id="{393EB16E-5237-AB40-ACE2-B28DCCB0FB90}"/>
                      </a:ext>
                    </a:extLst>
                  </p:cNvPr>
                  <p:cNvGrpSpPr/>
                  <p:nvPr/>
                </p:nvGrpSpPr>
                <p:grpSpPr>
                  <a:xfrm>
                    <a:off x="830587" y="6130928"/>
                    <a:ext cx="2856336" cy="157736"/>
                    <a:chOff x="719069" y="6091382"/>
                    <a:chExt cx="2856336" cy="157736"/>
                  </a:xfrm>
                </p:grpSpPr>
                <p:sp>
                  <p:nvSpPr>
                    <p:cNvPr id="156" name="TextBox 155">
                      <a:extLst>
                        <a:ext uri="{FF2B5EF4-FFF2-40B4-BE49-F238E27FC236}">
                          <a16:creationId xmlns:a16="http://schemas.microsoft.com/office/drawing/2014/main" id="{F337E6F7-6B10-5975-A4D1-DE6D3DACF1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9069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`24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7" name="TextBox 156">
                      <a:extLst>
                        <a:ext uri="{FF2B5EF4-FFF2-40B4-BE49-F238E27FC236}">
                          <a16:creationId xmlns:a16="http://schemas.microsoft.com/office/drawing/2014/main" id="{6F1B0D26-3F9D-F889-A5B8-AFBFAA5D13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09834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`26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8" name="TextBox 157">
                      <a:extLst>
                        <a:ext uri="{FF2B5EF4-FFF2-40B4-BE49-F238E27FC236}">
                          <a16:creationId xmlns:a16="http://schemas.microsoft.com/office/drawing/2014/main" id="{9720C39F-CBF2-B10F-44B1-E9926EB86B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0598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`28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9" name="TextBox 158">
                      <a:extLst>
                        <a:ext uri="{FF2B5EF4-FFF2-40B4-BE49-F238E27FC236}">
                          <a16:creationId xmlns:a16="http://schemas.microsoft.com/office/drawing/2014/main" id="{908ABDD1-AEB8-F0B2-9B55-82C49FBE06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91363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`30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0" name="TextBox 159">
                      <a:extLst>
                        <a:ext uri="{FF2B5EF4-FFF2-40B4-BE49-F238E27FC236}">
                          <a16:creationId xmlns:a16="http://schemas.microsoft.com/office/drawing/2014/main" id="{54B45E6C-A2C9-182E-CF5F-716075D730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82129" y="6091382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`32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D5CD6CA7-76AD-ECBC-2963-7A760879DA42}"/>
                      </a:ext>
                    </a:extLst>
                  </p:cNvPr>
                  <p:cNvSpPr txBox="1"/>
                  <p:nvPr/>
                </p:nvSpPr>
                <p:spPr>
                  <a:xfrm>
                    <a:off x="680010" y="5354657"/>
                    <a:ext cx="794427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900">
                        <a:latin typeface="Paperlogy 6 SemiBold" pitchFamily="2" charset="-127"/>
                        <a:ea typeface="Paperlogy 6 SemiBold" pitchFamily="2" charset="-127"/>
                        <a:cs typeface="Arial" panose="020B0604020202020204" pitchFamily="34" charset="0"/>
                      </a:defRPr>
                    </a:lvl1pPr>
                  </a:lstStyle>
                  <a:p>
                    <a:r>
                      <a:rPr lang="en-US" altLang="ko-KR" sz="1000" dirty="0">
                        <a:latin typeface="페이퍼로지 5 Medium" pitchFamily="2" charset="-127"/>
                        <a:ea typeface="페이퍼로지 5 Medium" pitchFamily="2" charset="-127"/>
                      </a:rPr>
                      <a:t>2,636</a:t>
                    </a:r>
                    <a:endParaRPr lang="ko-KR" altLang="en-US" sz="1000" dirty="0">
                      <a:latin typeface="페이퍼로지 5 Medium" pitchFamily="2" charset="-127"/>
                      <a:ea typeface="페이퍼로지 5 Medium" pitchFamily="2" charset="-127"/>
                    </a:endParaRPr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41BDC329-EE8C-D376-7F00-59058ABD5F4F}"/>
                      </a:ext>
                    </a:extLst>
                  </p:cNvPr>
                  <p:cNvSpPr txBox="1"/>
                  <p:nvPr/>
                </p:nvSpPr>
                <p:spPr>
                  <a:xfrm>
                    <a:off x="1287052" y="5343869"/>
                    <a:ext cx="794427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2,980</a:t>
                    </a:r>
                    <a:endParaRPr lang="ko-KR" altLang="en-US" sz="700" dirty="0">
                      <a:solidFill>
                        <a:schemeClr val="bg1">
                          <a:lumMod val="65000"/>
                        </a:schemeClr>
                      </a:solidFill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1F434700-CDB6-869E-C8BE-61A019E19DF9}"/>
                      </a:ext>
                    </a:extLst>
                  </p:cNvPr>
                  <p:cNvSpPr txBox="1"/>
                  <p:nvPr/>
                </p:nvSpPr>
                <p:spPr>
                  <a:xfrm>
                    <a:off x="1871416" y="5246733"/>
                    <a:ext cx="794427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3,381</a:t>
                    </a:r>
                    <a:endParaRPr lang="ko-KR" altLang="en-US" sz="700" dirty="0">
                      <a:solidFill>
                        <a:schemeClr val="bg1">
                          <a:lumMod val="65000"/>
                        </a:schemeClr>
                      </a:solidFill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8A523396-62D6-D010-754A-5AE7CD43A0E3}"/>
                      </a:ext>
                    </a:extLst>
                  </p:cNvPr>
                  <p:cNvSpPr txBox="1"/>
                  <p:nvPr/>
                </p:nvSpPr>
                <p:spPr>
                  <a:xfrm>
                    <a:off x="2479189" y="5138036"/>
                    <a:ext cx="794427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3,854</a:t>
                    </a:r>
                    <a:endParaRPr lang="ko-KR" altLang="en-US" sz="700" dirty="0">
                      <a:solidFill>
                        <a:schemeClr val="bg1">
                          <a:lumMod val="65000"/>
                        </a:schemeClr>
                      </a:solidFill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F20A4A84-719B-F3DE-5FF4-50474CCF5861}"/>
                      </a:ext>
                    </a:extLst>
                  </p:cNvPr>
                  <p:cNvSpPr txBox="1"/>
                  <p:nvPr/>
                </p:nvSpPr>
                <p:spPr>
                  <a:xfrm>
                    <a:off x="3001666" y="4993604"/>
                    <a:ext cx="908344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4,413</a:t>
                    </a:r>
                    <a:endParaRPr lang="ko-KR" altLang="en-US" sz="1000" dirty="0"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1AD84E68-CAAE-35CE-88CB-AD75981A2D08}"/>
                  </a:ext>
                </a:extLst>
              </p:cNvPr>
              <p:cNvSpPr txBox="1"/>
              <p:nvPr/>
            </p:nvSpPr>
            <p:spPr>
              <a:xfrm>
                <a:off x="6453928" y="4272182"/>
                <a:ext cx="1525986" cy="23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700">
                    <a:solidFill>
                      <a:schemeClr val="bg1">
                        <a:lumMod val="65000"/>
                      </a:schemeClr>
                    </a:solidFill>
                    <a:latin typeface="Paperlogy 3 Light" pitchFamily="2" charset="-127"/>
                    <a:ea typeface="Paperlogy 3 Light" pitchFamily="2" charset="-127"/>
                  </a:defRPr>
                </a:lvl1pPr>
              </a:lstStyle>
              <a:p>
                <a:pPr algn="r"/>
                <a:r>
                  <a:rPr lang="ko-KR" altLang="en-US" sz="800" dirty="0">
                    <a:latin typeface="페이퍼로지 5 Medium" pitchFamily="2" charset="-127"/>
                    <a:ea typeface="페이퍼로지 5 Medium" pitchFamily="2" charset="-127"/>
                  </a:rPr>
                  <a:t>* </a:t>
                </a:r>
                <a:r>
                  <a:rPr lang="en-US" altLang="ko-KR" sz="800" dirty="0" err="1">
                    <a:latin typeface="페이퍼로지 5 Medium" pitchFamily="2" charset="-127"/>
                    <a:ea typeface="페이퍼로지 5 Medium" pitchFamily="2" charset="-127"/>
                  </a:rPr>
                  <a:t>Zionmarket</a:t>
                </a:r>
                <a:r>
                  <a:rPr lang="en-US" altLang="ko-KR" sz="800" dirty="0">
                    <a:latin typeface="페이퍼로지 5 Medium" pitchFamily="2" charset="-127"/>
                    <a:ea typeface="페이퍼로지 5 Medium" pitchFamily="2" charset="-127"/>
                  </a:rPr>
                  <a:t> Research</a:t>
                </a:r>
                <a:endParaRPr lang="ko-KR" altLang="en-US" sz="8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D87B916-3F41-8691-2154-3A80D73BD9C1}"/>
                </a:ext>
              </a:extLst>
            </p:cNvPr>
            <p:cNvSpPr txBox="1"/>
            <p:nvPr/>
          </p:nvSpPr>
          <p:spPr>
            <a:xfrm>
              <a:off x="4020795" y="3265261"/>
              <a:ext cx="1455239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4625" indent="-174625" algn="ctr">
                <a:lnSpc>
                  <a:spcPct val="120000"/>
                </a:lnSpc>
                <a:buClr>
                  <a:srgbClr val="197DFA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Paperlogy 5 Medium" pitchFamily="2" charset="-127"/>
                  <a:ea typeface="Paperlogy 5 Medium" pitchFamily="2" charset="-127"/>
                  <a:cs typeface="Arial" panose="020B0604020202020204" pitchFamily="34" charset="0"/>
                </a:defRPr>
              </a:lvl1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ko-KR" altLang="en-US" sz="1100" dirty="0">
                  <a:solidFill>
                    <a:srgbClr val="1799FF"/>
                  </a:solidFill>
                  <a:latin typeface="페이퍼로지 5 Medium" pitchFamily="2" charset="-127"/>
                  <a:ea typeface="페이퍼로지 5 Medium" pitchFamily="2" charset="-127"/>
                </a:rPr>
                <a:t>글로벌 소재 </a:t>
              </a:r>
              <a:r>
                <a:rPr lang="en-US" altLang="ko-KR" sz="1100" dirty="0">
                  <a:solidFill>
                    <a:srgbClr val="1799FF"/>
                  </a:solidFill>
                  <a:latin typeface="페이퍼로지 5 Medium" pitchFamily="2" charset="-127"/>
                  <a:ea typeface="페이퍼로지 5 Medium" pitchFamily="2" charset="-127"/>
                </a:rPr>
                <a:t/>
              </a:r>
              <a:br>
                <a:rPr lang="en-US" altLang="ko-KR" sz="1100" dirty="0">
                  <a:solidFill>
                    <a:srgbClr val="1799FF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lang="ko-KR" altLang="en-US" sz="1100" dirty="0">
                  <a:solidFill>
                    <a:srgbClr val="1799FF"/>
                  </a:solidFill>
                  <a:latin typeface="페이퍼로지 5 Medium" pitchFamily="2" charset="-127"/>
                  <a:ea typeface="페이퍼로지 5 Medium" pitchFamily="2" charset="-127"/>
                </a:rPr>
                <a:t>시장 규모</a:t>
              </a:r>
              <a:endParaRPr lang="en-US" altLang="ko-KR" sz="1100" dirty="0">
                <a:solidFill>
                  <a:srgbClr val="1799FF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indent="0">
                <a:lnSpc>
                  <a:spcPct val="100000"/>
                </a:lnSpc>
                <a:buNone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4,413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조원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(`32)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821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4CC46EE9-A3E1-49E6-B459-690FB4C18446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AB6693-BD73-DCFA-C375-14DC7B87A8B7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사각형: 둥근 모서리 75">
            <a:extLst>
              <a:ext uri="{FF2B5EF4-FFF2-40B4-BE49-F238E27FC236}">
                <a16:creationId xmlns:a16="http://schemas.microsoft.com/office/drawing/2014/main" id="{8B8C1B19-751C-79BA-2780-1982AB311510}"/>
              </a:ext>
            </a:extLst>
          </p:cNvPr>
          <p:cNvSpPr/>
          <p:nvPr/>
        </p:nvSpPr>
        <p:spPr>
          <a:xfrm>
            <a:off x="305437" y="1151250"/>
            <a:ext cx="8360425" cy="5329851"/>
          </a:xfrm>
          <a:prstGeom prst="roundRect">
            <a:avLst>
              <a:gd name="adj" fmla="val 5365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algn="ctr" defTabSz="457383" rtl="0">
              <a:defRPr/>
            </a:pPr>
            <a:endParaRPr lang="ko-KR" altLang="en-US" sz="800" kern="1200" dirty="0">
              <a:solidFill>
                <a:srgbClr val="4C5262"/>
              </a:solidFill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id="{AE64BD65-BB76-ADED-9244-B5428953296F}"/>
              </a:ext>
            </a:extLst>
          </p:cNvPr>
          <p:cNvSpPr/>
          <p:nvPr/>
        </p:nvSpPr>
        <p:spPr>
          <a:xfrm>
            <a:off x="478137" y="955081"/>
            <a:ext cx="3921165" cy="360128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algn="ctr" defTabSz="457383" rtl="0">
              <a:lnSpc>
                <a:spcPct val="150000"/>
              </a:lnSpc>
              <a:defRPr/>
            </a:pPr>
            <a:r>
              <a:rPr lang="ko-KR" altLang="en-US" sz="1601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소재 개발 과정의 </a:t>
            </a:r>
            <a:r>
              <a:rPr lang="en-US" altLang="ko-KR" sz="1601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601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도입 필요성</a:t>
            </a:r>
          </a:p>
        </p:txBody>
      </p:sp>
      <p:pic>
        <p:nvPicPr>
          <p:cNvPr id="9" name="그림 55">
            <a:extLst>
              <a:ext uri="{FF2B5EF4-FFF2-40B4-BE49-F238E27FC236}">
                <a16:creationId xmlns:a16="http://schemas.microsoft.com/office/drawing/2014/main" id="{5AB9976B-0A0E-D622-283D-CF2B566EB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34" y="1340768"/>
            <a:ext cx="3630371" cy="19250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BA8DDA-FD98-A814-8585-C45C37544EB7}"/>
              </a:ext>
            </a:extLst>
          </p:cNvPr>
          <p:cNvSpPr txBox="1"/>
          <p:nvPr/>
        </p:nvSpPr>
        <p:spPr>
          <a:xfrm>
            <a:off x="532133" y="3573016"/>
            <a:ext cx="3813173" cy="1187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just" defTabSz="457383" rtl="0"/>
            <a:r>
              <a:rPr lang="ko-KR" alt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금속소재 설계의 어려움</a:t>
            </a:r>
            <a:endParaRPr lang="en-US" altLang="ko-KR" kern="120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  <a:cs typeface="+mn-cs"/>
            </a:endParaRPr>
          </a:p>
          <a:p>
            <a:pPr algn="just" defTabSz="457383" rtl="0">
              <a:lnSpc>
                <a:spcPct val="150000"/>
              </a:lnSpc>
            </a:pPr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금속소재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는 조합 변화에 </a:t>
            </a:r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조합변화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의 물성 </a:t>
            </a:r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비선형적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, </a:t>
            </a:r>
          </a:p>
          <a:p>
            <a:pPr algn="just" defTabSz="457383" rtl="0"/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공정조건에 따라 성능의 변화가 큼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.</a:t>
            </a:r>
          </a:p>
          <a:p>
            <a:pPr algn="just" defTabSz="457383" rtl="0">
              <a:lnSpc>
                <a:spcPct val="150000"/>
              </a:lnSpc>
            </a:pPr>
            <a:r>
              <a:rPr lang="ko-KR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→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공정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성능 간 정밀 예측 설계 초거대 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AI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개발 필요</a:t>
            </a:r>
            <a:endParaRPr lang="en-US" altLang="ko-KR" sz="1401" kern="1200" dirty="0">
              <a:solidFill>
                <a:srgbClr val="177DFA"/>
              </a:solidFill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sp>
        <p:nvSpPr>
          <p:cNvPr id="11" name="양쪽 대괄호 69">
            <a:extLst>
              <a:ext uri="{FF2B5EF4-FFF2-40B4-BE49-F238E27FC236}">
                <a16:creationId xmlns:a16="http://schemas.microsoft.com/office/drawing/2014/main" id="{A011ED96-2C63-382D-08F2-8D2BAFA7F360}"/>
              </a:ext>
            </a:extLst>
          </p:cNvPr>
          <p:cNvSpPr/>
          <p:nvPr/>
        </p:nvSpPr>
        <p:spPr>
          <a:xfrm>
            <a:off x="326524" y="3284984"/>
            <a:ext cx="4224390" cy="231807"/>
          </a:xfrm>
          <a:prstGeom prst="bracketPair">
            <a:avLst/>
          </a:prstGeom>
          <a:solidFill>
            <a:srgbClr val="C00000">
              <a:alpha val="9000"/>
            </a:srgbClr>
          </a:solidFill>
          <a:ln>
            <a:solidFill>
              <a:srgbClr val="4C52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AI</a:t>
            </a:r>
            <a:r>
              <a:rPr lang="ko-KR" altLang="en-US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의 성능 </a:t>
            </a:r>
            <a:r>
              <a:rPr lang="en-US" altLang="ko-KR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= </a:t>
            </a:r>
            <a:r>
              <a:rPr lang="ko-KR" altLang="en-US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 신소재</a:t>
            </a:r>
            <a:r>
              <a:rPr lang="en-US" altLang="ko-KR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공정 탐색 성공률 및 정확도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284ECA-5887-B6E9-2435-D6B9C34C4D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11"/>
          <a:stretch/>
        </p:blipFill>
        <p:spPr>
          <a:xfrm>
            <a:off x="811100" y="4725144"/>
            <a:ext cx="3184836" cy="14921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312352-4F7D-B683-EB06-7A608A960CAF}"/>
              </a:ext>
            </a:extLst>
          </p:cNvPr>
          <p:cNvSpPr txBox="1"/>
          <p:nvPr/>
        </p:nvSpPr>
        <p:spPr>
          <a:xfrm>
            <a:off x="899592" y="6176337"/>
            <a:ext cx="3038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tabLst>
                <a:tab pos="2298700" algn="l"/>
              </a:tabLst>
            </a:pP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조성</a:t>
            </a:r>
            <a:r>
              <a:rPr kumimoji="1" lang="en-US" altLang="ko-KR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공정</a:t>
            </a:r>
            <a:r>
              <a:rPr kumimoji="1" lang="en-US" altLang="ko-KR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미세조직</a:t>
            </a:r>
            <a:r>
              <a:rPr kumimoji="1" lang="en-US" altLang="ko-KR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물성 복잡한 상관관계</a:t>
            </a:r>
            <a:endParaRPr kumimoji="1" lang="en-US" altLang="ko-KR" sz="1200" dirty="0">
              <a:solidFill>
                <a:srgbClr val="4F63F2"/>
              </a:solidFill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sp>
        <p:nvSpPr>
          <p:cNvPr id="109" name="사각형: 둥근 모서리 222">
            <a:extLst>
              <a:ext uri="{FF2B5EF4-FFF2-40B4-BE49-F238E27FC236}">
                <a16:creationId xmlns:a16="http://schemas.microsoft.com/office/drawing/2014/main" id="{274DF354-56E2-2896-71AE-CDD05C8E9461}"/>
              </a:ext>
            </a:extLst>
          </p:cNvPr>
          <p:cNvSpPr/>
          <p:nvPr/>
        </p:nvSpPr>
        <p:spPr>
          <a:xfrm>
            <a:off x="4639406" y="1141460"/>
            <a:ext cx="4026456" cy="5329851"/>
          </a:xfrm>
          <a:prstGeom prst="roundRect">
            <a:avLst>
              <a:gd name="adj" fmla="val 7003"/>
            </a:avLst>
          </a:prstGeom>
          <a:solidFill>
            <a:srgbClr val="FFFFFF"/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algn="ctr" defTabSz="457383" rtl="0">
              <a:defRPr/>
            </a:pPr>
            <a:endParaRPr lang="ko-KR" altLang="en-US" sz="800" kern="1200" dirty="0">
              <a:solidFill>
                <a:srgbClr val="4C5262"/>
              </a:solidFill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8B9E47-776C-A98B-7EEE-567E019F57A6}"/>
              </a:ext>
            </a:extLst>
          </p:cNvPr>
          <p:cNvSpPr txBox="1"/>
          <p:nvPr/>
        </p:nvSpPr>
        <p:spPr>
          <a:xfrm>
            <a:off x="4791275" y="1412776"/>
            <a:ext cx="3813173" cy="908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just" defTabSz="457383" rtl="0"/>
            <a:r>
              <a:rPr lang="ko-KR" alt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금속소재 분야 기술 선점 필요</a:t>
            </a:r>
            <a:endParaRPr lang="en-US" altLang="ko-KR" kern="120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  <a:cs typeface="+mn-cs"/>
            </a:endParaRPr>
          </a:p>
          <a:p>
            <a:pPr algn="just" defTabSz="457383" rtl="0">
              <a:lnSpc>
                <a:spcPct val="150000"/>
              </a:lnSpc>
              <a:defRPr/>
            </a:pP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유기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화학 소재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: 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해외 선진국 설계 상용화</a:t>
            </a:r>
            <a:endParaRPr lang="en-US" altLang="ko-KR" sz="1401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383" rtl="0">
              <a:defRPr/>
            </a:pP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금속소재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: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 초기 단계로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독자적 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AI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모델 확보 필요</a:t>
            </a:r>
            <a:endParaRPr lang="en-US" altLang="ko-KR" sz="1401" kern="1200" dirty="0">
              <a:solidFill>
                <a:srgbClr val="177DFA"/>
              </a:solidFill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DAA531E9-B36D-161B-BF68-A690698D5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763" y="3920692"/>
            <a:ext cx="3217645" cy="2388628"/>
          </a:xfrm>
          <a:prstGeom prst="rect">
            <a:avLst/>
          </a:prstGeom>
        </p:spPr>
      </p:pic>
      <p:sp>
        <p:nvSpPr>
          <p:cNvPr id="111" name="TextBox 103">
            <a:extLst>
              <a:ext uri="{FF2B5EF4-FFF2-40B4-BE49-F238E27FC236}">
                <a16:creationId xmlns:a16="http://schemas.microsoft.com/office/drawing/2014/main" id="{127ED96F-2C3B-5E33-9B29-7D232F7776D2}"/>
              </a:ext>
            </a:extLst>
          </p:cNvPr>
          <p:cNvSpPr txBox="1"/>
          <p:nvPr/>
        </p:nvSpPr>
        <p:spPr>
          <a:xfrm>
            <a:off x="4788024" y="2492896"/>
            <a:ext cx="3813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220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만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신소재 발견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, 38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만 개 안정적 구조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, 736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실증</a:t>
            </a:r>
          </a:p>
        </p:txBody>
      </p:sp>
      <p:sp>
        <p:nvSpPr>
          <p:cNvPr id="112" name="TextBox 104">
            <a:extLst>
              <a:ext uri="{FF2B5EF4-FFF2-40B4-BE49-F238E27FC236}">
                <a16:creationId xmlns:a16="http://schemas.microsoft.com/office/drawing/2014/main" id="{455136CA-01DF-887E-7183-FE7078C59ED8}"/>
              </a:ext>
            </a:extLst>
          </p:cNvPr>
          <p:cNvSpPr txBox="1"/>
          <p:nvPr/>
        </p:nvSpPr>
        <p:spPr>
          <a:xfrm>
            <a:off x="6084448" y="2924944"/>
            <a:ext cx="25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*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 Google DeepMind (2023)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Paperlogy 3 Light" pitchFamily="2" charset="-127"/>
              <a:ea typeface="Paperlogy 3 Light" pitchFamily="2" charset="-127"/>
            </a:endParaRPr>
          </a:p>
        </p:txBody>
      </p:sp>
      <p:sp>
        <p:nvSpPr>
          <p:cNvPr id="113" name="TextBox 105">
            <a:extLst>
              <a:ext uri="{FF2B5EF4-FFF2-40B4-BE49-F238E27FC236}">
                <a16:creationId xmlns:a16="http://schemas.microsoft.com/office/drawing/2014/main" id="{882486F2-D2E0-F20D-7AE2-16FD3CEAF156}"/>
              </a:ext>
            </a:extLst>
          </p:cNvPr>
          <p:cNvSpPr txBox="1"/>
          <p:nvPr/>
        </p:nvSpPr>
        <p:spPr>
          <a:xfrm>
            <a:off x="4788024" y="3204265"/>
            <a:ext cx="373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610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만 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신소재 발견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타겟 물성 확보 여부 실증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정확도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&gt;80%)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114" name="TextBox 106">
            <a:extLst>
              <a:ext uri="{FF2B5EF4-FFF2-40B4-BE49-F238E27FC236}">
                <a16:creationId xmlns:a16="http://schemas.microsoft.com/office/drawing/2014/main" id="{C6FB5F57-F4D5-6FA4-80CB-834B46C658C1}"/>
              </a:ext>
            </a:extLst>
          </p:cNvPr>
          <p:cNvSpPr txBox="1"/>
          <p:nvPr/>
        </p:nvSpPr>
        <p:spPr>
          <a:xfrm>
            <a:off x="6084448" y="3552846"/>
            <a:ext cx="25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*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 Microsoft Research AI for Science (2025)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Paperlogy 3 Light" pitchFamily="2" charset="-127"/>
              <a:ea typeface="Paperlogy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4326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AB6693-BD73-DCFA-C375-14DC7B87A8B7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사각형: 둥근 모서리 75">
            <a:extLst>
              <a:ext uri="{FF2B5EF4-FFF2-40B4-BE49-F238E27FC236}">
                <a16:creationId xmlns:a16="http://schemas.microsoft.com/office/drawing/2014/main" id="{BF8E1E02-702C-B44D-6406-2AC80A3F3E67}"/>
              </a:ext>
            </a:extLst>
          </p:cNvPr>
          <p:cNvSpPr/>
          <p:nvPr/>
        </p:nvSpPr>
        <p:spPr>
          <a:xfrm>
            <a:off x="305437" y="1151250"/>
            <a:ext cx="8360425" cy="5329851"/>
          </a:xfrm>
          <a:prstGeom prst="roundRect">
            <a:avLst>
              <a:gd name="adj" fmla="val 5365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algn="ctr" defTabSz="457383" rtl="0">
              <a:defRPr/>
            </a:pPr>
            <a:endParaRPr lang="ko-KR" altLang="en-US" sz="800" kern="1200" dirty="0">
              <a:solidFill>
                <a:srgbClr val="4C5262"/>
              </a:solidFill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grpSp>
        <p:nvGrpSpPr>
          <p:cNvPr id="2" name="그룹 34"/>
          <p:cNvGrpSpPr/>
          <p:nvPr/>
        </p:nvGrpSpPr>
        <p:grpSpPr>
          <a:xfrm>
            <a:off x="7075951" y="6570020"/>
            <a:ext cx="2000333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4CC46EE9-A3E1-49E6-B459-690FB4C18446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05FA8C-3DE9-1712-C31B-29E3406C7450}"/>
              </a:ext>
            </a:extLst>
          </p:cNvPr>
          <p:cNvSpPr txBox="1"/>
          <p:nvPr/>
        </p:nvSpPr>
        <p:spPr>
          <a:xfrm>
            <a:off x="933591" y="1556792"/>
            <a:ext cx="2757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민간기업 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진출의 구조적 한계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E12480-8C24-B44B-AC49-C82387648469}"/>
              </a:ext>
            </a:extLst>
          </p:cNvPr>
          <p:cNvSpPr txBox="1"/>
          <p:nvPr/>
        </p:nvSpPr>
        <p:spPr>
          <a:xfrm>
            <a:off x="943896" y="3140968"/>
            <a:ext cx="3661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기반 설계 플랫폼 민간 독자 대응 어려움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5F6EFA-455D-7850-6AF4-E07913F62E03}"/>
              </a:ext>
            </a:extLst>
          </p:cNvPr>
          <p:cNvSpPr txBox="1"/>
          <p:nvPr/>
        </p:nvSpPr>
        <p:spPr>
          <a:xfrm>
            <a:off x="930027" y="4757292"/>
            <a:ext cx="3435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공공 데이터 구축과 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인프라 확립 필요</a:t>
            </a:r>
          </a:p>
        </p:txBody>
      </p:sp>
      <p:sp>
        <p:nvSpPr>
          <p:cNvPr id="64" name="사각형: 둥근 모서리 38">
            <a:extLst>
              <a:ext uri="{FF2B5EF4-FFF2-40B4-BE49-F238E27FC236}">
                <a16:creationId xmlns:a16="http://schemas.microsoft.com/office/drawing/2014/main" id="{9D655D82-6600-8F2E-65B4-6AAD6A799587}"/>
              </a:ext>
            </a:extLst>
          </p:cNvPr>
          <p:cNvSpPr/>
          <p:nvPr/>
        </p:nvSpPr>
        <p:spPr>
          <a:xfrm>
            <a:off x="5409714" y="3526381"/>
            <a:ext cx="3141423" cy="1066840"/>
          </a:xfrm>
          <a:prstGeom prst="roundRect">
            <a:avLst>
              <a:gd name="adj" fmla="val 6771"/>
            </a:avLst>
          </a:prstGeom>
          <a:solidFill>
            <a:srgbClr val="617694">
              <a:alpha val="12000"/>
            </a:srgbClr>
          </a:solidFill>
          <a:ln w="6350" cap="flat" cmpd="sng" algn="ctr">
            <a:solidFill>
              <a:srgbClr val="647B9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5" name="사각형: 둥근 모서리 39">
            <a:extLst>
              <a:ext uri="{FF2B5EF4-FFF2-40B4-BE49-F238E27FC236}">
                <a16:creationId xmlns:a16="http://schemas.microsoft.com/office/drawing/2014/main" id="{3EBA08DA-E374-880C-1317-9EE8911F4AAE}"/>
              </a:ext>
            </a:extLst>
          </p:cNvPr>
          <p:cNvSpPr/>
          <p:nvPr/>
        </p:nvSpPr>
        <p:spPr>
          <a:xfrm>
            <a:off x="1181524" y="3526381"/>
            <a:ext cx="3435556" cy="1066841"/>
          </a:xfrm>
          <a:prstGeom prst="roundRect">
            <a:avLst>
              <a:gd name="adj" fmla="val 776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b="1" dirty="0">
              <a:solidFill>
                <a:prstClr val="white"/>
              </a:solidFill>
              <a:latin typeface="프리젠테이션 5 Medium" pitchFamily="2" charset="-127"/>
              <a:ea typeface="프리젠테이션 4 Regular" pitchFamily="2" charset="-127"/>
            </a:endParaRPr>
          </a:p>
        </p:txBody>
      </p:sp>
      <p:sp>
        <p:nvSpPr>
          <p:cNvPr id="66" name="화살표: 오른쪽 40">
            <a:extLst>
              <a:ext uri="{FF2B5EF4-FFF2-40B4-BE49-F238E27FC236}">
                <a16:creationId xmlns:a16="http://schemas.microsoft.com/office/drawing/2014/main" id="{950FEA9E-37A2-5AD4-9455-2DD8398BE7F4}"/>
              </a:ext>
            </a:extLst>
          </p:cNvPr>
          <p:cNvSpPr/>
          <p:nvPr/>
        </p:nvSpPr>
        <p:spPr>
          <a:xfrm rot="10800000" flipH="1">
            <a:off x="4489400" y="3903701"/>
            <a:ext cx="802680" cy="312197"/>
          </a:xfrm>
          <a:prstGeom prst="rightArrow">
            <a:avLst/>
          </a:prstGeom>
          <a:gradFill>
            <a:gsLst>
              <a:gs pos="44000">
                <a:sysClr val="window" lastClr="FFFFFF"/>
              </a:gs>
              <a:gs pos="100000">
                <a:sysClr val="window" lastClr="FFFFFF">
                  <a:lumMod val="65000"/>
                  <a:lumOff val="35000"/>
                </a:sysClr>
              </a:gs>
            </a:gsLst>
            <a:lin ang="10800000" scaled="0"/>
          </a:gradFill>
          <a:ln w="6350" cap="flat" cmpd="sng" algn="ctr">
            <a:gradFill>
              <a:gsLst>
                <a:gs pos="70000">
                  <a:sysClr val="window" lastClr="FFFFFF">
                    <a:lumMod val="75000"/>
                  </a:sysClr>
                </a:gs>
                <a:gs pos="100000">
                  <a:sysClr val="window" lastClr="FFFFFF">
                    <a:alpha val="0"/>
                    <a:lumMod val="65000"/>
                    <a:lumOff val="35000"/>
                  </a:sysClr>
                </a:gs>
              </a:gsLst>
              <a:lin ang="10800000" scaled="0"/>
            </a:gradFill>
            <a:prstDash val="solid"/>
          </a:ln>
          <a:effectLst>
            <a:outerShdw blurRad="127000" dist="127000" dir="2700000" algn="ctr" rotWithShape="0">
              <a:srgbClr val="000000">
                <a:alpha val="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defRPr/>
            </a:pPr>
            <a:endParaRPr lang="ko-KR" altLang="en-US" sz="1200" kern="0" dirty="0">
              <a:solidFill>
                <a:prstClr val="black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9E4508-87C7-9E47-25CF-ED0724F9AFB4}"/>
              </a:ext>
            </a:extLst>
          </p:cNvPr>
          <p:cNvSpPr txBox="1"/>
          <p:nvPr/>
        </p:nvSpPr>
        <p:spPr>
          <a:xfrm>
            <a:off x="5409714" y="3674803"/>
            <a:ext cx="3141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금속소재와 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를 함께 이해하고 실증할 수 있는 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출연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연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 주도 인프라 구축 필요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F52D2E-D528-9FE9-E02A-ABCD486497E0}"/>
              </a:ext>
            </a:extLst>
          </p:cNvPr>
          <p:cNvSpPr txBox="1"/>
          <p:nvPr/>
        </p:nvSpPr>
        <p:spPr>
          <a:xfrm>
            <a:off x="1403648" y="3693186"/>
            <a:ext cx="14558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금속소재 기업</a:t>
            </a:r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기술 </a:t>
            </a:r>
            <a:endParaRPr lang="en-US" altLang="ko-KR" sz="1400" dirty="0">
              <a:solidFill>
                <a:srgbClr val="4F81BD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이해 및  경험 부족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0B91F0-3FDD-C38C-E251-989F0403C709}"/>
              </a:ext>
            </a:extLst>
          </p:cNvPr>
          <p:cNvSpPr txBox="1"/>
          <p:nvPr/>
        </p:nvSpPr>
        <p:spPr>
          <a:xfrm>
            <a:off x="3289371" y="3693186"/>
            <a:ext cx="11689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(AI 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전문기관</a:t>
            </a:r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금속 소재 </a:t>
            </a:r>
            <a:endParaRPr lang="en-US" altLang="ko-KR" sz="1400" dirty="0">
              <a:solidFill>
                <a:srgbClr val="4F81BD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이해 부족</a:t>
            </a:r>
          </a:p>
        </p:txBody>
      </p:sp>
      <p:sp>
        <p:nvSpPr>
          <p:cNvPr id="74" name="십자형 91">
            <a:extLst>
              <a:ext uri="{FF2B5EF4-FFF2-40B4-BE49-F238E27FC236}">
                <a16:creationId xmlns:a16="http://schemas.microsoft.com/office/drawing/2014/main" id="{17ECF7B8-B9EE-E58A-931C-24B6811E3B2D}"/>
              </a:ext>
            </a:extLst>
          </p:cNvPr>
          <p:cNvSpPr/>
          <p:nvPr/>
        </p:nvSpPr>
        <p:spPr>
          <a:xfrm>
            <a:off x="2928560" y="3858730"/>
            <a:ext cx="175827" cy="175827"/>
          </a:xfrm>
          <a:prstGeom prst="plus">
            <a:avLst>
              <a:gd name="adj" fmla="val 36443"/>
            </a:avLst>
          </a:prstGeom>
          <a:solidFill>
            <a:sysClr val="windowText" lastClr="000000">
              <a:lumMod val="50000"/>
              <a:lumOff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0" name="사각형: 둥근 모서리 34">
            <a:extLst>
              <a:ext uri="{FF2B5EF4-FFF2-40B4-BE49-F238E27FC236}">
                <a16:creationId xmlns:a16="http://schemas.microsoft.com/office/drawing/2014/main" id="{5CDAE17F-A4A3-B403-97A0-6A62625C3160}"/>
              </a:ext>
            </a:extLst>
          </p:cNvPr>
          <p:cNvSpPr/>
          <p:nvPr/>
        </p:nvSpPr>
        <p:spPr>
          <a:xfrm>
            <a:off x="5409714" y="1938443"/>
            <a:ext cx="3141423" cy="1066840"/>
          </a:xfrm>
          <a:prstGeom prst="roundRect">
            <a:avLst>
              <a:gd name="adj" fmla="val 6771"/>
            </a:avLst>
          </a:prstGeom>
          <a:solidFill>
            <a:srgbClr val="617694">
              <a:alpha val="12000"/>
            </a:srgbClr>
          </a:solidFill>
          <a:ln w="6350" cap="flat" cmpd="sng" algn="ctr">
            <a:solidFill>
              <a:srgbClr val="647B9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1" name="사각형: 둥근 모서리 35">
            <a:extLst>
              <a:ext uri="{FF2B5EF4-FFF2-40B4-BE49-F238E27FC236}">
                <a16:creationId xmlns:a16="http://schemas.microsoft.com/office/drawing/2014/main" id="{8C747147-F172-3289-34E6-E6C21E50E272}"/>
              </a:ext>
            </a:extLst>
          </p:cNvPr>
          <p:cNvSpPr/>
          <p:nvPr/>
        </p:nvSpPr>
        <p:spPr>
          <a:xfrm>
            <a:off x="1181524" y="1938443"/>
            <a:ext cx="3435556" cy="1066841"/>
          </a:xfrm>
          <a:prstGeom prst="roundRect">
            <a:avLst>
              <a:gd name="adj" fmla="val 776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b="1" dirty="0">
              <a:solidFill>
                <a:prstClr val="white"/>
              </a:solidFill>
              <a:latin typeface="프리젠테이션 5 Medium" pitchFamily="2" charset="-127"/>
              <a:ea typeface="프리젠테이션 4 Regular" pitchFamily="2" charset="-127"/>
            </a:endParaRPr>
          </a:p>
        </p:txBody>
      </p:sp>
      <p:sp>
        <p:nvSpPr>
          <p:cNvPr id="62" name="화살표: 오른쪽 36">
            <a:extLst>
              <a:ext uri="{FF2B5EF4-FFF2-40B4-BE49-F238E27FC236}">
                <a16:creationId xmlns:a16="http://schemas.microsoft.com/office/drawing/2014/main" id="{FE1BF4A6-3A94-18BF-1C4A-27438967ABC0}"/>
              </a:ext>
            </a:extLst>
          </p:cNvPr>
          <p:cNvSpPr/>
          <p:nvPr/>
        </p:nvSpPr>
        <p:spPr>
          <a:xfrm rot="10800000" flipH="1">
            <a:off x="4489400" y="2315763"/>
            <a:ext cx="802680" cy="312197"/>
          </a:xfrm>
          <a:prstGeom prst="rightArrow">
            <a:avLst/>
          </a:prstGeom>
          <a:gradFill>
            <a:gsLst>
              <a:gs pos="44000">
                <a:sysClr val="window" lastClr="FFFFFF"/>
              </a:gs>
              <a:gs pos="100000">
                <a:sysClr val="window" lastClr="FFFFFF">
                  <a:lumMod val="65000"/>
                  <a:lumOff val="35000"/>
                </a:sysClr>
              </a:gs>
            </a:gsLst>
            <a:lin ang="10800000" scaled="0"/>
          </a:gradFill>
          <a:ln w="6350" cap="flat" cmpd="sng" algn="ctr">
            <a:gradFill>
              <a:gsLst>
                <a:gs pos="70000">
                  <a:sysClr val="window" lastClr="FFFFFF">
                    <a:lumMod val="75000"/>
                  </a:sysClr>
                </a:gs>
                <a:gs pos="100000">
                  <a:sysClr val="window" lastClr="FFFFFF">
                    <a:alpha val="0"/>
                    <a:lumMod val="65000"/>
                    <a:lumOff val="35000"/>
                  </a:sysClr>
                </a:gs>
              </a:gsLst>
              <a:lin ang="10800000" scaled="0"/>
            </a:gradFill>
            <a:prstDash val="solid"/>
          </a:ln>
          <a:effectLst>
            <a:outerShdw blurRad="127000" dist="127000" dir="2700000" algn="ctr" rotWithShape="0">
              <a:srgbClr val="000000">
                <a:alpha val="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defRPr/>
            </a:pPr>
            <a:endParaRPr lang="ko-KR" altLang="en-US" sz="1200" kern="0" dirty="0">
              <a:solidFill>
                <a:prstClr val="black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30D88A-EDED-E1C0-C954-B594DEDED2DA}"/>
              </a:ext>
            </a:extLst>
          </p:cNvPr>
          <p:cNvSpPr txBox="1"/>
          <p:nvPr/>
        </p:nvSpPr>
        <p:spPr>
          <a:xfrm>
            <a:off x="5489348" y="2056364"/>
            <a:ext cx="2964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정부지원 하에 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fontAlgn="base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조합설계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-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공정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-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성능 관계를 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fontAlgn="base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예측하는 설계플랫폼 구축 필요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C249255-CEB3-7C75-83A0-6C68ED73D612}"/>
              </a:ext>
            </a:extLst>
          </p:cNvPr>
          <p:cNvSpPr txBox="1"/>
          <p:nvPr/>
        </p:nvSpPr>
        <p:spPr>
          <a:xfrm>
            <a:off x="1628140" y="2154974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금속소재</a:t>
            </a:r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고난도 실험</a:t>
            </a:r>
          </a:p>
        </p:txBody>
      </p:sp>
      <p:sp>
        <p:nvSpPr>
          <p:cNvPr id="76" name="화살표: 오른쪽 94">
            <a:extLst>
              <a:ext uri="{FF2B5EF4-FFF2-40B4-BE49-F238E27FC236}">
                <a16:creationId xmlns:a16="http://schemas.microsoft.com/office/drawing/2014/main" id="{A8BDAF1B-C411-7783-9999-23454E399FF5}"/>
              </a:ext>
            </a:extLst>
          </p:cNvPr>
          <p:cNvSpPr/>
          <p:nvPr/>
        </p:nvSpPr>
        <p:spPr>
          <a:xfrm>
            <a:off x="2874665" y="2308535"/>
            <a:ext cx="257175" cy="192462"/>
          </a:xfrm>
          <a:prstGeom prst="rightArrow">
            <a:avLst>
              <a:gd name="adj1" fmla="val 50000"/>
              <a:gd name="adj2" fmla="val 64249"/>
            </a:avLst>
          </a:prstGeom>
          <a:solidFill>
            <a:sysClr val="windowText" lastClr="000000">
              <a:lumMod val="50000"/>
              <a:lumOff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0A3962-7C81-0AB2-A304-B6D27C13CEB0}"/>
              </a:ext>
            </a:extLst>
          </p:cNvPr>
          <p:cNvSpPr txBox="1"/>
          <p:nvPr/>
        </p:nvSpPr>
        <p:spPr>
          <a:xfrm>
            <a:off x="3265443" y="2154974"/>
            <a:ext cx="1176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대규모 데이터</a:t>
            </a:r>
            <a:endParaRPr lang="en-US" altLang="ko-KR" sz="1400" dirty="0">
              <a:solidFill>
                <a:srgbClr val="4F81BD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반복 처리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8A681F-7E0C-B993-0298-E10EEE23C432}"/>
              </a:ext>
            </a:extLst>
          </p:cNvPr>
          <p:cNvSpPr txBox="1"/>
          <p:nvPr/>
        </p:nvSpPr>
        <p:spPr>
          <a:xfrm>
            <a:off x="1907704" y="2708658"/>
            <a:ext cx="2029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민간 기술적</a:t>
            </a:r>
            <a:r>
              <a:rPr lang="en-US" altLang="ko-KR" sz="1200" dirty="0">
                <a:solidFill>
                  <a:srgbClr val="555B6A"/>
                </a:solidFill>
                <a:latin typeface="Gong Gothic Bold" panose="00000800000000000000" pitchFamily="2" charset="-127"/>
                <a:ea typeface="Gong Gothic Bold" panose="00000800000000000000" pitchFamily="2" charset="-127"/>
              </a:rPr>
              <a:t>·</a:t>
            </a:r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경제적 부담이 큰 영역</a:t>
            </a:r>
          </a:p>
        </p:txBody>
      </p:sp>
      <p:grpSp>
        <p:nvGrpSpPr>
          <p:cNvPr id="79" name="그룹 60">
            <a:extLst>
              <a:ext uri="{FF2B5EF4-FFF2-40B4-BE49-F238E27FC236}">
                <a16:creationId xmlns:a16="http://schemas.microsoft.com/office/drawing/2014/main" id="{85A97AB7-1FBE-7155-81A8-10118D6D63EE}"/>
              </a:ext>
            </a:extLst>
          </p:cNvPr>
          <p:cNvGrpSpPr/>
          <p:nvPr/>
        </p:nvGrpSpPr>
        <p:grpSpPr>
          <a:xfrm>
            <a:off x="577353" y="1570266"/>
            <a:ext cx="378950" cy="307777"/>
            <a:chOff x="9674087" y="3285866"/>
            <a:chExt cx="352864" cy="286595"/>
          </a:xfrm>
        </p:grpSpPr>
        <p:sp>
          <p:nvSpPr>
            <p:cNvPr id="80" name="타원 61">
              <a:extLst>
                <a:ext uri="{FF2B5EF4-FFF2-40B4-BE49-F238E27FC236}">
                  <a16:creationId xmlns:a16="http://schemas.microsoft.com/office/drawing/2014/main" id="{1B8C00FD-B6BC-942C-E406-5AB28976DCF8}"/>
                </a:ext>
              </a:extLst>
            </p:cNvPr>
            <p:cNvSpPr/>
            <p:nvPr/>
          </p:nvSpPr>
          <p:spPr>
            <a:xfrm>
              <a:off x="9707368" y="3286012"/>
              <a:ext cx="286307" cy="286307"/>
            </a:xfrm>
            <a:prstGeom prst="ellipse">
              <a:avLst/>
            </a:prstGeom>
            <a:solidFill>
              <a:srgbClr val="546882"/>
            </a:solidFill>
            <a:ln w="6350" cap="flat" cmpd="sng" algn="ctr">
              <a:solidFill>
                <a:srgbClr val="647B9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2400" dirty="0">
                <a:solidFill>
                  <a:prstClr val="white"/>
                </a:solidFill>
                <a:latin typeface="프리젠테이션 4 Regular"/>
                <a:ea typeface="프리젠테이션 4 Regular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439C52B-C535-EAA6-B62B-EF8662947851}"/>
                </a:ext>
              </a:extLst>
            </p:cNvPr>
            <p:cNvSpPr txBox="1"/>
            <p:nvPr/>
          </p:nvSpPr>
          <p:spPr>
            <a:xfrm>
              <a:off x="9674087" y="3285866"/>
              <a:ext cx="352864" cy="2865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buClr>
                  <a:prstClr val="white">
                    <a:lumMod val="50000"/>
                  </a:prstClr>
                </a:buClr>
                <a:buSzPct val="80000"/>
                <a:defRPr/>
              </a:pPr>
              <a:r>
                <a:rPr lang="en-US" altLang="ko-KR" sz="1400" spc="-30" dirty="0">
                  <a:ln w="3175">
                    <a:noFill/>
                  </a:ln>
                  <a:solidFill>
                    <a:prstClr val="white"/>
                  </a:solidFill>
                  <a:latin typeface="프리젠테이션 7 Bold"/>
                  <a:ea typeface="프리젠테이션 7 Bold"/>
                </a:rPr>
                <a:t>01</a:t>
              </a:r>
              <a:endParaRPr lang="ko-KR" altLang="en-US" sz="1400" spc="-30" dirty="0">
                <a:ln w="3175">
                  <a:noFill/>
                </a:ln>
                <a:solidFill>
                  <a:prstClr val="white"/>
                </a:solidFill>
                <a:latin typeface="프리젠테이션 7 Bold"/>
                <a:ea typeface="프리젠테이션 7 Bold"/>
              </a:endParaRPr>
            </a:p>
          </p:txBody>
        </p:sp>
      </p:grpSp>
      <p:grpSp>
        <p:nvGrpSpPr>
          <p:cNvPr id="82" name="그룹 63">
            <a:extLst>
              <a:ext uri="{FF2B5EF4-FFF2-40B4-BE49-F238E27FC236}">
                <a16:creationId xmlns:a16="http://schemas.microsoft.com/office/drawing/2014/main" id="{0FA29F5F-AB77-D5FA-91BC-7B618ACD357D}"/>
              </a:ext>
            </a:extLst>
          </p:cNvPr>
          <p:cNvGrpSpPr/>
          <p:nvPr/>
        </p:nvGrpSpPr>
        <p:grpSpPr>
          <a:xfrm>
            <a:off x="577353" y="3168718"/>
            <a:ext cx="378950" cy="307777"/>
            <a:chOff x="9674087" y="3285866"/>
            <a:chExt cx="352864" cy="286595"/>
          </a:xfrm>
        </p:grpSpPr>
        <p:sp>
          <p:nvSpPr>
            <p:cNvPr id="83" name="타원 64">
              <a:extLst>
                <a:ext uri="{FF2B5EF4-FFF2-40B4-BE49-F238E27FC236}">
                  <a16:creationId xmlns:a16="http://schemas.microsoft.com/office/drawing/2014/main" id="{A7170DB3-B1B6-DE29-E616-96A62B172EEA}"/>
                </a:ext>
              </a:extLst>
            </p:cNvPr>
            <p:cNvSpPr/>
            <p:nvPr/>
          </p:nvSpPr>
          <p:spPr>
            <a:xfrm>
              <a:off x="9707368" y="3286012"/>
              <a:ext cx="286307" cy="286307"/>
            </a:xfrm>
            <a:prstGeom prst="ellipse">
              <a:avLst/>
            </a:prstGeom>
            <a:solidFill>
              <a:srgbClr val="546882"/>
            </a:solidFill>
            <a:ln w="6350" cap="flat" cmpd="sng" algn="ctr">
              <a:solidFill>
                <a:srgbClr val="647B9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2400" dirty="0">
                <a:solidFill>
                  <a:prstClr val="white"/>
                </a:solidFill>
                <a:latin typeface="프리젠테이션 4 Regular"/>
                <a:ea typeface="프리젠테이션 4 Regular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52053B5-1C14-DE81-4511-D6C75EF0BF5A}"/>
                </a:ext>
              </a:extLst>
            </p:cNvPr>
            <p:cNvSpPr txBox="1"/>
            <p:nvPr/>
          </p:nvSpPr>
          <p:spPr>
            <a:xfrm>
              <a:off x="9674087" y="3285866"/>
              <a:ext cx="352864" cy="2865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buClr>
                  <a:prstClr val="white">
                    <a:lumMod val="50000"/>
                  </a:prstClr>
                </a:buClr>
                <a:buSzPct val="80000"/>
                <a:defRPr/>
              </a:pPr>
              <a:r>
                <a:rPr lang="en-US" altLang="ko-KR" sz="1400" spc="-30" dirty="0">
                  <a:ln w="3175">
                    <a:noFill/>
                  </a:ln>
                  <a:solidFill>
                    <a:prstClr val="white"/>
                  </a:solidFill>
                  <a:latin typeface="프리젠테이션 7 Bold"/>
                  <a:ea typeface="프리젠테이션 7 Bold"/>
                </a:rPr>
                <a:t>02</a:t>
              </a:r>
              <a:endParaRPr lang="ko-KR" altLang="en-US" sz="1400" spc="-30" dirty="0">
                <a:ln w="3175">
                  <a:noFill/>
                </a:ln>
                <a:solidFill>
                  <a:prstClr val="white"/>
                </a:solidFill>
                <a:latin typeface="프리젠테이션 7 Bold"/>
                <a:ea typeface="프리젠테이션 7 Bold"/>
              </a:endParaRPr>
            </a:p>
          </p:txBody>
        </p:sp>
      </p:grpSp>
      <p:grpSp>
        <p:nvGrpSpPr>
          <p:cNvPr id="85" name="그룹 67">
            <a:extLst>
              <a:ext uri="{FF2B5EF4-FFF2-40B4-BE49-F238E27FC236}">
                <a16:creationId xmlns:a16="http://schemas.microsoft.com/office/drawing/2014/main" id="{08FBFFD6-C1D5-4B9F-C507-3FD965C7BA8C}"/>
              </a:ext>
            </a:extLst>
          </p:cNvPr>
          <p:cNvGrpSpPr/>
          <p:nvPr/>
        </p:nvGrpSpPr>
        <p:grpSpPr>
          <a:xfrm>
            <a:off x="577353" y="4777139"/>
            <a:ext cx="378950" cy="307777"/>
            <a:chOff x="9674087" y="3285866"/>
            <a:chExt cx="352864" cy="286595"/>
          </a:xfrm>
        </p:grpSpPr>
        <p:sp>
          <p:nvSpPr>
            <p:cNvPr id="87" name="타원 68">
              <a:extLst>
                <a:ext uri="{FF2B5EF4-FFF2-40B4-BE49-F238E27FC236}">
                  <a16:creationId xmlns:a16="http://schemas.microsoft.com/office/drawing/2014/main" id="{4D9B227A-289D-9686-6AB8-8C11F3F06A28}"/>
                </a:ext>
              </a:extLst>
            </p:cNvPr>
            <p:cNvSpPr/>
            <p:nvPr/>
          </p:nvSpPr>
          <p:spPr>
            <a:xfrm>
              <a:off x="9707368" y="3286012"/>
              <a:ext cx="286307" cy="286307"/>
            </a:xfrm>
            <a:prstGeom prst="ellipse">
              <a:avLst/>
            </a:prstGeom>
            <a:solidFill>
              <a:srgbClr val="546882"/>
            </a:solidFill>
            <a:ln w="6350" cap="flat" cmpd="sng" algn="ctr">
              <a:solidFill>
                <a:srgbClr val="647B9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2400" dirty="0">
                <a:solidFill>
                  <a:prstClr val="white"/>
                </a:solidFill>
                <a:latin typeface="프리젠테이션 4 Regular"/>
                <a:ea typeface="프리젠테이션 4 Regular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D08004E-2621-4F40-9A08-0A939617B34D}"/>
                </a:ext>
              </a:extLst>
            </p:cNvPr>
            <p:cNvSpPr txBox="1"/>
            <p:nvPr/>
          </p:nvSpPr>
          <p:spPr>
            <a:xfrm>
              <a:off x="9674087" y="3285866"/>
              <a:ext cx="352864" cy="2865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buClr>
                  <a:prstClr val="white">
                    <a:lumMod val="50000"/>
                  </a:prstClr>
                </a:buClr>
                <a:buSzPct val="80000"/>
                <a:defRPr/>
              </a:pPr>
              <a:r>
                <a:rPr lang="en-US" altLang="ko-KR" sz="1400" spc="-30" dirty="0">
                  <a:ln w="3175">
                    <a:noFill/>
                  </a:ln>
                  <a:solidFill>
                    <a:prstClr val="white"/>
                  </a:solidFill>
                  <a:latin typeface="프리젠테이션 7 Bold"/>
                  <a:ea typeface="프리젠테이션 7 Bold"/>
                </a:rPr>
                <a:t>03</a:t>
              </a:r>
              <a:endParaRPr lang="ko-KR" altLang="en-US" sz="1400" spc="-30" dirty="0">
                <a:ln w="3175">
                  <a:noFill/>
                </a:ln>
                <a:solidFill>
                  <a:prstClr val="white"/>
                </a:solidFill>
                <a:latin typeface="프리젠테이션 7 Bold"/>
                <a:ea typeface="프리젠테이션 7 Bold"/>
              </a:endParaRPr>
            </a:p>
          </p:txBody>
        </p:sp>
      </p:grpSp>
      <p:sp>
        <p:nvSpPr>
          <p:cNvPr id="68" name="사각형: 둥근 모서리 42">
            <a:extLst>
              <a:ext uri="{FF2B5EF4-FFF2-40B4-BE49-F238E27FC236}">
                <a16:creationId xmlns:a16="http://schemas.microsoft.com/office/drawing/2014/main" id="{A69360A0-1AA1-7078-05FF-CDC200ADD530}"/>
              </a:ext>
            </a:extLst>
          </p:cNvPr>
          <p:cNvSpPr/>
          <p:nvPr/>
        </p:nvSpPr>
        <p:spPr>
          <a:xfrm>
            <a:off x="5409714" y="5128239"/>
            <a:ext cx="3141423" cy="1066840"/>
          </a:xfrm>
          <a:prstGeom prst="roundRect">
            <a:avLst>
              <a:gd name="adj" fmla="val 6771"/>
            </a:avLst>
          </a:prstGeom>
          <a:solidFill>
            <a:srgbClr val="617694">
              <a:alpha val="12000"/>
            </a:srgbClr>
          </a:solidFill>
          <a:ln w="6350" cap="flat" cmpd="sng" algn="ctr">
            <a:solidFill>
              <a:srgbClr val="647B9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9" name="사각형: 둥근 모서리 43">
            <a:extLst>
              <a:ext uri="{FF2B5EF4-FFF2-40B4-BE49-F238E27FC236}">
                <a16:creationId xmlns:a16="http://schemas.microsoft.com/office/drawing/2014/main" id="{83CFDF05-17AD-3539-25CF-308396A52A2A}"/>
              </a:ext>
            </a:extLst>
          </p:cNvPr>
          <p:cNvSpPr/>
          <p:nvPr/>
        </p:nvSpPr>
        <p:spPr>
          <a:xfrm>
            <a:off x="1181524" y="5128239"/>
            <a:ext cx="3435556" cy="1066841"/>
          </a:xfrm>
          <a:prstGeom prst="roundRect">
            <a:avLst>
              <a:gd name="adj" fmla="val 776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b="1" dirty="0">
              <a:solidFill>
                <a:prstClr val="white"/>
              </a:solidFill>
              <a:latin typeface="프리젠테이션 5 Medium" pitchFamily="2" charset="-127"/>
              <a:ea typeface="프리젠테이션 4 Regular" pitchFamily="2" charset="-127"/>
            </a:endParaRPr>
          </a:p>
        </p:txBody>
      </p:sp>
      <p:sp>
        <p:nvSpPr>
          <p:cNvPr id="70" name="화살표: 오른쪽 44">
            <a:extLst>
              <a:ext uri="{FF2B5EF4-FFF2-40B4-BE49-F238E27FC236}">
                <a16:creationId xmlns:a16="http://schemas.microsoft.com/office/drawing/2014/main" id="{43554E73-566E-E455-73A0-2DEB52D8DC97}"/>
              </a:ext>
            </a:extLst>
          </p:cNvPr>
          <p:cNvSpPr/>
          <p:nvPr/>
        </p:nvSpPr>
        <p:spPr>
          <a:xfrm rot="10800000" flipH="1">
            <a:off x="4489400" y="5505559"/>
            <a:ext cx="802680" cy="312197"/>
          </a:xfrm>
          <a:prstGeom prst="rightArrow">
            <a:avLst/>
          </a:prstGeom>
          <a:gradFill>
            <a:gsLst>
              <a:gs pos="44000">
                <a:sysClr val="window" lastClr="FFFFFF"/>
              </a:gs>
              <a:gs pos="100000">
                <a:sysClr val="window" lastClr="FFFFFF">
                  <a:lumMod val="65000"/>
                  <a:lumOff val="35000"/>
                </a:sysClr>
              </a:gs>
            </a:gsLst>
            <a:lin ang="10800000" scaled="0"/>
          </a:gradFill>
          <a:ln w="6350" cap="flat" cmpd="sng" algn="ctr">
            <a:gradFill>
              <a:gsLst>
                <a:gs pos="70000">
                  <a:sysClr val="window" lastClr="FFFFFF">
                    <a:lumMod val="75000"/>
                  </a:sysClr>
                </a:gs>
                <a:gs pos="100000">
                  <a:sysClr val="window" lastClr="FFFFFF">
                    <a:alpha val="0"/>
                    <a:lumMod val="65000"/>
                    <a:lumOff val="35000"/>
                  </a:sysClr>
                </a:gs>
              </a:gsLst>
              <a:lin ang="10800000" scaled="0"/>
            </a:gradFill>
            <a:prstDash val="solid"/>
          </a:ln>
          <a:effectLst>
            <a:outerShdw blurRad="127000" dist="127000" dir="2700000" algn="ctr" rotWithShape="0">
              <a:srgbClr val="000000">
                <a:alpha val="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defRPr/>
            </a:pPr>
            <a:endParaRPr lang="ko-KR" altLang="en-US" sz="1200" kern="0" dirty="0">
              <a:solidFill>
                <a:prstClr val="black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497687-BDDD-EE07-09D1-ED176C945E80}"/>
              </a:ext>
            </a:extLst>
          </p:cNvPr>
          <p:cNvSpPr txBox="1"/>
          <p:nvPr/>
        </p:nvSpPr>
        <p:spPr>
          <a:xfrm>
            <a:off x="5648046" y="5246160"/>
            <a:ext cx="2612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활용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금속소재 산업별 수요 대응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맞춤형 최적 조합 도출 가능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AFD611-0BFA-83DA-5C3C-30AB11AB927A}"/>
              </a:ext>
            </a:extLst>
          </p:cNvPr>
          <p:cNvSpPr txBox="1"/>
          <p:nvPr/>
        </p:nvSpPr>
        <p:spPr>
          <a:xfrm>
            <a:off x="1705273" y="5407462"/>
            <a:ext cx="2566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고기능 금속소재에 대한 수요 증가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212D110-CC05-E1CB-BFD3-0985CC645E0A}"/>
              </a:ext>
            </a:extLst>
          </p:cNvPr>
          <p:cNvSpPr txBox="1"/>
          <p:nvPr/>
        </p:nvSpPr>
        <p:spPr>
          <a:xfrm>
            <a:off x="1731225" y="5776596"/>
            <a:ext cx="2502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우주항공</a:t>
            </a:r>
            <a:r>
              <a:rPr lang="en-US" altLang="ko-KR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200" dirty="0" err="1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모빌리티</a:t>
            </a:r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 등 주력 제조업 수요 증가</a:t>
            </a:r>
          </a:p>
        </p:txBody>
      </p:sp>
      <p:sp>
        <p:nvSpPr>
          <p:cNvPr id="94" name="사각형: 둥근 모서리 76">
            <a:extLst>
              <a:ext uri="{FF2B5EF4-FFF2-40B4-BE49-F238E27FC236}">
                <a16:creationId xmlns:a16="http://schemas.microsoft.com/office/drawing/2014/main" id="{BB6FFE21-FCE4-163D-0F52-371848595A1A}"/>
              </a:ext>
            </a:extLst>
          </p:cNvPr>
          <p:cNvSpPr/>
          <p:nvPr/>
        </p:nvSpPr>
        <p:spPr>
          <a:xfrm>
            <a:off x="478137" y="955081"/>
            <a:ext cx="3921165" cy="360128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algn="ctr" defTabSz="457200" latinLnBrk="0">
              <a:lnSpc>
                <a:spcPct val="150000"/>
              </a:lnSpc>
              <a:defRPr/>
            </a:pPr>
            <a:r>
              <a:rPr lang="ko-KR" altLang="en-US" sz="1600" kern="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정부 지원 필요성</a:t>
            </a:r>
          </a:p>
        </p:txBody>
      </p:sp>
    </p:spTree>
    <p:extLst>
      <p:ext uri="{BB962C8B-B14F-4D97-AF65-F5344CB8AC3E}">
        <p14:creationId xmlns:p14="http://schemas.microsoft.com/office/powerpoint/2010/main" val="104865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67348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구축 할 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 개요</a:t>
            </a:r>
          </a:p>
        </p:txBody>
      </p:sp>
      <p:grpSp>
        <p:nvGrpSpPr>
          <p:cNvPr id="2" name="그룹 33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2" name="직사각형 41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6" name="직사각형 35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251520" y="836712"/>
            <a:ext cx="2901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상세 사양 및 핵심 기능</a:t>
            </a:r>
            <a:endParaRPr kumimoji="1" lang="en-US" altLang="ko-KR" b="1" dirty="0">
              <a:solidFill>
                <a:schemeClr val="bg1"/>
              </a:solidFill>
              <a:latin typeface="+mn-ea"/>
              <a:cs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491880" y="836712"/>
            <a:ext cx="5299588" cy="3523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1" dirty="0">
                <a:solidFill>
                  <a:schemeClr val="tx1"/>
                </a:solidFill>
              </a:rPr>
              <a:t>HW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GPU </a:t>
            </a:r>
            <a:r>
              <a:rPr lang="ko-KR" altLang="en-US" sz="1100" dirty="0">
                <a:solidFill>
                  <a:schemeClr val="tx1"/>
                </a:solidFill>
              </a:rPr>
              <a:t>메모리</a:t>
            </a:r>
            <a:r>
              <a:rPr lang="en-US" altLang="ko-KR" sz="1100" dirty="0">
                <a:solidFill>
                  <a:schemeClr val="tx1"/>
                </a:solidFill>
              </a:rPr>
              <a:t>: 2,160GB (8× 270GB) </a:t>
            </a:r>
            <a:r>
              <a:rPr lang="en-US" altLang="ko-KR" sz="1100" dirty="0" smtClean="0">
                <a:solidFill>
                  <a:schemeClr val="tx1"/>
                </a:solidFill>
              </a:rPr>
              <a:t>/ </a:t>
            </a:r>
            <a:r>
              <a:rPr lang="ko-KR" altLang="en-US" sz="1100" dirty="0">
                <a:solidFill>
                  <a:schemeClr val="tx1"/>
                </a:solidFill>
              </a:rPr>
              <a:t>시스템 메모리</a:t>
            </a:r>
            <a:r>
              <a:rPr lang="en-US" altLang="ko-KR" sz="1100" dirty="0">
                <a:solidFill>
                  <a:schemeClr val="tx1"/>
                </a:solidFill>
              </a:rPr>
              <a:t>: 2TB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CPU: Dual Intel Xeon 6776P Processors (128 Cores, 2.3 GHz, MAX 3.9 GHz)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tx1"/>
                </a:solidFill>
              </a:rPr>
              <a:t>2×NVIDIA </a:t>
            </a:r>
            <a:r>
              <a:rPr lang="en-US" altLang="ko-KR" sz="1100" dirty="0" err="1">
                <a:solidFill>
                  <a:schemeClr val="tx1"/>
                </a:solidFill>
              </a:rPr>
              <a:t>NVSwitches</a:t>
            </a:r>
            <a:r>
              <a:rPr lang="en-US" altLang="ko-KR" sz="1100" dirty="0">
                <a:solidFill>
                  <a:schemeClr val="tx1"/>
                </a:solidFill>
              </a:rPr>
              <a:t> (Total 14.4TB/s Bi-directional Bandwidth)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tx1"/>
                </a:solidFill>
              </a:rPr>
              <a:t>18×NVLinks </a:t>
            </a:r>
            <a:r>
              <a:rPr lang="en-US" altLang="ko-KR" sz="1100" dirty="0">
                <a:solidFill>
                  <a:schemeClr val="tx1"/>
                </a:solidFill>
              </a:rPr>
              <a:t>Per GPU (1,800GB/s Per GPU to GPU Bi-directional Bandwidth)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네트워킹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클러스터</a:t>
            </a:r>
            <a:r>
              <a:rPr lang="en-US" altLang="ko-KR" sz="1100" dirty="0">
                <a:solidFill>
                  <a:schemeClr val="tx1"/>
                </a:solidFill>
              </a:rPr>
              <a:t>): 8× OSFP port serving 8× ConnectX-8 VPI (Up to 800Gb/s </a:t>
            </a:r>
            <a:r>
              <a:rPr lang="en-US" altLang="ko-KR" sz="1100" dirty="0" err="1">
                <a:solidFill>
                  <a:schemeClr val="tx1"/>
                </a:solidFill>
              </a:rPr>
              <a:t>InfiniBand</a:t>
            </a:r>
            <a:r>
              <a:rPr lang="en-US" altLang="ko-KR" sz="1100" dirty="0">
                <a:solidFill>
                  <a:schemeClr val="tx1"/>
                </a:solidFill>
              </a:rPr>
              <a:t>/Ethernet)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스토리지</a:t>
            </a:r>
            <a:r>
              <a:rPr lang="en-US" altLang="ko-KR" sz="1100" dirty="0">
                <a:solidFill>
                  <a:schemeClr val="tx1"/>
                </a:solidFill>
              </a:rPr>
              <a:t>(OS): 2× 1.9TB M.2 </a:t>
            </a:r>
            <a:r>
              <a:rPr lang="en-US" altLang="ko-KR" sz="1100" dirty="0" err="1">
                <a:solidFill>
                  <a:schemeClr val="tx1"/>
                </a:solidFill>
              </a:rPr>
              <a:t>NVMe</a:t>
            </a:r>
            <a:r>
              <a:rPr lang="en-US" altLang="ko-KR" sz="1100" dirty="0">
                <a:solidFill>
                  <a:schemeClr val="tx1"/>
                </a:solidFill>
              </a:rPr>
              <a:t> SSDs </a:t>
            </a:r>
            <a:r>
              <a:rPr lang="en-US" altLang="ko-KR" sz="1100" dirty="0" smtClean="0">
                <a:solidFill>
                  <a:schemeClr val="tx1"/>
                </a:solidFill>
              </a:rPr>
              <a:t>/ </a:t>
            </a:r>
            <a:r>
              <a:rPr lang="ko-KR" altLang="en-US" sz="1100" dirty="0">
                <a:solidFill>
                  <a:schemeClr val="tx1"/>
                </a:solidFill>
              </a:rPr>
              <a:t>스토리지</a:t>
            </a:r>
            <a:r>
              <a:rPr lang="en-US" altLang="ko-KR" sz="1100" dirty="0">
                <a:solidFill>
                  <a:schemeClr val="tx1"/>
                </a:solidFill>
              </a:rPr>
              <a:t>(Cache): 8× 3.84TB E1.S </a:t>
            </a:r>
            <a:r>
              <a:rPr lang="en-US" altLang="ko-KR" sz="1100" dirty="0" err="1">
                <a:solidFill>
                  <a:schemeClr val="tx1"/>
                </a:solidFill>
              </a:rPr>
              <a:t>NVMe</a:t>
            </a:r>
            <a:r>
              <a:rPr lang="en-US" altLang="ko-KR" sz="1100" dirty="0">
                <a:solidFill>
                  <a:schemeClr val="tx1"/>
                </a:solidFill>
              </a:rPr>
              <a:t> SSDs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설치 환경에 맞는 랙 </a:t>
            </a:r>
            <a:r>
              <a:rPr lang="ko-KR" altLang="en-US" sz="1100" dirty="0" smtClean="0">
                <a:solidFill>
                  <a:schemeClr val="tx1"/>
                </a:solidFill>
              </a:rPr>
              <a:t>시스템</a:t>
            </a:r>
            <a:endParaRPr lang="ko-KR" altLang="en-US" sz="1100" b="1" dirty="0">
              <a:solidFill>
                <a:schemeClr val="tx1"/>
              </a:solidFill>
            </a:endParaRP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1" dirty="0">
                <a:solidFill>
                  <a:schemeClr val="tx1"/>
                </a:solidFill>
              </a:rPr>
              <a:t>SW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DGX Software Stack: Ubuntu Linux Host OS / Driver / NV Docker / Accelerated Solution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NVIDIA AI Enterprise Subscription per GPU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NVIDIA GPU </a:t>
            </a:r>
            <a:r>
              <a:rPr lang="ko-KR" altLang="en-US" sz="1100" dirty="0">
                <a:solidFill>
                  <a:schemeClr val="tx1"/>
                </a:solidFill>
              </a:rPr>
              <a:t>사용 프로세스 병목 탐색 및 가이드 필수 제공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51520" y="4056072"/>
            <a:ext cx="1733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장비의 용도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5535" y="4425404"/>
            <a:ext cx="8395933" cy="1049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○ 소재 특화 파운데이션 모델 학습 및 최적화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○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고해상도 </a:t>
            </a:r>
            <a:r>
              <a:rPr lang="ko-KR" altLang="en-US" sz="1200" b="1" dirty="0">
                <a:solidFill>
                  <a:schemeClr val="tx1"/>
                </a:solidFill>
              </a:rPr>
              <a:t>생성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모델 및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</a:rPr>
              <a:t>시뮬레이터 학습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○ 다중 모델 기반 통합 소재 설계 파이프라인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운영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b="1" dirty="0" smtClean="0">
                <a:solidFill>
                  <a:schemeClr val="tx1"/>
                </a:solidFill>
              </a:rPr>
              <a:t>○ 금속소재 특화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LLM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에이전트 학습 및 추론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51520" y="5540190"/>
            <a:ext cx="2507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제작사 등 기타사항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95535" y="5925780"/>
            <a:ext cx="8395933" cy="5275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제작사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NVIDIA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모델명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: DGX-B300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3" name="직사각형 15"/>
          <p:cNvSpPr/>
          <p:nvPr/>
        </p:nvSpPr>
        <p:spPr>
          <a:xfrm>
            <a:off x="107503" y="3212976"/>
            <a:ext cx="3384377" cy="430098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&lt;</a:t>
            </a:r>
            <a:r>
              <a:rPr lang="ko-KR" altLang="en-US" sz="1200" b="1" dirty="0">
                <a:solidFill>
                  <a:schemeClr val="tx1"/>
                </a:solidFill>
              </a:rPr>
              <a:t>소재 파운데이션 모델 학습용 </a:t>
            </a:r>
            <a:r>
              <a:rPr lang="en-US" altLang="ko-KR" sz="1200" b="1" dirty="0">
                <a:solidFill>
                  <a:schemeClr val="tx1"/>
                </a:solidFill>
              </a:rPr>
              <a:t>GPU </a:t>
            </a:r>
            <a:r>
              <a:rPr lang="ko-KR" altLang="en-US" sz="1200" b="1" dirty="0">
                <a:solidFill>
                  <a:schemeClr val="tx1"/>
                </a:solidFill>
              </a:rPr>
              <a:t>서버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&gt;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F2E68A-28FB-8B31-87EE-9F54F25C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82151"/>
            <a:ext cx="2821075" cy="20360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656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부합성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520" y="836712"/>
            <a:ext cx="3778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</a:rPr>
              <a:t>연구시설･장비의 구축의 필요성</a:t>
            </a:r>
            <a:endParaRPr kumimoji="1" lang="en-US" altLang="ko-KR" b="1" dirty="0">
              <a:solidFill>
                <a:schemeClr val="bg1"/>
              </a:solidFill>
              <a:latin typeface="+mn-ea"/>
              <a:cs typeface="굴림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95536" y="1266438"/>
            <a:ext cx="8280920" cy="23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 smtClean="0">
                <a:solidFill>
                  <a:schemeClr val="tx1"/>
                </a:solidFill>
              </a:rPr>
              <a:t>본 과제를 통해 금속 </a:t>
            </a:r>
            <a:r>
              <a:rPr lang="ko-KR" altLang="en-US" sz="1400" b="1" dirty="0">
                <a:solidFill>
                  <a:schemeClr val="tx1"/>
                </a:solidFill>
              </a:rPr>
              <a:t>소재 특화 파운데이션 모델을 개발하고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이를 기업이 소재 및 공정 설계에 활용할 수 있도록 최종 서비스화하는 것이 핵심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목표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이를 위해서는 대량의 데이터 수집과 생성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그리고 거대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모델의 개발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학습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서비스화를 뒷받침할 막대한 연산 자원이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필요하며 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 smtClean="0">
                <a:solidFill>
                  <a:schemeClr val="tx1"/>
                </a:solidFill>
              </a:rPr>
              <a:t>인공지능 학습용 서버를 도입함으로써 이러한 문제를 해결하고 연구 목표 달성 가능</a:t>
            </a:r>
            <a:endParaRPr lang="en-US" altLang="ko-KR" sz="1400" b="1" dirty="0" smtClean="0">
              <a:solidFill>
                <a:schemeClr val="tx1"/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7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9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0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1" name="직사각형 20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8" name="직사각형 1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37" y="3593093"/>
            <a:ext cx="7742325" cy="29033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656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부합성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520" y="718452"/>
            <a:ext cx="4471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</a:rPr>
              <a:t>연구시설･장비의 연구목적과의 부합성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95536" y="1148178"/>
            <a:ext cx="8280920" cy="4801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 smtClean="0">
                <a:solidFill>
                  <a:schemeClr val="tx1"/>
                </a:solidFill>
              </a:rPr>
              <a:t>전략연구사업 세부 과제인 </a:t>
            </a:r>
            <a:r>
              <a:rPr lang="en-US" altLang="ko-KR" sz="1400" b="1" dirty="0">
                <a:solidFill>
                  <a:schemeClr val="tx1"/>
                </a:solidFill>
              </a:rPr>
              <a:t>"</a:t>
            </a:r>
            <a:r>
              <a:rPr lang="ko-KR" altLang="en-US" sz="1400" b="1" dirty="0">
                <a:solidFill>
                  <a:schemeClr val="tx1"/>
                </a:solidFill>
              </a:rPr>
              <a:t>금속소재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거대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AI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파운데이션 모델 개발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" </a:t>
            </a:r>
            <a:r>
              <a:rPr lang="ko-KR" altLang="en-US" sz="1400" b="1" dirty="0">
                <a:solidFill>
                  <a:schemeClr val="tx1"/>
                </a:solidFill>
              </a:rPr>
              <a:t>과제에서 기업 대상 소재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공정 자동설계 서비스 개발 추진체계</a:t>
            </a:r>
            <a:r>
              <a:rPr lang="en-US" altLang="ko-KR" sz="1400" b="1" dirty="0">
                <a:solidFill>
                  <a:schemeClr val="tx1"/>
                </a:solidFill>
              </a:rPr>
              <a:t>: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금속소재 멀티모달 빅데이터 구축 및 합성 데이터 생성 → 금속소재 특화 초거대 파운데이션 모델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조건부 생성 모델</a:t>
            </a:r>
            <a:r>
              <a:rPr lang="en-US" altLang="ko-KR" sz="1400" dirty="0">
                <a:solidFill>
                  <a:schemeClr val="tx1"/>
                </a:solidFill>
              </a:rPr>
              <a:t>, AI </a:t>
            </a:r>
            <a:r>
              <a:rPr lang="ko-KR" altLang="en-US" sz="1400" dirty="0">
                <a:solidFill>
                  <a:schemeClr val="tx1"/>
                </a:solidFill>
              </a:rPr>
              <a:t>시뮬레이터 개발 → </a:t>
            </a:r>
            <a:r>
              <a:rPr lang="en-US" altLang="ko-KR" sz="1400" dirty="0">
                <a:solidFill>
                  <a:schemeClr val="tx1"/>
                </a:solidFill>
              </a:rPr>
              <a:t>LLM </a:t>
            </a:r>
            <a:r>
              <a:rPr lang="ko-KR" altLang="en-US" sz="1400" dirty="0">
                <a:solidFill>
                  <a:schemeClr val="tx1"/>
                </a:solidFill>
              </a:rPr>
              <a:t>에이전트 기반 통합 설계 파이프라인 구축 및 기업 </a:t>
            </a:r>
            <a:r>
              <a:rPr lang="ko-KR" altLang="en-US" sz="1400" dirty="0" smtClean="0">
                <a:solidFill>
                  <a:schemeClr val="tx1"/>
                </a:solidFill>
              </a:rPr>
              <a:t>서비스화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lvl="1" fontAlgn="base">
              <a:lnSpc>
                <a:spcPct val="125000"/>
              </a:lnSpc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수백 종 합금계의 고차원 멀티모달 데이터로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거대 </a:t>
            </a:r>
            <a:r>
              <a:rPr lang="ko-KR" altLang="en-US" sz="1400" b="1" dirty="0">
                <a:solidFill>
                  <a:schemeClr val="tx1"/>
                </a:solidFill>
              </a:rPr>
              <a:t>모델을 사전학습하고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복수의 거대 모델을 동시 상주시켜 </a:t>
            </a:r>
            <a:r>
              <a:rPr lang="en-US" altLang="ko-KR" sz="1400" b="1" dirty="0">
                <a:solidFill>
                  <a:schemeClr val="tx1"/>
                </a:solidFill>
              </a:rPr>
              <a:t>LLM </a:t>
            </a:r>
            <a:r>
              <a:rPr lang="ko-KR" altLang="en-US" sz="1400" b="1" dirty="0">
                <a:solidFill>
                  <a:schemeClr val="tx1"/>
                </a:solidFill>
              </a:rPr>
              <a:t>에이전트 기반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설계 </a:t>
            </a:r>
            <a:r>
              <a:rPr lang="ko-KR" altLang="en-US" sz="1400" b="1" dirty="0">
                <a:solidFill>
                  <a:schemeClr val="tx1"/>
                </a:solidFill>
              </a:rPr>
              <a:t>파이프라인을 개발하려면 대용량 메모리와 초고속 연산력을 갖춘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서버가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필수적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심의 장비는 대용량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메모리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초고속 노드 내 통신 대역폭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다중 모델 동시 구동 및 다수 연구진 병렬 학습을 지원하는 오케스트레이션 기능을 갖추어 본 과제의 전체 연구 주기를 단일 인프라에서 수행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가능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따라서 본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서버는 전략연구사업 </a:t>
            </a:r>
            <a:r>
              <a:rPr lang="en-US" altLang="ko-KR" sz="1400" b="1" dirty="0">
                <a:solidFill>
                  <a:schemeClr val="tx1"/>
                </a:solidFill>
              </a:rPr>
              <a:t>"</a:t>
            </a:r>
            <a:r>
              <a:rPr lang="ko-KR" altLang="en-US" sz="1400" b="1" dirty="0">
                <a:solidFill>
                  <a:schemeClr val="tx1"/>
                </a:solidFill>
              </a:rPr>
              <a:t>금속소재 조성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공정 자동설계 초거대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서비스 개발</a:t>
            </a:r>
            <a:r>
              <a:rPr lang="en-US" altLang="ko-KR" sz="1400" b="1" dirty="0">
                <a:solidFill>
                  <a:schemeClr val="tx1"/>
                </a:solidFill>
              </a:rPr>
              <a:t>" </a:t>
            </a:r>
            <a:r>
              <a:rPr lang="ko-KR" altLang="en-US" sz="1400" b="1" dirty="0">
                <a:solidFill>
                  <a:schemeClr val="tx1"/>
                </a:solidFill>
              </a:rPr>
              <a:t>과제의 연구 목적에 직접 부합하며 과제 수행에 필수적인 장비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7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9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0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1" name="직사각형 20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8" name="직사각형 1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889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국가전략적 필요성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49424" y="764704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 연구시설･장비의 국가적 필요성</a:t>
            </a:r>
            <a:r>
              <a:rPr kumimoji="1" lang="en-US" altLang="ko-KR" sz="1400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8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0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1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3" name="직사각형 12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9" name="직사각형 8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7" name="직사각형 6"/>
          <p:cNvSpPr/>
          <p:nvPr/>
        </p:nvSpPr>
        <p:spPr>
          <a:xfrm>
            <a:off x="395536" y="1148177"/>
            <a:ext cx="8280920" cy="4729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정부는 소재 산업의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전환을 국가적 과제로 제시하고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산업활용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혁신 </a:t>
            </a:r>
            <a:r>
              <a:rPr lang="en-US" altLang="ko-KR" sz="1400" b="1" dirty="0">
                <a:solidFill>
                  <a:schemeClr val="tx1"/>
                </a:solidFill>
              </a:rPr>
              <a:t>AI</a:t>
            </a:r>
            <a:r>
              <a:rPr lang="ko-KR" altLang="en-US" sz="1400" b="1" dirty="0">
                <a:solidFill>
                  <a:schemeClr val="tx1"/>
                </a:solidFill>
              </a:rPr>
              <a:t>를 국가전략기술로 지정하여 제조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소재 등 </a:t>
            </a:r>
            <a:r>
              <a:rPr lang="en-US" altLang="ko-KR" sz="1400" b="1" dirty="0">
                <a:solidFill>
                  <a:schemeClr val="tx1"/>
                </a:solidFill>
              </a:rPr>
              <a:t>8</a:t>
            </a:r>
            <a:r>
              <a:rPr lang="ko-KR" altLang="en-US" sz="1400" b="1" dirty="0">
                <a:solidFill>
                  <a:schemeClr val="tx1"/>
                </a:solidFill>
              </a:rPr>
              <a:t>대 산업의 </a:t>
            </a:r>
            <a:r>
              <a:rPr lang="en-US" altLang="ko-KR" sz="1400" b="1" dirty="0">
                <a:solidFill>
                  <a:schemeClr val="tx1"/>
                </a:solidFill>
              </a:rPr>
              <a:t>AX(AI+X)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전면화 </a:t>
            </a:r>
            <a:r>
              <a:rPr lang="ko-KR" altLang="en-US" sz="1400" b="1" dirty="0">
                <a:solidFill>
                  <a:schemeClr val="tx1"/>
                </a:solidFill>
              </a:rPr>
              <a:t>추진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차 국가전략기술 육성 기본계획</a:t>
            </a:r>
            <a:r>
              <a:rPr lang="en-US" altLang="ko-KR" sz="1400" dirty="0">
                <a:solidFill>
                  <a:schemeClr val="tx1"/>
                </a:solidFill>
              </a:rPr>
              <a:t>('24~'28) </a:t>
            </a:r>
            <a:r>
              <a:rPr lang="ko-KR" altLang="en-US" sz="1400" dirty="0">
                <a:solidFill>
                  <a:schemeClr val="tx1"/>
                </a:solidFill>
              </a:rPr>
              <a:t>및 </a:t>
            </a:r>
            <a:r>
              <a:rPr lang="en-US" altLang="ko-KR" sz="1400" dirty="0">
                <a:solidFill>
                  <a:schemeClr val="tx1"/>
                </a:solidFill>
              </a:rPr>
              <a:t>'25</a:t>
            </a:r>
            <a:r>
              <a:rPr lang="ko-KR" altLang="en-US" sz="1400" dirty="0">
                <a:solidFill>
                  <a:schemeClr val="tx1"/>
                </a:solidFill>
              </a:rPr>
              <a:t>년 시행계획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관계부처합동</a:t>
            </a:r>
            <a:r>
              <a:rPr lang="en-US" altLang="ko-KR" sz="1400" dirty="0">
                <a:solidFill>
                  <a:schemeClr val="tx1"/>
                </a:solidFill>
              </a:rPr>
              <a:t>, '25.3), </a:t>
            </a:r>
            <a:r>
              <a:rPr lang="ko-KR" altLang="en-US" sz="1400" dirty="0">
                <a:solidFill>
                  <a:schemeClr val="tx1"/>
                </a:solidFill>
              </a:rPr>
              <a:t>국가 인공지능 전략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과학기술정보통신부</a:t>
            </a:r>
            <a:r>
              <a:rPr lang="en-US" altLang="ko-KR" sz="1400" dirty="0">
                <a:solidFill>
                  <a:schemeClr val="tx1"/>
                </a:solidFill>
              </a:rPr>
              <a:t>, '24.9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그러나 국내 소재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연구는 대부분 소형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모델 기반이라 혁신적 </a:t>
            </a:r>
            <a:r>
              <a:rPr lang="ko-KR" altLang="en-US" sz="1400" b="1" dirty="0">
                <a:solidFill>
                  <a:schemeClr val="tx1"/>
                </a:solidFill>
              </a:rPr>
              <a:t>신소재 발굴에 한계가 있으며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특히 금속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분야는 파운데이션 </a:t>
            </a:r>
            <a:r>
              <a:rPr lang="ko-KR" altLang="en-US" sz="1400" b="1" dirty="0">
                <a:solidFill>
                  <a:schemeClr val="tx1"/>
                </a:solidFill>
              </a:rPr>
              <a:t>모델 개발이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필수적임에도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이를 개발하기 위한 고성능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GPU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 자원 부족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금속소재 파운데이션 모델 학습용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서버 구축을 통해 초거대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모델의 자체 학습 역량을 확보하고</a:t>
            </a:r>
            <a:r>
              <a:rPr lang="en-US" altLang="ko-KR" sz="1400" b="1" dirty="0">
                <a:solidFill>
                  <a:schemeClr val="tx1"/>
                </a:solidFill>
              </a:rPr>
              <a:t>, LLM </a:t>
            </a:r>
            <a:r>
              <a:rPr lang="ko-KR" altLang="en-US" sz="1400" b="1" dirty="0">
                <a:solidFill>
                  <a:schemeClr val="tx1"/>
                </a:solidFill>
              </a:rPr>
              <a:t>에이전트 기반 기업 대상 소재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공정 자동설계 서비스 인프라를 구현함으로써 금속 소재 산업의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전환 가속화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기대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 smtClean="0">
                <a:solidFill>
                  <a:schemeClr val="tx1"/>
                </a:solidFill>
              </a:rPr>
              <a:t>또한 다음과 같은 정부 전략과 비전과 연계 가능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: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첨단 소재 </a:t>
            </a:r>
            <a:r>
              <a:rPr lang="en-US" altLang="ko-KR" sz="1400" dirty="0">
                <a:solidFill>
                  <a:schemeClr val="tx1"/>
                </a:solidFill>
              </a:rPr>
              <a:t>R&amp;D </a:t>
            </a:r>
            <a:r>
              <a:rPr lang="ko-KR" altLang="en-US" sz="1400" dirty="0">
                <a:solidFill>
                  <a:schemeClr val="tx1"/>
                </a:solidFill>
              </a:rPr>
              <a:t>발전전략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관계부처합동</a:t>
            </a:r>
            <a:r>
              <a:rPr lang="en-US" altLang="ko-KR" sz="1400" dirty="0">
                <a:solidFill>
                  <a:schemeClr val="tx1"/>
                </a:solidFill>
              </a:rPr>
              <a:t>, '24.12), AI </a:t>
            </a:r>
            <a:r>
              <a:rPr lang="ko-KR" altLang="en-US" sz="1400" dirty="0">
                <a:solidFill>
                  <a:schemeClr val="tx1"/>
                </a:solidFill>
              </a:rPr>
              <a:t>자율제조 선도프로젝트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산업통상자원부</a:t>
            </a:r>
            <a:r>
              <a:rPr lang="en-US" altLang="ko-KR" sz="1400" dirty="0">
                <a:solidFill>
                  <a:schemeClr val="tx1"/>
                </a:solidFill>
              </a:rPr>
              <a:t>, '24.5), AI+R&amp;DI </a:t>
            </a:r>
            <a:r>
              <a:rPr lang="ko-KR" altLang="en-US" sz="1400" dirty="0">
                <a:solidFill>
                  <a:schemeClr val="tx1"/>
                </a:solidFill>
              </a:rPr>
              <a:t>추진전략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산업통상자원부</a:t>
            </a:r>
            <a:r>
              <a:rPr lang="en-US" altLang="ko-KR" sz="1400" dirty="0">
                <a:solidFill>
                  <a:schemeClr val="tx1"/>
                </a:solidFill>
              </a:rPr>
              <a:t>, '24.10), AI+S&amp;T </a:t>
            </a:r>
            <a:r>
              <a:rPr lang="ko-KR" altLang="en-US" sz="1400" dirty="0">
                <a:solidFill>
                  <a:schemeClr val="tx1"/>
                </a:solidFill>
              </a:rPr>
              <a:t>활성화 방안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관계부처합동</a:t>
            </a:r>
            <a:r>
              <a:rPr lang="en-US" altLang="ko-KR" sz="1400" dirty="0">
                <a:solidFill>
                  <a:schemeClr val="tx1"/>
                </a:solidFill>
              </a:rPr>
              <a:t>, '25.3.12) (</a:t>
            </a:r>
            <a:r>
              <a:rPr lang="ko-KR" altLang="en-US" sz="1400" dirty="0">
                <a:solidFill>
                  <a:schemeClr val="tx1"/>
                </a:solidFill>
              </a:rPr>
              <a:t>별첨</a:t>
            </a:r>
            <a:r>
              <a:rPr lang="en-US" altLang="ko-KR" sz="1400" dirty="0">
                <a:solidFill>
                  <a:schemeClr val="tx1"/>
                </a:solidFill>
              </a:rPr>
              <a:t>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구축 예정 장비의 </a:t>
            </a:r>
            <a:r>
              <a:rPr lang="en-US" altLang="ko-KR" b="1" dirty="0" err="1">
                <a:solidFill>
                  <a:schemeClr val="bg1"/>
                </a:solidFill>
              </a:rPr>
              <a:t>국내･외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구축현황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7" name="직사각형 6"/>
          <p:cNvSpPr/>
          <p:nvPr/>
        </p:nvSpPr>
        <p:spPr>
          <a:xfrm>
            <a:off x="365531" y="1340768"/>
            <a:ext cx="4934685" cy="15029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 smtClean="0">
                <a:solidFill>
                  <a:schemeClr val="tx1"/>
                </a:solidFill>
              </a:rPr>
              <a:t>인공지능 학습용 서버에 요구하는 사양에 맞는 고성능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GPU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서버 </a:t>
            </a:r>
            <a:r>
              <a:rPr lang="ko-KR" altLang="en-US" sz="1400" b="1" dirty="0">
                <a:solidFill>
                  <a:schemeClr val="tx1"/>
                </a:solidFill>
              </a:rPr>
              <a:t>관련하여 </a:t>
            </a:r>
            <a:r>
              <a:rPr lang="en-US" altLang="ko-KR" sz="1400" b="1" dirty="0">
                <a:solidFill>
                  <a:schemeClr val="tx1"/>
                </a:solidFill>
              </a:rPr>
              <a:t>RED</a:t>
            </a:r>
            <a:r>
              <a:rPr lang="ko-KR" altLang="en-US" sz="1400" b="1" dirty="0">
                <a:solidFill>
                  <a:schemeClr val="tx1"/>
                </a:solidFill>
              </a:rPr>
              <a:t> 장비중복성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조사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RED </a:t>
            </a:r>
            <a:r>
              <a:rPr lang="ko-KR" altLang="en-US" sz="1400" b="1" dirty="0">
                <a:solidFill>
                  <a:schemeClr val="tx1"/>
                </a:solidFill>
              </a:rPr>
              <a:t>기준 중복도 매우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낮아 자체조사를 </a:t>
            </a:r>
            <a:r>
              <a:rPr lang="ko-KR" altLang="en-US" sz="1400" b="1" dirty="0">
                <a:solidFill>
                  <a:schemeClr val="tx1"/>
                </a:solidFill>
              </a:rPr>
              <a:t>추가로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진행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29" name="직사각형 6"/>
          <p:cNvSpPr/>
          <p:nvPr/>
        </p:nvSpPr>
        <p:spPr>
          <a:xfrm>
            <a:off x="365532" y="3247687"/>
            <a:ext cx="8514614" cy="3205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조사 결과 공동활용 가능한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GPU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서버는 다음과 같으며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, B200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기반의 </a:t>
            </a:r>
            <a:r>
              <a:rPr lang="en-US" altLang="ko-KR" sz="1400" b="1" dirty="0">
                <a:solidFill>
                  <a:schemeClr val="tx1"/>
                </a:solidFill>
              </a:rPr>
              <a:t>PowerEdge XE9780, DGX-B200, DGX-H200, </a:t>
            </a:r>
            <a:r>
              <a:rPr lang="ko-KR" altLang="en-US" sz="1400" b="1" dirty="0">
                <a:solidFill>
                  <a:schemeClr val="tx1"/>
                </a:solidFill>
              </a:rPr>
              <a:t>그리고 </a:t>
            </a:r>
            <a:r>
              <a:rPr lang="en-US" altLang="ko-KR" sz="1400" b="1" dirty="0">
                <a:solidFill>
                  <a:schemeClr val="tx1"/>
                </a:solidFill>
              </a:rPr>
              <a:t>H200 &amp; L40S </a:t>
            </a:r>
            <a:r>
              <a:rPr lang="ko-KR" altLang="en-US" sz="1400" b="1" dirty="0">
                <a:solidFill>
                  <a:schemeClr val="tx1"/>
                </a:solidFill>
              </a:rPr>
              <a:t>기반의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시스템으로 요약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가능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고성능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컴퓨팅 클러스터</a:t>
            </a:r>
            <a:r>
              <a:rPr lang="en-US" altLang="ko-KR" sz="1400" dirty="0">
                <a:solidFill>
                  <a:schemeClr val="tx1"/>
                </a:solidFill>
              </a:rPr>
              <a:t>(NFEC-2026-02-313120), </a:t>
            </a:r>
            <a:r>
              <a:rPr lang="ko-KR" altLang="en-US" sz="1400" dirty="0">
                <a:solidFill>
                  <a:schemeClr val="tx1"/>
                </a:solidFill>
              </a:rPr>
              <a:t>그래픽처리장치</a:t>
            </a:r>
            <a:r>
              <a:rPr lang="en-US" altLang="ko-KR" sz="1400" dirty="0">
                <a:solidFill>
                  <a:schemeClr val="tx1"/>
                </a:solidFill>
              </a:rPr>
              <a:t>(NFEC-2026-04-315092), </a:t>
            </a:r>
            <a:r>
              <a:rPr lang="ko-KR" altLang="en-US" sz="1400" dirty="0">
                <a:solidFill>
                  <a:schemeClr val="tx1"/>
                </a:solidFill>
              </a:rPr>
              <a:t>의료 빅데이터 분석용 고성능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서버 </a:t>
            </a:r>
            <a:r>
              <a:rPr lang="en-US" altLang="ko-KR" sz="1400" dirty="0">
                <a:solidFill>
                  <a:schemeClr val="tx1"/>
                </a:solidFill>
              </a:rPr>
              <a:t>NVIDIA DGX B200(NFEC-2025-11-310151),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(NFEC-2026-01-312807),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(NFEC-2026-01-312806),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(NFEC-2026-01-311979),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(NFEC-2026-01-311983), AI </a:t>
            </a:r>
            <a:r>
              <a:rPr lang="ko-KR" altLang="en-US" sz="1400" dirty="0">
                <a:solidFill>
                  <a:schemeClr val="tx1"/>
                </a:solidFill>
              </a:rPr>
              <a:t>개발용 고성능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서버 노드</a:t>
            </a:r>
            <a:r>
              <a:rPr lang="en-US" altLang="ko-KR" sz="1400" dirty="0">
                <a:solidFill>
                  <a:schemeClr val="tx1"/>
                </a:solidFill>
              </a:rPr>
              <a:t>(NFEC-2025-06-306705), </a:t>
            </a:r>
            <a:r>
              <a:rPr lang="ko-KR" altLang="en-US" sz="1400" dirty="0">
                <a:solidFill>
                  <a:schemeClr val="tx1"/>
                </a:solidFill>
              </a:rPr>
              <a:t>인공지능 고성능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서버</a:t>
            </a:r>
            <a:r>
              <a:rPr lang="en-US" altLang="ko-KR" sz="1400" dirty="0">
                <a:solidFill>
                  <a:schemeClr val="tx1"/>
                </a:solidFill>
              </a:rPr>
              <a:t>(NFEC-2025-04-305877), </a:t>
            </a:r>
            <a:r>
              <a:rPr lang="ko-KR" altLang="en-US" sz="1400" dirty="0">
                <a:solidFill>
                  <a:schemeClr val="tx1"/>
                </a:solidFill>
              </a:rPr>
              <a:t>생성형 협업지능 </a:t>
            </a:r>
            <a:r>
              <a:rPr lang="en-US" altLang="ko-KR" sz="1400" dirty="0">
                <a:solidFill>
                  <a:schemeClr val="tx1"/>
                </a:solidFill>
              </a:rPr>
              <a:t>SDK </a:t>
            </a:r>
            <a:r>
              <a:rPr lang="ko-KR" altLang="en-US" sz="1400" dirty="0">
                <a:solidFill>
                  <a:schemeClr val="tx1"/>
                </a:solidFill>
              </a:rPr>
              <a:t>운용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실증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개발 지원시스템</a:t>
            </a:r>
            <a:r>
              <a:rPr lang="en-US" altLang="ko-KR" sz="1400" dirty="0">
                <a:solidFill>
                  <a:schemeClr val="tx1"/>
                </a:solidFill>
              </a:rPr>
              <a:t>(NFEC-2025-05-306279), </a:t>
            </a:r>
            <a:r>
              <a:rPr lang="ko-KR" altLang="en-US" sz="1400" dirty="0">
                <a:solidFill>
                  <a:schemeClr val="tx1"/>
                </a:solidFill>
              </a:rPr>
              <a:t>지피유 서버</a:t>
            </a:r>
            <a:r>
              <a:rPr lang="en-US" altLang="ko-KR" sz="1400" dirty="0">
                <a:solidFill>
                  <a:schemeClr val="tx1"/>
                </a:solidFill>
              </a:rPr>
              <a:t>(NFEC-2025-03-304336),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(NFEC-2025-01-302871),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(NFEC-2025-01-302825),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(NFEC-2024-11-300983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pic>
        <p:nvPicPr>
          <p:cNvPr id="1025" name="_x401091776" descr="EMB00003ce8240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6" b="3725"/>
          <a:stretch>
            <a:fillRect/>
          </a:stretch>
        </p:blipFill>
        <p:spPr bwMode="auto">
          <a:xfrm>
            <a:off x="5319038" y="791004"/>
            <a:ext cx="1723285" cy="23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_x401090624" descr="EMB00003ce8240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6" b="2283"/>
          <a:stretch>
            <a:fillRect/>
          </a:stretch>
        </p:blipFill>
        <p:spPr bwMode="auto">
          <a:xfrm>
            <a:off x="7127347" y="791004"/>
            <a:ext cx="1752799" cy="23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6"/>
          <p:cNvSpPr/>
          <p:nvPr/>
        </p:nvSpPr>
        <p:spPr>
          <a:xfrm>
            <a:off x="365532" y="1340769"/>
            <a:ext cx="8514614" cy="23272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 smtClean="0">
                <a:solidFill>
                  <a:schemeClr val="tx1"/>
                </a:solidFill>
              </a:rPr>
              <a:t>그래픽처리장치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</a:rPr>
              <a:t>및 의료 빅데이터 분석용 고성능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서버 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사양은 </a:t>
            </a:r>
            <a:r>
              <a:rPr lang="ko-KR" altLang="en-US" sz="1400" dirty="0">
                <a:solidFill>
                  <a:schemeClr val="tx1"/>
                </a:solidFill>
              </a:rPr>
              <a:t>충족하지만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핵심 </a:t>
            </a:r>
            <a:r>
              <a:rPr lang="ko-KR" altLang="en-US" sz="1400" dirty="0">
                <a:solidFill>
                  <a:schemeClr val="tx1"/>
                </a:solidFill>
              </a:rPr>
              <a:t>연구를 차질 없이 수행하기 위해 시스템 자원의 높은 </a:t>
            </a:r>
            <a:r>
              <a:rPr lang="ko-KR" altLang="en-US" sz="1400" dirty="0" smtClean="0">
                <a:solidFill>
                  <a:schemeClr val="tx1"/>
                </a:solidFill>
              </a:rPr>
              <a:t>점유율</a:t>
            </a:r>
            <a:r>
              <a:rPr lang="en-US" altLang="ko-KR" sz="1400" dirty="0" smtClean="0">
                <a:solidFill>
                  <a:schemeClr val="tx1"/>
                </a:solidFill>
              </a:rPr>
              <a:t>/</a:t>
            </a:r>
            <a:r>
              <a:rPr lang="ko-KR" altLang="en-US" sz="1400" dirty="0" smtClean="0">
                <a:solidFill>
                  <a:schemeClr val="tx1"/>
                </a:solidFill>
              </a:rPr>
              <a:t>가동률이 요구되는 </a:t>
            </a:r>
            <a:r>
              <a:rPr lang="ko-KR" altLang="en-US" sz="1400" dirty="0">
                <a:solidFill>
                  <a:schemeClr val="tx1"/>
                </a:solidFill>
              </a:rPr>
              <a:t>반면 단일 과제 목적으로 </a:t>
            </a:r>
            <a:r>
              <a:rPr lang="ko-KR" altLang="en-US" sz="1400" dirty="0" smtClean="0">
                <a:solidFill>
                  <a:schemeClr val="tx1"/>
                </a:solidFill>
              </a:rPr>
              <a:t>지속적으로 활용하는 </a:t>
            </a:r>
            <a:r>
              <a:rPr lang="ko-KR" altLang="en-US" sz="1400" dirty="0">
                <a:solidFill>
                  <a:schemeClr val="tx1"/>
                </a:solidFill>
              </a:rPr>
              <a:t>것은 </a:t>
            </a:r>
            <a:r>
              <a:rPr lang="ko-KR" altLang="en-US" sz="1400" dirty="0" smtClean="0">
                <a:solidFill>
                  <a:schemeClr val="tx1"/>
                </a:solidFill>
              </a:rPr>
              <a:t>불가하며 일부 장비는 단독활용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 smtClean="0">
                <a:solidFill>
                  <a:schemeClr val="tx1"/>
                </a:solidFill>
              </a:rPr>
              <a:t>나머지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H200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또는 </a:t>
            </a:r>
            <a:r>
              <a:rPr lang="en-US" altLang="ko-KR" sz="1400" b="1" dirty="0">
                <a:solidFill>
                  <a:schemeClr val="tx1"/>
                </a:solidFill>
              </a:rPr>
              <a:t>H200 &amp; L40S </a:t>
            </a:r>
            <a:r>
              <a:rPr lang="ko-KR" altLang="en-US" sz="1400" b="1" dirty="0">
                <a:solidFill>
                  <a:schemeClr val="tx1"/>
                </a:solidFill>
              </a:rPr>
              <a:t>기반 장비 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</a:rPr>
              <a:t>B200 </a:t>
            </a:r>
            <a:r>
              <a:rPr lang="ko-KR" altLang="en-US" sz="1400" dirty="0">
                <a:solidFill>
                  <a:schemeClr val="tx1"/>
                </a:solidFill>
              </a:rPr>
              <a:t>대비 성능 열위를 보상하기 위해 가동률이 추가 상승할 것으로 예상되나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단일 과제 목적으로 지속적으로 점유하여 활용하는 것은 </a:t>
            </a:r>
            <a:r>
              <a:rPr lang="ko-KR" altLang="en-US" sz="1400" dirty="0" smtClean="0">
                <a:solidFill>
                  <a:schemeClr val="tx1"/>
                </a:solidFill>
              </a:rPr>
              <a:t>불가하며 일부 장비는 단독활용으로 공동활용 불가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구축 예정 장비의 </a:t>
            </a:r>
            <a:r>
              <a:rPr lang="en-US" altLang="ko-KR" b="1" dirty="0" err="1">
                <a:solidFill>
                  <a:schemeClr val="bg1"/>
                </a:solidFill>
              </a:rPr>
              <a:t>국내･외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구축현황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42" y="3630827"/>
            <a:ext cx="8516557" cy="295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96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6"/>
          <p:cNvSpPr/>
          <p:nvPr/>
        </p:nvSpPr>
        <p:spPr>
          <a:xfrm>
            <a:off x="365532" y="1340769"/>
            <a:ext cx="8514614" cy="1656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 smtClean="0">
                <a:solidFill>
                  <a:schemeClr val="tx1"/>
                </a:solidFill>
              </a:rPr>
              <a:t>공통 해당 사항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대규모 실험 데이터</a:t>
            </a:r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</a:rPr>
              <a:t>학습을 위해 지원받은 외부 유출 불가 데이터 포함</a:t>
            </a:r>
            <a:r>
              <a:rPr lang="en-US" altLang="ko-KR" sz="1400" dirty="0" smtClean="0">
                <a:solidFill>
                  <a:schemeClr val="tx1"/>
                </a:solidFill>
              </a:rPr>
              <a:t>) </a:t>
            </a:r>
            <a:r>
              <a:rPr lang="ko-KR" altLang="en-US" sz="1400" dirty="0" smtClean="0">
                <a:solidFill>
                  <a:schemeClr val="tx1"/>
                </a:solidFill>
              </a:rPr>
              <a:t>보호를 위한 망 분리 등의 보안 조치를 적용할 경우 보안 유지의 특성상 활용 기간 동안 장비의 통제가 불가피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타 연구자의 접근을 제한과 기존 공동 활용 시스템에 대한 통제가 필요한 만큼 타 기관 공동 활용 장비의 운영 원칙상 수용 불가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구축 예정 장비의 </a:t>
            </a:r>
            <a:r>
              <a:rPr lang="en-US" altLang="ko-KR" b="1" dirty="0" err="1">
                <a:solidFill>
                  <a:schemeClr val="bg1"/>
                </a:solidFill>
              </a:rPr>
              <a:t>국내･외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구축현황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79512" y="2885506"/>
            <a:ext cx="9032682" cy="3643196"/>
            <a:chOff x="179512" y="2885506"/>
            <a:chExt cx="9032682" cy="3643196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7217" r="2567"/>
            <a:stretch/>
          </p:blipFill>
          <p:spPr>
            <a:xfrm>
              <a:off x="760615" y="2885506"/>
              <a:ext cx="8451579" cy="3643196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179512" y="5470391"/>
              <a:ext cx="129614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현 공동활용 가능 </a:t>
              </a:r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GPU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9512" y="3391264"/>
              <a:ext cx="1296144" cy="4546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본 과제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6321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기존 연구시설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･장비와의 차별성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7" name="직사각형 6"/>
          <p:cNvSpPr/>
          <p:nvPr/>
        </p:nvSpPr>
        <p:spPr>
          <a:xfrm>
            <a:off x="377934" y="1401012"/>
            <a:ext cx="8502212" cy="4044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 smtClean="0">
                <a:solidFill>
                  <a:schemeClr val="tx1"/>
                </a:solidFill>
              </a:rPr>
              <a:t>인공지능 학습용 서버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</a:rPr>
              <a:t>심의 장비</a:t>
            </a:r>
            <a:r>
              <a:rPr lang="en-US" altLang="ko-KR" sz="1400" b="1" dirty="0">
                <a:solidFill>
                  <a:schemeClr val="tx1"/>
                </a:solidFill>
              </a:rPr>
              <a:t>)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금속소재 멀티모달 데이터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합금 조성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미세조직 이미지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물성 곡선 등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r>
              <a:rPr lang="ko-KR" altLang="en-US" sz="1400" dirty="0">
                <a:solidFill>
                  <a:schemeClr val="tx1"/>
                </a:solidFill>
              </a:rPr>
              <a:t>의 특성에 맞춰 연산 정밀도를 자동 변환하는 트랜스포머 </a:t>
            </a:r>
            <a:r>
              <a:rPr lang="ko-KR" altLang="en-US" sz="1400" dirty="0" smtClean="0">
                <a:solidFill>
                  <a:schemeClr val="tx1"/>
                </a:solidFill>
              </a:rPr>
              <a:t>엔진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다중 </a:t>
            </a:r>
            <a:r>
              <a:rPr lang="en-US" altLang="ko-KR" sz="1400" dirty="0" smtClean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메모리를 단일 메모리처럼 풀링하는 </a:t>
            </a:r>
            <a:r>
              <a:rPr lang="en-US" altLang="ko-KR" sz="1400" dirty="0" err="1">
                <a:solidFill>
                  <a:schemeClr val="tx1"/>
                </a:solidFill>
              </a:rPr>
              <a:t>NVLink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스위치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파운데이션 </a:t>
            </a:r>
            <a:r>
              <a:rPr lang="ko-KR" altLang="en-US" sz="1400" dirty="0">
                <a:solidFill>
                  <a:schemeClr val="tx1"/>
                </a:solidFill>
              </a:rPr>
              <a:t>모델과 보조 생성 모델의 동시 병렬 학습을 지원하는 </a:t>
            </a:r>
            <a:r>
              <a:rPr lang="en-US" altLang="ko-KR" sz="1400" dirty="0">
                <a:solidFill>
                  <a:schemeClr val="tx1"/>
                </a:solidFill>
              </a:rPr>
              <a:t>MIG </a:t>
            </a:r>
            <a:r>
              <a:rPr lang="ko-KR" altLang="en-US" sz="1400" dirty="0">
                <a:solidFill>
                  <a:schemeClr val="tx1"/>
                </a:solidFill>
              </a:rPr>
              <a:t>및 동적 자원 </a:t>
            </a:r>
            <a:r>
              <a:rPr lang="ko-KR" altLang="en-US" sz="1400" dirty="0" smtClean="0">
                <a:solidFill>
                  <a:schemeClr val="tx1"/>
                </a:solidFill>
              </a:rPr>
              <a:t>할당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solidFill>
                  <a:schemeClr val="tx1"/>
                </a:solidFill>
              </a:rPr>
              <a:t>LLM </a:t>
            </a:r>
            <a:r>
              <a:rPr lang="ko-KR" altLang="en-US" sz="1400" dirty="0">
                <a:solidFill>
                  <a:schemeClr val="tx1"/>
                </a:solidFill>
              </a:rPr>
              <a:t>에이전트 추론 서빙과 학습의 동일 노드 내 병행 운영을 지원하는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오케스트레이션 기능을 갖춘 최신 </a:t>
            </a:r>
            <a:r>
              <a:rPr lang="en-US" altLang="ko-KR" sz="1400" dirty="0">
                <a:solidFill>
                  <a:schemeClr val="tx1"/>
                </a:solidFill>
              </a:rPr>
              <a:t>AI </a:t>
            </a:r>
            <a:r>
              <a:rPr lang="ko-KR" altLang="en-US" sz="1400" dirty="0">
                <a:solidFill>
                  <a:schemeClr val="tx1"/>
                </a:solidFill>
              </a:rPr>
              <a:t>학습 전용 </a:t>
            </a:r>
            <a:r>
              <a:rPr lang="ko-KR" altLang="en-US" sz="1400" dirty="0" smtClean="0">
                <a:solidFill>
                  <a:schemeClr val="tx1"/>
                </a:solidFill>
              </a:rPr>
              <a:t>서버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기관 자체 보안 통제가 가능한 </a:t>
            </a:r>
            <a:r>
              <a:rPr lang="ko-KR" altLang="en-US" sz="1400" dirty="0" smtClean="0">
                <a:solidFill>
                  <a:schemeClr val="tx1"/>
                </a:solidFill>
                <a:latin typeface="맑은 고딕" panose="020B0503020000020004" pitchFamily="50" charset="-127"/>
              </a:rPr>
              <a:t>인프라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fontAlgn="base">
              <a:lnSpc>
                <a:spcPct val="125000"/>
              </a:lnSpc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 smtClean="0">
                <a:solidFill>
                  <a:schemeClr val="tx1"/>
                </a:solidFill>
              </a:rPr>
              <a:t>기존 장비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본 </a:t>
            </a:r>
            <a:r>
              <a:rPr lang="ko-KR" altLang="en-US" sz="1400" dirty="0">
                <a:solidFill>
                  <a:schemeClr val="tx1"/>
                </a:solidFill>
              </a:rPr>
              <a:t>과제의 핵심 연구를 차질 없이 수행하기 위해 시스템 자원의 높은 점유율 및 가동률 유지와 실험 데이터 보호를 위한 망 분리 등 보안 조치 적용이 필요하여 공동 활용에 부적합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algn="r" fontAlgn="base">
              <a:lnSpc>
                <a:spcPct val="125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r>
              <a:rPr lang="ko-KR" altLang="en-US" sz="1200" dirty="0">
                <a:solidFill>
                  <a:schemeClr val="tx1"/>
                </a:solidFill>
              </a:rPr>
              <a:t>불용상태 및 단독활용 장비 제외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4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활용성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56852" y="1264177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연구시설･장비의 공동활용 계획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56852" y="4780374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연구과제</a:t>
            </a:r>
            <a:r>
              <a:rPr lang="en-US" altLang="ko-KR" b="1" dirty="0"/>
              <a:t>(</a:t>
            </a:r>
            <a:r>
              <a:rPr lang="ko-KR" altLang="en-US" b="1" dirty="0"/>
              <a:t>사업</a:t>
            </a:r>
            <a:r>
              <a:rPr lang="en-US" altLang="ko-KR" b="1" dirty="0"/>
              <a:t>) </a:t>
            </a:r>
            <a:r>
              <a:rPr lang="ko-KR" altLang="en-US" b="1" dirty="0"/>
              <a:t>종료 후 활용계획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66398" y="2996952"/>
            <a:ext cx="8524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국내 연구시설･장비의 수요현황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4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6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30" name="직사각형 29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7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8" name="직사각형 27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5" name="직사각형 24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8" name="직사각형 6"/>
          <p:cNvSpPr/>
          <p:nvPr/>
        </p:nvSpPr>
        <p:spPr>
          <a:xfrm>
            <a:off x="377934" y="1689044"/>
            <a:ext cx="8412711" cy="1235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[</a:t>
            </a:r>
            <a:r>
              <a:rPr lang="ko-KR" altLang="en-US" sz="1400" b="1" dirty="0">
                <a:solidFill>
                  <a:schemeClr val="tx1"/>
                </a:solidFill>
              </a:rPr>
              <a:t>재료연 내부</a:t>
            </a:r>
            <a:r>
              <a:rPr lang="en-US" altLang="ko-KR" sz="1400" b="1" dirty="0">
                <a:solidFill>
                  <a:schemeClr val="tx1"/>
                </a:solidFill>
              </a:rPr>
              <a:t>] </a:t>
            </a:r>
            <a:r>
              <a:rPr lang="ko-KR" altLang="en-US" sz="1400" b="1" dirty="0">
                <a:solidFill>
                  <a:schemeClr val="tx1"/>
                </a:solidFill>
              </a:rPr>
              <a:t>재료연 인트라넷 시험원내지원 시스템을 활용해 서비스 지원 가능</a:t>
            </a:r>
            <a:r>
              <a:rPr lang="en-US" altLang="ko-KR" sz="1400" b="1" dirty="0">
                <a:solidFill>
                  <a:schemeClr val="tx1"/>
                </a:solidFill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</a:rPr>
              <a:t>공용장비 등록 후</a:t>
            </a:r>
            <a:r>
              <a:rPr lang="en-US" altLang="ko-KR" sz="1400" b="1" dirty="0">
                <a:solidFill>
                  <a:schemeClr val="tx1"/>
                </a:solidFill>
              </a:rPr>
              <a:t>).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[</a:t>
            </a:r>
            <a:r>
              <a:rPr lang="ko-KR" altLang="en-US" sz="1400" b="1" dirty="0">
                <a:solidFill>
                  <a:schemeClr val="tx1"/>
                </a:solidFill>
              </a:rPr>
              <a:t>외부 공동활용</a:t>
            </a:r>
            <a:r>
              <a:rPr lang="en-US" altLang="ko-KR" sz="1400" b="1" dirty="0">
                <a:solidFill>
                  <a:schemeClr val="tx1"/>
                </a:solidFill>
              </a:rPr>
              <a:t>] NTIS </a:t>
            </a:r>
            <a:r>
              <a:rPr lang="ko-KR" altLang="en-US" sz="1400" b="1" dirty="0">
                <a:solidFill>
                  <a:schemeClr val="tx1"/>
                </a:solidFill>
              </a:rPr>
              <a:t>등록 후 공동활용서비스를 통해 대외 분석 서비스를 제공할 계획</a:t>
            </a:r>
            <a:r>
              <a:rPr lang="en-US" altLang="ko-KR" sz="1400" b="1" dirty="0">
                <a:solidFill>
                  <a:schemeClr val="tx1"/>
                </a:solidFill>
              </a:rPr>
              <a:t>.</a:t>
            </a:r>
            <a:endParaRPr lang="ko-KR" altLang="en-US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수요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 삼성전자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한화오션</a:t>
            </a:r>
            <a:r>
              <a:rPr lang="en-US" altLang="ko-KR" sz="1400" dirty="0">
                <a:solidFill>
                  <a:schemeClr val="tx1"/>
                </a:solidFill>
              </a:rPr>
              <a:t>, SK</a:t>
            </a:r>
            <a:r>
              <a:rPr lang="ko-KR" altLang="en-US" sz="1400" dirty="0">
                <a:solidFill>
                  <a:schemeClr val="tx1"/>
                </a:solidFill>
              </a:rPr>
              <a:t>온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한국수력원자력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화승코퍼레이션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씨티알에코포징 </a:t>
            </a:r>
            <a:r>
              <a:rPr lang="ko-KR" altLang="en-US" sz="1400" dirty="0">
                <a:solidFill>
                  <a:schemeClr val="tx1"/>
                </a:solidFill>
              </a:rPr>
              <a:t>등 </a:t>
            </a:r>
            <a:r>
              <a:rPr lang="ko-KR" altLang="en-US" sz="1400" dirty="0" smtClean="0">
                <a:solidFill>
                  <a:schemeClr val="tx1"/>
                </a:solidFill>
              </a:rPr>
              <a:t>활용의사 </a:t>
            </a:r>
            <a:r>
              <a:rPr lang="ko-KR" altLang="en-US" sz="1400" dirty="0">
                <a:solidFill>
                  <a:schemeClr val="tx1"/>
                </a:solidFill>
              </a:rPr>
              <a:t>보유기업 </a:t>
            </a:r>
            <a:r>
              <a:rPr lang="ko-KR" altLang="en-US" sz="1400" dirty="0" smtClean="0">
                <a:solidFill>
                  <a:schemeClr val="tx1"/>
                </a:solidFill>
              </a:rPr>
              <a:t>다수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1" name="직사각형 6"/>
          <p:cNvSpPr/>
          <p:nvPr/>
        </p:nvSpPr>
        <p:spPr>
          <a:xfrm>
            <a:off x="377934" y="3486249"/>
            <a:ext cx="8412711" cy="11782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설문지를 통한 관련 기업 및 주변의 수요처에 당 구축 장비의 필요성을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조사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: </a:t>
            </a:r>
            <a:r>
              <a:rPr lang="ko-KR" altLang="en-US" sz="1400" b="1" dirty="0">
                <a:solidFill>
                  <a:schemeClr val="tx1"/>
                </a:solidFill>
              </a:rPr>
              <a:t>설문 결과를 종합하여 장비의 필요성 및 활용 가능성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향후 구축 장비의 요구 기능에 대해 응답 확인</a:t>
            </a:r>
            <a:r>
              <a:rPr lang="en-US" altLang="ko-KR" sz="1400" b="1" dirty="0">
                <a:solidFill>
                  <a:schemeClr val="tx1"/>
                </a:solidFill>
              </a:rPr>
              <a:t>.</a:t>
            </a: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조사 장비</a:t>
            </a:r>
            <a:r>
              <a:rPr lang="en-US" altLang="ko-KR" sz="1400" b="1" dirty="0">
                <a:solidFill>
                  <a:schemeClr val="tx1"/>
                </a:solidFill>
              </a:rPr>
              <a:t>: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인공지능 학습용 서버 </a:t>
            </a:r>
            <a:r>
              <a:rPr lang="en-US" altLang="ko-KR" sz="1400" b="1" dirty="0">
                <a:solidFill>
                  <a:schemeClr val="tx1"/>
                </a:solidFill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</a:rPr>
              <a:t>총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21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개 </a:t>
            </a:r>
            <a:r>
              <a:rPr lang="ko-KR" altLang="en-US" sz="1400" b="1" dirty="0">
                <a:solidFill>
                  <a:schemeClr val="tx1"/>
                </a:solidFill>
              </a:rPr>
              <a:t>산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학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연 수요조사 완료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결과 내용은 별첨 </a:t>
            </a:r>
            <a:r>
              <a:rPr lang="en-US" altLang="ko-KR" sz="1400" b="1" dirty="0">
                <a:solidFill>
                  <a:schemeClr val="tx1"/>
                </a:solidFill>
              </a:rPr>
              <a:t>2).</a:t>
            </a:r>
          </a:p>
        </p:txBody>
      </p:sp>
      <p:sp>
        <p:nvSpPr>
          <p:cNvPr id="22" name="직사각형 6"/>
          <p:cNvSpPr/>
          <p:nvPr/>
        </p:nvSpPr>
        <p:spPr>
          <a:xfrm>
            <a:off x="377934" y="5199137"/>
            <a:ext cx="8412711" cy="1110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공동활용서비스를 통해 대내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외 서비스 제공 계획 및 본 장비를 통해 지속적으로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금속 특화 인공지능 </a:t>
            </a:r>
            <a:r>
              <a:rPr lang="ko-KR" altLang="en-US" sz="1400" b="1" dirty="0">
                <a:solidFill>
                  <a:schemeClr val="tx1"/>
                </a:solidFill>
              </a:rPr>
              <a:t>서비스를 제공하여 사업 종료 이후에도 산업체 및 기관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학교의 지원 업무 지속</a:t>
            </a:r>
            <a:r>
              <a:rPr lang="en-US" altLang="ko-KR" sz="1400" b="1" dirty="0">
                <a:solidFill>
                  <a:schemeClr val="tx1"/>
                </a:solidFill>
              </a:rPr>
              <a:t>.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소재데이터 관련 사업 추진 및 </a:t>
            </a:r>
            <a:r>
              <a:rPr lang="ko-KR" altLang="en-US" sz="1400" dirty="0" smtClean="0">
                <a:solidFill>
                  <a:schemeClr val="tx1"/>
                </a:solidFill>
              </a:rPr>
              <a:t>구축된 인프라와 인공지능을 </a:t>
            </a:r>
            <a:r>
              <a:rPr lang="ko-KR" altLang="en-US" sz="1400" dirty="0">
                <a:solidFill>
                  <a:schemeClr val="tx1"/>
                </a:solidFill>
              </a:rPr>
              <a:t>통해 </a:t>
            </a:r>
            <a:r>
              <a:rPr lang="ko-KR" altLang="en-US" sz="1400" dirty="0" smtClean="0">
                <a:solidFill>
                  <a:schemeClr val="tx1"/>
                </a:solidFill>
              </a:rPr>
              <a:t>기업 </a:t>
            </a:r>
            <a:r>
              <a:rPr lang="ko-KR" altLang="en-US" sz="1400" dirty="0">
                <a:solidFill>
                  <a:schemeClr val="tx1"/>
                </a:solidFill>
              </a:rPr>
              <a:t>지원 업무 적극 </a:t>
            </a:r>
            <a:r>
              <a:rPr lang="ko-KR" altLang="en-US" sz="1400" dirty="0" smtClean="0">
                <a:solidFill>
                  <a:schemeClr val="tx1"/>
                </a:solidFill>
              </a:rPr>
              <a:t>수행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적정성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2661" y="1274093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</a:t>
            </a:r>
            <a:r>
              <a:rPr lang="en-US" altLang="ko-KR" b="1" dirty="0"/>
              <a:t> </a:t>
            </a:r>
            <a:r>
              <a:rPr lang="ko-KR" altLang="en-US" b="1" dirty="0"/>
              <a:t>장비의 구성</a:t>
            </a:r>
            <a:r>
              <a:rPr lang="en-US" altLang="ko-KR" sz="1400" b="1" dirty="0"/>
              <a:t>(Specifications) </a:t>
            </a:r>
            <a:r>
              <a:rPr lang="ko-KR" altLang="en-US" b="1" dirty="0"/>
              <a:t>및 성능</a:t>
            </a:r>
            <a:r>
              <a:rPr lang="en-US" altLang="ko-KR" sz="1400" b="1" dirty="0"/>
              <a:t>(Performance)</a:t>
            </a:r>
            <a:endParaRPr lang="en-US" altLang="ko-KR" b="1" dirty="0"/>
          </a:p>
        </p:txBody>
      </p:sp>
      <p:sp>
        <p:nvSpPr>
          <p:cNvPr id="6" name="직사각형 5"/>
          <p:cNvSpPr/>
          <p:nvPr/>
        </p:nvSpPr>
        <p:spPr>
          <a:xfrm>
            <a:off x="252661" y="4847325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가격의 적정성</a:t>
            </a:r>
            <a:endParaRPr lang="en-US" altLang="ko-KR" b="1" dirty="0"/>
          </a:p>
        </p:txBody>
      </p:sp>
      <p:sp>
        <p:nvSpPr>
          <p:cNvPr id="10" name="직사각형 9"/>
          <p:cNvSpPr/>
          <p:nvPr/>
        </p:nvSpPr>
        <p:spPr>
          <a:xfrm>
            <a:off x="431540" y="1643424"/>
            <a:ext cx="8676964" cy="29966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HW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GPU </a:t>
            </a:r>
            <a:r>
              <a:rPr lang="ko-KR" altLang="en-US" sz="1200" dirty="0">
                <a:solidFill>
                  <a:schemeClr val="tx1"/>
                </a:solidFill>
              </a:rPr>
              <a:t>메모리</a:t>
            </a:r>
            <a:r>
              <a:rPr lang="en-US" altLang="ko-KR" sz="1200" dirty="0">
                <a:solidFill>
                  <a:schemeClr val="tx1"/>
                </a:solidFill>
              </a:rPr>
              <a:t>: 2,160GB (8× 270GB) </a:t>
            </a:r>
            <a:r>
              <a:rPr lang="en-US" altLang="ko-KR" sz="1200" dirty="0" smtClean="0">
                <a:solidFill>
                  <a:schemeClr val="tx1"/>
                </a:solidFill>
              </a:rPr>
              <a:t>/ </a:t>
            </a:r>
            <a:r>
              <a:rPr lang="ko-KR" altLang="en-US" sz="1200" dirty="0">
                <a:solidFill>
                  <a:schemeClr val="tx1"/>
                </a:solidFill>
              </a:rPr>
              <a:t>시스템 메모리</a:t>
            </a:r>
            <a:r>
              <a:rPr lang="en-US" altLang="ko-KR" sz="1200" dirty="0">
                <a:solidFill>
                  <a:schemeClr val="tx1"/>
                </a:solidFill>
              </a:rPr>
              <a:t>: 2TB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CPU: Dual Intel Xeon 6776P Processors (128 Cores, 2.3 GHz, MAX 3.9 GHz)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2×NVIDIA </a:t>
            </a:r>
            <a:r>
              <a:rPr lang="en-US" altLang="ko-KR" sz="1200" dirty="0" err="1">
                <a:solidFill>
                  <a:schemeClr val="tx1"/>
                </a:solidFill>
              </a:rPr>
              <a:t>NVSwitches</a:t>
            </a:r>
            <a:r>
              <a:rPr lang="en-US" altLang="ko-KR" sz="1200" dirty="0">
                <a:solidFill>
                  <a:schemeClr val="tx1"/>
                </a:solidFill>
              </a:rPr>
              <a:t> (Total 14.4TB/s Bi-directional Bandwidth)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18×NVLinks Per GPU (1,800GB/s Per GPU to GPU Bi-directional Bandwidth)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네트워킹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클러스터</a:t>
            </a:r>
            <a:r>
              <a:rPr lang="en-US" altLang="ko-KR" sz="1200" dirty="0">
                <a:solidFill>
                  <a:schemeClr val="tx1"/>
                </a:solidFill>
              </a:rPr>
              <a:t>): 8× OSFP port serving 8× ConnectX-8 VPI (Up to 800Gb/s </a:t>
            </a:r>
            <a:r>
              <a:rPr lang="en-US" altLang="ko-KR" sz="1200" dirty="0" err="1">
                <a:solidFill>
                  <a:schemeClr val="tx1"/>
                </a:solidFill>
              </a:rPr>
              <a:t>InfiniBand</a:t>
            </a:r>
            <a:r>
              <a:rPr lang="en-US" altLang="ko-KR" sz="1200" dirty="0">
                <a:solidFill>
                  <a:schemeClr val="tx1"/>
                </a:solidFill>
              </a:rPr>
              <a:t>/Ethernet)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스토리지</a:t>
            </a:r>
            <a:r>
              <a:rPr lang="en-US" altLang="ko-KR" sz="1200" dirty="0">
                <a:solidFill>
                  <a:schemeClr val="tx1"/>
                </a:solidFill>
              </a:rPr>
              <a:t>(OS): 2× 1.9TB M.2 </a:t>
            </a:r>
            <a:r>
              <a:rPr lang="en-US" altLang="ko-KR" sz="1200" dirty="0" err="1">
                <a:solidFill>
                  <a:schemeClr val="tx1"/>
                </a:solidFill>
              </a:rPr>
              <a:t>NVMe</a:t>
            </a:r>
            <a:r>
              <a:rPr lang="en-US" altLang="ko-KR" sz="1200" dirty="0">
                <a:solidFill>
                  <a:schemeClr val="tx1"/>
                </a:solidFill>
              </a:rPr>
              <a:t> SSDs </a:t>
            </a:r>
            <a:r>
              <a:rPr lang="en-US" altLang="ko-KR" sz="1200" dirty="0" smtClean="0">
                <a:solidFill>
                  <a:schemeClr val="tx1"/>
                </a:solidFill>
              </a:rPr>
              <a:t>/ </a:t>
            </a:r>
            <a:r>
              <a:rPr lang="ko-KR" altLang="en-US" sz="1200" dirty="0">
                <a:solidFill>
                  <a:schemeClr val="tx1"/>
                </a:solidFill>
              </a:rPr>
              <a:t>스토리지</a:t>
            </a:r>
            <a:r>
              <a:rPr lang="en-US" altLang="ko-KR" sz="1200" dirty="0">
                <a:solidFill>
                  <a:schemeClr val="tx1"/>
                </a:solidFill>
              </a:rPr>
              <a:t>(Cache): 8× 3.84TB E1.S </a:t>
            </a:r>
            <a:r>
              <a:rPr lang="en-US" altLang="ko-KR" sz="1200" dirty="0" err="1">
                <a:solidFill>
                  <a:schemeClr val="tx1"/>
                </a:solidFill>
              </a:rPr>
              <a:t>NVMe</a:t>
            </a:r>
            <a:r>
              <a:rPr lang="en-US" altLang="ko-KR" sz="1200" dirty="0">
                <a:solidFill>
                  <a:schemeClr val="tx1"/>
                </a:solidFill>
              </a:rPr>
              <a:t> SSDs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설치 환경에 맞는 랙 시스템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SW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DGX Software Stack: Ubuntu Linux Host OS / Driver / NV Docker / Accelerated Solution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NVIDIA AI Enterprise Subscription per GPU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NVIDIA GPU </a:t>
            </a:r>
            <a:r>
              <a:rPr lang="ko-KR" altLang="en-US" sz="1200" dirty="0">
                <a:solidFill>
                  <a:schemeClr val="tx1"/>
                </a:solidFill>
              </a:rPr>
              <a:t>사용 프로세스 병목 탐색 및 가이드 필수 제공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2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4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3" name="직사각형 12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0" name="직사각형 6"/>
          <p:cNvSpPr/>
          <p:nvPr/>
        </p:nvSpPr>
        <p:spPr>
          <a:xfrm>
            <a:off x="377934" y="5216657"/>
            <a:ext cx="8730570" cy="1092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 latinLnBrk="0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여러 업체를 통해 구매 가능한 서버 견적을 요청하였으며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최저가는 </a:t>
            </a:r>
            <a:r>
              <a:rPr lang="en-US" altLang="ko-KR" sz="1400" b="1" dirty="0">
                <a:solidFill>
                  <a:schemeClr val="tx1"/>
                </a:solidFill>
              </a:rPr>
              <a:t>1,187 </a:t>
            </a:r>
            <a:r>
              <a:rPr lang="ko-KR" altLang="en-US" sz="1400" b="1" dirty="0">
                <a:solidFill>
                  <a:schemeClr val="tx1"/>
                </a:solidFill>
              </a:rPr>
              <a:t>백만원이나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가격이 월 단위로 상승하는 모습을 보이는 만큼 심의 후 실제 구입을 하는 차년도 구매 측정가로는 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1,200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백만원이 </a:t>
            </a:r>
            <a:r>
              <a:rPr lang="ko-KR" altLang="en-US" sz="1400" b="1" dirty="0">
                <a:solidFill>
                  <a:schemeClr val="tx1"/>
                </a:solidFill>
              </a:rPr>
              <a:t>적정하다고 판단</a:t>
            </a:r>
            <a:endParaRPr lang="ko-KR" altLang="en-US" sz="1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61686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 운영의 계획성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23527" y="1260596"/>
            <a:ext cx="79928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연구시설･장비의 운영 인력 및 조직의 전문성 확보계획</a:t>
            </a:r>
            <a:endParaRPr lang="en-US" altLang="ko-KR" b="1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117897"/>
              </p:ext>
            </p:extLst>
          </p:nvPr>
        </p:nvGraphicFramePr>
        <p:xfrm>
          <a:off x="467544" y="4005064"/>
          <a:ext cx="8276458" cy="1873443"/>
        </p:xfrm>
        <a:graphic>
          <a:graphicData uri="http://schemas.openxmlformats.org/drawingml/2006/table">
            <a:tbl>
              <a:tblPr/>
              <a:tblGrid>
                <a:gridCol w="1494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3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87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3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성명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소속부서명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최종학위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직군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고용형태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담당장비수</a:t>
                      </a:r>
                      <a:r>
                        <a:rPr lang="en-US" altLang="ko-KR" sz="1000" kern="0" spc="0" baseline="30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900" kern="0" spc="0" baseline="30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장비운영경력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이호원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재료데이터</a:t>
                      </a: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분석연구본부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박사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책임연구원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정규직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endParaRPr lang="ko-KR" altLang="en-US" sz="9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정재면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재료데이터</a:t>
                      </a: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분석연구본부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박사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선임연구원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정규직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ko-KR" altLang="en-US" sz="9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이치헌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재료데이터</a:t>
                      </a: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분석연구본부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박사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선임연구원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정규직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ko-KR" altLang="en-US" sz="9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193801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0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1" name="직사각형 10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467544" y="6021288"/>
            <a:ext cx="28083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aseline="30000" dirty="0"/>
              <a:t>1)</a:t>
            </a:r>
            <a:r>
              <a:rPr lang="ko-KR" altLang="en-US" sz="1200" dirty="0"/>
              <a:t>구축금액 1000만원 이상 주장비</a:t>
            </a:r>
          </a:p>
        </p:txBody>
      </p:sp>
      <p:sp>
        <p:nvSpPr>
          <p:cNvPr id="21" name="직사각형 9"/>
          <p:cNvSpPr/>
          <p:nvPr/>
        </p:nvSpPr>
        <p:spPr>
          <a:xfrm>
            <a:off x="431540" y="1643425"/>
            <a:ext cx="8676964" cy="1860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심의대상 장비의 구축 후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재료데이터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·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분석연구본부 </a:t>
            </a:r>
            <a:r>
              <a:rPr lang="ko-KR" altLang="en-US" sz="1400" b="1" dirty="0">
                <a:solidFill>
                  <a:schemeClr val="tx1"/>
                </a:solidFill>
              </a:rPr>
              <a:t>연구원들을 중심으로 장비를 운영할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계획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이후 외부 수요에 따라 타실 기술원과 혐력하여 장비의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활용도 제고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장비 설치공간은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본관동 서버실을 </a:t>
            </a:r>
            <a:r>
              <a:rPr lang="ko-KR" altLang="en-US" sz="1400" b="1" dirty="0">
                <a:solidFill>
                  <a:schemeClr val="tx1"/>
                </a:solidFill>
              </a:rPr>
              <a:t>최적화하여 설치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공간 마련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해당 사업 혹은 본 심의대상 장비를 사용해야하는 다른 사업에서 유지보수비 및 운영비 집행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계획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심의대상 장비에 대한 수요가 높아 장비의 유지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보수비를 충분히 확보할 수 있을 것으로 </a:t>
            </a:r>
            <a:r>
              <a:rPr lang="ko-KR" altLang="en-US" sz="1400" b="1" dirty="0" smtClean="0">
                <a:solidFill>
                  <a:schemeClr val="tx1"/>
                </a:solidFill>
              </a:rPr>
              <a:t>판단</a:t>
            </a:r>
            <a:r>
              <a:rPr lang="en-US" altLang="ko-KR" sz="1400" b="1" dirty="0" smtClean="0">
                <a:solidFill>
                  <a:schemeClr val="tx1"/>
                </a:solidFill>
              </a:rPr>
              <a:t> 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파급성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137220" y="1065308"/>
            <a:ext cx="4320480" cy="2435699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819580" y="844712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과학기술적 측면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4673724" y="1057308"/>
            <a:ext cx="4320480" cy="2435699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5356084" y="836712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</a:rPr>
              <a:t>경제적 측면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604" y="1320433"/>
            <a:ext cx="431209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</a:t>
            </a:r>
            <a:r>
              <a:rPr lang="ko-KR" altLang="en-US" sz="1400" b="1" dirty="0" smtClean="0"/>
              <a:t>금속 거대 파운데이션 모델 </a:t>
            </a:r>
            <a:r>
              <a:rPr lang="ko-KR" altLang="en-US" sz="1400" b="1" dirty="0"/>
              <a:t>자체 </a:t>
            </a:r>
            <a:r>
              <a:rPr lang="ko-KR" altLang="en-US" sz="1400" b="1" dirty="0" smtClean="0"/>
              <a:t>역량 </a:t>
            </a:r>
            <a:r>
              <a:rPr lang="ko-KR" altLang="en-US" sz="1400" b="1" dirty="0"/>
              <a:t>확보</a:t>
            </a:r>
            <a:endParaRPr lang="en-US" altLang="ko-KR" sz="1400" b="1" dirty="0" smtClean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en-US" altLang="ko-KR" sz="1200" dirty="0"/>
              <a:t>DeepMind </a:t>
            </a:r>
            <a:r>
              <a:rPr lang="en-US" altLang="ko-KR" sz="1200" dirty="0" err="1"/>
              <a:t>GNoME</a:t>
            </a:r>
            <a:r>
              <a:rPr lang="en-US" altLang="ko-KR" sz="1200" dirty="0"/>
              <a:t>, Microsoft </a:t>
            </a:r>
            <a:r>
              <a:rPr lang="en-US" altLang="ko-KR" sz="1200" dirty="0" err="1"/>
              <a:t>MatterGen</a:t>
            </a:r>
            <a:r>
              <a:rPr lang="en-US" altLang="ko-KR" sz="1200" dirty="0"/>
              <a:t> </a:t>
            </a:r>
            <a:r>
              <a:rPr lang="ko-KR" altLang="en-US" sz="1200" dirty="0"/>
              <a:t>및 </a:t>
            </a:r>
            <a:r>
              <a:rPr lang="en-US" altLang="ko-KR" sz="1200" dirty="0" err="1"/>
              <a:t>MatterSim</a:t>
            </a:r>
            <a:r>
              <a:rPr lang="en-US" altLang="ko-KR" sz="1200" dirty="0"/>
              <a:t>, IBM FM4M </a:t>
            </a:r>
            <a:r>
              <a:rPr lang="ko-KR" altLang="en-US" sz="1200" dirty="0"/>
              <a:t>등 해외 빅테크가 자체 </a:t>
            </a:r>
            <a:r>
              <a:rPr lang="en-US" altLang="ko-KR" sz="1200" dirty="0"/>
              <a:t>GPU </a:t>
            </a:r>
            <a:r>
              <a:rPr lang="ko-KR" altLang="en-US" sz="1200" dirty="0"/>
              <a:t>인프라를 기반으로 소재 생성</a:t>
            </a:r>
            <a:r>
              <a:rPr lang="en-US" altLang="ko-KR" sz="1200" dirty="0"/>
              <a:t>·</a:t>
            </a:r>
            <a:r>
              <a:rPr lang="ko-KR" altLang="en-US" sz="1200" dirty="0"/>
              <a:t>예측을 위한 파운데이션 모델을 학습하고 있는 상황에서</a:t>
            </a:r>
            <a:r>
              <a:rPr lang="en-US" altLang="ko-KR" sz="1200" dirty="0"/>
              <a:t>, </a:t>
            </a:r>
            <a:r>
              <a:rPr lang="ko-KR" altLang="en-US" sz="1200" dirty="0"/>
              <a:t>국내에서도 금속소재에 특화된 동등 규모의 모델을 자체 학습할 수 있는 기반 확보</a:t>
            </a:r>
            <a:endParaRPr lang="en-US" altLang="ko-KR" sz="12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145604" y="3851904"/>
            <a:ext cx="4320480" cy="260943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827964" y="3631307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사회적 측면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82108" y="3843904"/>
            <a:ext cx="4320480" cy="260943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364468" y="3623307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</a:rPr>
              <a:t>지역적 측면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0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6" name="직사각형 2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4" name="직사각형 2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1" name="직사각형 20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29425" y="2567226"/>
            <a:ext cx="4312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</a:t>
            </a:r>
            <a:r>
              <a:rPr lang="ko-KR" altLang="en-US" sz="1400" b="1" dirty="0" smtClean="0"/>
              <a:t>가상실험 </a:t>
            </a:r>
            <a:r>
              <a:rPr lang="ko-KR" altLang="en-US" sz="1400" b="1" dirty="0"/>
              <a:t>환경 </a:t>
            </a:r>
            <a:r>
              <a:rPr lang="ko-KR" altLang="en-US" sz="1400" b="1" dirty="0" smtClean="0"/>
              <a:t>구축 </a:t>
            </a:r>
            <a:r>
              <a:rPr lang="ko-KR" altLang="en-US" sz="1400" b="1" dirty="0"/>
              <a:t>기반 마련</a:t>
            </a:r>
            <a:endParaRPr lang="ko-KR" altLang="en-US" sz="1400" b="1" dirty="0" smtClean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실험 없이도 동일 시간 내 탐색 가능한 조성 및 공정 조합을 확대하고</a:t>
            </a:r>
            <a:r>
              <a:rPr lang="en-US" altLang="ko-KR" sz="1200" dirty="0"/>
              <a:t>,  </a:t>
            </a:r>
            <a:r>
              <a:rPr lang="ko-KR" altLang="en-US" sz="1200" dirty="0"/>
              <a:t>자율실험실의 실험 계획 수립과 연계하여 실험</a:t>
            </a:r>
            <a:r>
              <a:rPr lang="en-US" altLang="ko-KR" sz="1200" dirty="0"/>
              <a:t>-</a:t>
            </a:r>
            <a:r>
              <a:rPr lang="ko-KR" altLang="en-US" sz="1200" dirty="0"/>
              <a:t>가상실험 간 피드백 루프 구축 기반 확보</a:t>
            </a:r>
            <a:endParaRPr lang="en-US" altLang="ko-KR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4682108" y="1320433"/>
            <a:ext cx="432048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거대 </a:t>
            </a:r>
            <a:r>
              <a:rPr lang="en-US" altLang="ko-KR" sz="1400" b="1" dirty="0"/>
              <a:t>AI</a:t>
            </a:r>
            <a:r>
              <a:rPr lang="ko-KR" altLang="en-US" sz="1400" b="1" dirty="0"/>
              <a:t>를 통한 금속소재 </a:t>
            </a:r>
            <a:r>
              <a:rPr lang="en-US" altLang="ko-KR" sz="1400" b="1" dirty="0"/>
              <a:t>R&amp;D </a:t>
            </a:r>
            <a:r>
              <a:rPr lang="ko-KR" altLang="en-US" sz="1400" b="1" dirty="0"/>
              <a:t>생산성 제고</a:t>
            </a:r>
            <a:endParaRPr lang="en-US" altLang="ko-KR" sz="1400" b="1" dirty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en-US" altLang="ko-KR" sz="1200" dirty="0" smtClean="0"/>
              <a:t>AI</a:t>
            </a:r>
            <a:r>
              <a:rPr lang="ko-KR" altLang="en-US" sz="1200" dirty="0"/>
              <a:t>를 활용한 연구자들의 소재 발견</a:t>
            </a:r>
            <a:r>
              <a:rPr lang="en-US" altLang="ko-KR" sz="1200" dirty="0"/>
              <a:t>(44%), </a:t>
            </a:r>
            <a:r>
              <a:rPr lang="ko-KR" altLang="en-US" sz="1200" dirty="0"/>
              <a:t>특허 출원</a:t>
            </a:r>
            <a:r>
              <a:rPr lang="en-US" altLang="ko-KR" sz="1200" dirty="0"/>
              <a:t>(39%), </a:t>
            </a:r>
            <a:r>
              <a:rPr lang="ko-KR" altLang="en-US" sz="1200" dirty="0"/>
              <a:t>제품 프로토타입</a:t>
            </a:r>
            <a:r>
              <a:rPr lang="en-US" altLang="ko-KR" sz="1200" dirty="0"/>
              <a:t>(17%) </a:t>
            </a:r>
            <a:r>
              <a:rPr lang="ko-KR" altLang="en-US" sz="1200" dirty="0"/>
              <a:t>개발 성과가 증가를 통해 최소 </a:t>
            </a:r>
            <a:r>
              <a:rPr lang="en-US" altLang="ko-KR" sz="1200" dirty="0"/>
              <a:t>13~15% </a:t>
            </a:r>
            <a:r>
              <a:rPr lang="ko-KR" altLang="en-US" sz="1200" dirty="0"/>
              <a:t>생산성 향상 기대 </a:t>
            </a:r>
            <a:r>
              <a:rPr lang="en-US" altLang="ko-KR" sz="1200" dirty="0"/>
              <a:t>(MIT, 2024)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실험 실패율과 원자재 소비 감축</a:t>
            </a:r>
            <a:r>
              <a:rPr lang="en-US" altLang="ko-KR" sz="1200" dirty="0"/>
              <a:t>, </a:t>
            </a:r>
            <a:r>
              <a:rPr lang="ko-KR" altLang="en-US" sz="1200" dirty="0"/>
              <a:t>자동차</a:t>
            </a:r>
            <a:r>
              <a:rPr lang="en-US" altLang="ko-KR" sz="1200" dirty="0"/>
              <a:t>·</a:t>
            </a:r>
            <a:r>
              <a:rPr lang="ko-KR" altLang="en-US" sz="1200" dirty="0"/>
              <a:t>항공우주</a:t>
            </a:r>
            <a:r>
              <a:rPr lang="en-US" altLang="ko-KR" sz="1200" dirty="0"/>
              <a:t>·</a:t>
            </a:r>
            <a:r>
              <a:rPr lang="ko-KR" altLang="en-US" sz="1200" dirty="0"/>
              <a:t>배터리 등 금속 제조업 분야의 신소재 개발 기간 단축</a:t>
            </a:r>
            <a:endParaRPr lang="en-US" altLang="ko-KR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74313" y="2567226"/>
            <a:ext cx="4312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핵심 전략 금속소재 국산화 가속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전략 금속소재의 국산화 및 수입 대체 효과 창출하여 국방핵심소재의 해외 수입의존도가 </a:t>
            </a:r>
            <a:r>
              <a:rPr lang="en-US" altLang="ko-KR" sz="1200" dirty="0"/>
              <a:t>50% </a:t>
            </a:r>
            <a:r>
              <a:rPr lang="ko-KR" altLang="en-US" sz="1200" dirty="0"/>
              <a:t>이상인 상황</a:t>
            </a:r>
            <a:r>
              <a:rPr lang="en-US" altLang="ko-KR" sz="1200" dirty="0"/>
              <a:t>(</a:t>
            </a:r>
            <a:r>
              <a:rPr lang="ko-KR" altLang="en-US" sz="1200" dirty="0"/>
              <a:t>산업연구원</a:t>
            </a:r>
            <a:r>
              <a:rPr lang="en-US" altLang="ko-KR" sz="1200" dirty="0"/>
              <a:t>, 2022) </a:t>
            </a:r>
            <a:r>
              <a:rPr lang="ko-KR" altLang="en-US" sz="1200" dirty="0" smtClean="0"/>
              <a:t>극복</a:t>
            </a:r>
            <a:endParaRPr lang="ko-KR" alt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154964" y="4144432"/>
            <a:ext cx="4312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</a:t>
            </a:r>
            <a:r>
              <a:rPr lang="en-US" altLang="ko-KR" sz="1400" b="1" dirty="0"/>
              <a:t>AI-</a:t>
            </a:r>
            <a:r>
              <a:rPr lang="ko-KR" altLang="en-US" sz="1400" b="1" dirty="0"/>
              <a:t>금속소재 융합 전문인력 양성 기반 확보</a:t>
            </a:r>
            <a:endParaRPr lang="en-US" altLang="ko-KR" sz="1400" b="1" dirty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연구자 및 대학원생에게 실무 교육 기회를 제공하고</a:t>
            </a:r>
            <a:r>
              <a:rPr lang="en-US" altLang="ko-KR" sz="1200" dirty="0"/>
              <a:t>, 'AI </a:t>
            </a:r>
            <a:r>
              <a:rPr lang="ko-KR" altLang="en-US" sz="1200" dirty="0"/>
              <a:t>기반 소재 개발</a:t>
            </a:r>
            <a:r>
              <a:rPr lang="en-US" altLang="ko-KR" sz="1200" dirty="0"/>
              <a:t>' </a:t>
            </a:r>
            <a:r>
              <a:rPr lang="ko-KR" altLang="en-US" sz="1200" dirty="0"/>
              <a:t>커리큘럼 등 실습 프로그램을 통해 차세대 </a:t>
            </a:r>
            <a:r>
              <a:rPr lang="en-US" altLang="ko-KR" sz="1200" dirty="0"/>
              <a:t>AI-</a:t>
            </a:r>
            <a:r>
              <a:rPr lang="ko-KR" altLang="en-US" sz="1200" dirty="0"/>
              <a:t>금속소재 융합 연구인력 양성</a:t>
            </a:r>
            <a:endParaRPr lang="en-US" altLang="ko-KR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138785" y="5150222"/>
            <a:ext cx="431209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금속 소재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혁신 연구생태계 구축 기여</a:t>
            </a:r>
            <a:endParaRPr lang="ko-KR" altLang="en-US" sz="1400" b="1" dirty="0" smtClean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금속소재 파운데이션 모델과 공개 가능 데이터를 공개하여</a:t>
            </a:r>
            <a:r>
              <a:rPr lang="en-US" altLang="ko-KR" sz="1200" dirty="0"/>
              <a:t>, </a:t>
            </a:r>
            <a:r>
              <a:rPr lang="ko-KR" altLang="en-US" sz="1200" dirty="0"/>
              <a:t>소재 분야 오픈 사이언스 문화 확산에 </a:t>
            </a:r>
            <a:r>
              <a:rPr lang="ko-KR" altLang="en-US" sz="1200" dirty="0" smtClean="0"/>
              <a:t>기여</a:t>
            </a:r>
            <a:endParaRPr lang="en-US" altLang="ko-KR" sz="1200" dirty="0" smtClean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부족한 국내 컴퓨팅 인프라 문제를 해결하고</a:t>
            </a:r>
            <a:r>
              <a:rPr lang="en-US" altLang="ko-KR" sz="1200" dirty="0"/>
              <a:t>(</a:t>
            </a:r>
            <a:r>
              <a:rPr lang="ko-KR" altLang="en-US" sz="1200" dirty="0"/>
              <a:t>슈퍼컴 </a:t>
            </a:r>
            <a:r>
              <a:rPr lang="en-US" altLang="ko-KR" sz="1200" dirty="0"/>
              <a:t>6</a:t>
            </a:r>
            <a:r>
              <a:rPr lang="ko-KR" altLang="en-US" sz="1200" dirty="0"/>
              <a:t>호기 예타 기획보고서</a:t>
            </a:r>
            <a:r>
              <a:rPr lang="en-US" altLang="ko-KR" sz="1200" dirty="0"/>
              <a:t>, </a:t>
            </a:r>
            <a:r>
              <a:rPr lang="ko-KR" altLang="en-US" sz="1200" dirty="0"/>
              <a:t>과기부</a:t>
            </a:r>
            <a:r>
              <a:rPr lang="en-US" altLang="ko-KR" sz="1200" dirty="0"/>
              <a:t>, 2023), </a:t>
            </a:r>
            <a:r>
              <a:rPr lang="ko-KR" altLang="en-US" sz="1200" dirty="0"/>
              <a:t>개방형</a:t>
            </a:r>
            <a:r>
              <a:rPr lang="en-US" altLang="ko-KR" sz="1200" dirty="0"/>
              <a:t>·</a:t>
            </a:r>
            <a:r>
              <a:rPr lang="ko-KR" altLang="en-US" sz="1200" dirty="0"/>
              <a:t>협력형 혁신 연구생태계를 조성</a:t>
            </a:r>
            <a:endParaRPr lang="en-US" altLang="ko-KR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699852" y="4182760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동남권 산학연의 제조업 </a:t>
            </a:r>
            <a:r>
              <a:rPr lang="en-US" altLang="ko-KR" sz="1400" b="1" dirty="0"/>
              <a:t>AX </a:t>
            </a:r>
            <a:r>
              <a:rPr lang="ko-KR" altLang="en-US" sz="1400" b="1" dirty="0"/>
              <a:t>연구 거점 구축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경남 지역에 금속소재 </a:t>
            </a:r>
            <a:r>
              <a:rPr lang="en-US" altLang="ko-KR" sz="1200" dirty="0"/>
              <a:t>AI </a:t>
            </a:r>
            <a:r>
              <a:rPr lang="ko-KR" altLang="en-US" sz="1200" dirty="0"/>
              <a:t>연구의 핵심 거점을 형성하고</a:t>
            </a:r>
            <a:r>
              <a:rPr lang="en-US" altLang="ko-KR" sz="1200" dirty="0"/>
              <a:t>, </a:t>
            </a:r>
            <a:r>
              <a:rPr lang="ko-KR" altLang="en-US" sz="1200" dirty="0"/>
              <a:t>수도권 편중된 </a:t>
            </a:r>
            <a:r>
              <a:rPr lang="en-US" altLang="ko-KR" sz="1200" dirty="0"/>
              <a:t>AI </a:t>
            </a:r>
            <a:r>
              <a:rPr lang="ko-KR" altLang="en-US" sz="1200" dirty="0"/>
              <a:t>컴퓨팅 인프라의 지역 분산에 </a:t>
            </a:r>
            <a:r>
              <a:rPr lang="ko-KR" altLang="en-US" sz="1200" dirty="0" smtClean="0"/>
              <a:t>기여</a:t>
            </a:r>
            <a:endParaRPr lang="en-US" altLang="ko-KR" sz="1200" dirty="0" smtClean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en-US" altLang="ko-KR" sz="1200" dirty="0"/>
              <a:t>GPU </a:t>
            </a:r>
            <a:r>
              <a:rPr lang="ko-KR" altLang="en-US" sz="1200" dirty="0"/>
              <a:t>인프라와 이로 개발된 </a:t>
            </a:r>
            <a:r>
              <a:rPr lang="en-US" altLang="ko-KR" sz="1200" dirty="0"/>
              <a:t>AI </a:t>
            </a:r>
            <a:r>
              <a:rPr lang="ko-KR" altLang="en-US" sz="1200" dirty="0"/>
              <a:t>서비스로 동남권 제조업 인공지능 전문가 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3673" y="5262880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지역 금속소재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부품 산업체와의 협력 강화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경남 지역 산업체에 금속소재 </a:t>
            </a:r>
            <a:r>
              <a:rPr lang="en-US" altLang="ko-KR" sz="1200" dirty="0"/>
              <a:t>AI </a:t>
            </a:r>
            <a:r>
              <a:rPr lang="ko-KR" altLang="en-US" sz="1200" dirty="0"/>
              <a:t>설계 서비스 및 기업 민감 데이터의 온프레미스 파인튜닝 환경 제공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연관기업 및 관내 학연과의 협업을 통한 데이터 기반 소재개발 사업 추진 시 기술 지원</a:t>
            </a:r>
            <a:endParaRPr lang="en-US" altLang="ko-KR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20457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향후 계획</a:t>
            </a:r>
          </a:p>
        </p:txBody>
      </p:sp>
      <p:graphicFrame>
        <p:nvGraphicFramePr>
          <p:cNvPr id="4" name="Group 26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656339"/>
              </p:ext>
            </p:extLst>
          </p:nvPr>
        </p:nvGraphicFramePr>
        <p:xfrm>
          <a:off x="971600" y="1700808"/>
          <a:ext cx="7111165" cy="4536506"/>
        </p:xfrm>
        <a:graphic>
          <a:graphicData uri="http://schemas.openxmlformats.org/drawingml/2006/table">
            <a:tbl>
              <a:tblPr/>
              <a:tblGrid>
                <a:gridCol w="138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2911073664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620386362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1244754032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33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602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 용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2027</a:t>
                      </a: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발주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구매처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한국재료연구원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발주처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한국재료연구원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최종검수 等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최종검수 날짜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계약일로부터 약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개월 안에 입고 전 검수 가능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입고 날짜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계약일로부터 약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개월 안에 입고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조립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설치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(Set Up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조립기간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2027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말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 6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말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설치기간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2027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말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 6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 및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NTIS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완료 예정일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장비 설치 후 약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 이내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NTIS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등록 예정일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완료 직후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운용 및 활용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173"/>
          <p:cNvSpPr txBox="1">
            <a:spLocks noChangeArrowheads="1"/>
          </p:cNvSpPr>
          <p:nvPr/>
        </p:nvSpPr>
        <p:spPr bwMode="auto">
          <a:xfrm>
            <a:off x="8200330" y="1207095"/>
            <a:ext cx="692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ko-KR" altLang="en-US" sz="1000" b="1" dirty="0">
                <a:latin typeface="+mn-ea"/>
              </a:rPr>
              <a:t>진행계획</a:t>
            </a:r>
          </a:p>
        </p:txBody>
      </p:sp>
      <p:sp>
        <p:nvSpPr>
          <p:cNvPr id="17" name="오른쪽 화살표 16"/>
          <p:cNvSpPr/>
          <p:nvPr/>
        </p:nvSpPr>
        <p:spPr>
          <a:xfrm>
            <a:off x="7740352" y="1196752"/>
            <a:ext cx="509389" cy="2880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7594868" y="6570020"/>
            <a:ext cx="1312472" cy="230832"/>
            <a:chOff x="7075952" y="6570020"/>
            <a:chExt cx="1312472" cy="230832"/>
          </a:xfrm>
        </p:grpSpPr>
        <p:grpSp>
          <p:nvGrpSpPr>
            <p:cNvPr id="14" name="그룹 20"/>
            <p:cNvGrpSpPr/>
            <p:nvPr/>
          </p:nvGrpSpPr>
          <p:grpSpPr>
            <a:xfrm>
              <a:off x="7075952" y="6578184"/>
              <a:ext cx="319423" cy="214912"/>
              <a:chOff x="1235249" y="2279290"/>
              <a:chExt cx="1051410" cy="751574"/>
            </a:xfrm>
          </p:grpSpPr>
          <p:sp>
            <p:nvSpPr>
              <p:cNvPr id="20" name="직사각형 19"/>
              <p:cNvSpPr/>
              <p:nvPr/>
            </p:nvSpPr>
            <p:spPr>
              <a:xfrm>
                <a:off x="1235249" y="2301255"/>
                <a:ext cx="684000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tx2">
                      <a:lumMod val="75000"/>
                    </a:schemeClr>
                  </a:gs>
                  <a:gs pos="50000">
                    <a:schemeClr val="tx2">
                      <a:lumMod val="75000"/>
                    </a:schemeClr>
                  </a:gs>
                  <a:gs pos="100000">
                    <a:schemeClr val="tx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1286187" y="2279290"/>
                <a:ext cx="1000472" cy="751574"/>
              </a:xfrm>
              <a:prstGeom prst="rect">
                <a:avLst/>
              </a:prstGeom>
              <a:gradFill flip="none" rotWithShape="1">
                <a:gsLst>
                  <a:gs pos="0">
                    <a:srgbClr val="0066CC"/>
                  </a:gs>
                  <a:gs pos="50000">
                    <a:srgbClr val="0066CC"/>
                  </a:gs>
                  <a:gs pos="100000">
                    <a:srgbClr val="0099FF"/>
                  </a:gs>
                </a:gsLst>
                <a:lin ang="13500000" scaled="1"/>
                <a:tileRect/>
              </a:gra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>
                    <a:latin typeface="나눔명조 ExtraBold" pitchFamily="18" charset="-127"/>
                    <a:ea typeface="나눔명조 ExtraBold" pitchFamily="18" charset="-127"/>
                  </a:rPr>
                  <a:t>III</a:t>
                </a:r>
                <a:endParaRPr lang="ko-KR" altLang="en-US" sz="900" b="1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</p:grpSp>
        <p:grpSp>
          <p:nvGrpSpPr>
            <p:cNvPr id="15" name="그룹 23"/>
            <p:cNvGrpSpPr/>
            <p:nvPr/>
          </p:nvGrpSpPr>
          <p:grpSpPr>
            <a:xfrm>
              <a:off x="7378483" y="6588328"/>
              <a:ext cx="865925" cy="212160"/>
              <a:chOff x="1518892" y="2169692"/>
              <a:chExt cx="7334389" cy="684000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1518892" y="2169692"/>
                <a:ext cx="115962" cy="684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2015189" y="2169692"/>
                <a:ext cx="6838092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  <a:alpha val="61000"/>
                    </a:schemeClr>
                  </a:gs>
                  <a:gs pos="50000">
                    <a:schemeClr val="bg1">
                      <a:lumMod val="75000"/>
                      <a:alpha val="53000"/>
                    </a:schemeClr>
                  </a:gs>
                  <a:gs pos="100000">
                    <a:schemeClr val="bg1">
                      <a:alpha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</p:grpSp>
        <p:sp>
          <p:nvSpPr>
            <p:cNvPr id="12" name="직사각형 11"/>
            <p:cNvSpPr/>
            <p:nvPr/>
          </p:nvSpPr>
          <p:spPr>
            <a:xfrm>
              <a:off x="7474112" y="6570020"/>
              <a:ext cx="914312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기 타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3" name="오른쪽 화살표 15"/>
          <p:cNvSpPr/>
          <p:nvPr/>
        </p:nvSpPr>
        <p:spPr>
          <a:xfrm>
            <a:off x="2411760" y="2564904"/>
            <a:ext cx="1008112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오른쪽 화살표 15"/>
          <p:cNvSpPr/>
          <p:nvPr/>
        </p:nvSpPr>
        <p:spPr>
          <a:xfrm>
            <a:off x="4605180" y="3212976"/>
            <a:ext cx="576064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오른쪽 화살표 15"/>
          <p:cNvSpPr/>
          <p:nvPr/>
        </p:nvSpPr>
        <p:spPr>
          <a:xfrm>
            <a:off x="4605179" y="3753036"/>
            <a:ext cx="690375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 15"/>
          <p:cNvSpPr/>
          <p:nvPr/>
        </p:nvSpPr>
        <p:spPr>
          <a:xfrm>
            <a:off x="5033057" y="4446138"/>
            <a:ext cx="563288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오른쪽 화살표 15"/>
          <p:cNvSpPr/>
          <p:nvPr/>
        </p:nvSpPr>
        <p:spPr>
          <a:xfrm>
            <a:off x="5201351" y="5063972"/>
            <a:ext cx="394994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화살표 15"/>
          <p:cNvSpPr/>
          <p:nvPr/>
        </p:nvSpPr>
        <p:spPr>
          <a:xfrm>
            <a:off x="5364088" y="5661248"/>
            <a:ext cx="288032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감사합니다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3326" y="2662227"/>
            <a:ext cx="4437348" cy="1050948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74767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1: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연계 가능한 정부 전략 및 비전 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352375"/>
              </p:ext>
            </p:extLst>
          </p:nvPr>
        </p:nvGraphicFramePr>
        <p:xfrm>
          <a:off x="395536" y="1124744"/>
          <a:ext cx="8352928" cy="4392488"/>
        </p:xfrm>
        <a:graphic>
          <a:graphicData uri="http://schemas.openxmlformats.org/drawingml/2006/table">
            <a:tbl>
              <a:tblPr/>
              <a:tblGrid>
                <a:gridCol w="3312368">
                  <a:extLst>
                    <a:ext uri="{9D8B030D-6E8A-4147-A177-3AD203B41FA5}">
                      <a16:colId xmlns:a16="http://schemas.microsoft.com/office/drawing/2014/main" val="2073458210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1101706358"/>
                    </a:ext>
                  </a:extLst>
                </a:gridCol>
              </a:tblGrid>
              <a:tr h="4024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국가중점과학기술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국가중점과학기술과의 연계성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978146"/>
                  </a:ext>
                </a:extLst>
              </a:tr>
              <a:tr h="3990079"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제1차 </a:t>
                      </a: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국가전략기술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육성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기본계획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('24~'28), '25년 </a:t>
                      </a: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시행계획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</a:t>
                      </a: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관계부처합동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'25.3)</a:t>
                      </a:r>
                      <a:endParaRPr lang="en-US" sz="1000" b="1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인공지능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산업활용·혁신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AI)</a:t>
                      </a:r>
                      <a:endParaRPr lang="en-US" sz="1000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 smtClean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첨단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R&amp;D 발전전략 (관계부처합동, '24.12)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분야 AI 데이터 연구 인프라 구축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 smtClean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자율제조 선도프로젝트 (산업통상자원부, '24.5)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제조 파운데이션 모델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 smtClean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AI+R&amp;DI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추진전략 (산업통상자원부, '24.10)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기반 자율실험실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 smtClean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인공지능 전략 (과학기술정보통신부, '24.9.)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 AX(AI+X) 전면화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 smtClean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 latinLnBrk="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AI+S&amp;T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활성화 방안 (관계부처합동, '25.3.12)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AI+S&amp;T로 R&amp;D 혁신 가속화 (과학적 파운데이션 모델)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12대 </a:t>
                      </a: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국가전략기술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및 50개 </a:t>
                      </a: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중점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</a:t>
                      </a:r>
                      <a:endParaRPr lang="en-US" sz="1000" b="1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거대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AI를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통한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자동화는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12대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국가전략기술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중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하나인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AI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중에서도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도입과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활용을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위한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산업활용·혁신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AI와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연계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00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 smtClean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첨단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R&amp;D 발전전략과 부합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분야 AI 연구 생태계 구축의 핵심이 되는 AI 학습 인프라 확보, 고품질 소재 데이터베이스 구축, 소재 특화 거대 AI 모델 개발 전략과 연계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 smtClean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자율제조 선도프로젝트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분야 초거대 AI 개발은 산업부에서 계획하는 AI 제조 파운데이션 모델 개발 및 보급과 연계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 smtClean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err="1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인공지능 전략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제조·금융·의료바이오 등 AI 도입 효과가 높으나 AI 전환이 더딘 8대 산업별 AX(AI+X) 대책으로 활용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 smtClean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AI+S&amp;T 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활성화 방안 연계성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 현장 AI 내재화와 차세대 신소재 설계를 위한 핵심 기술(파운데이션 모델 등)과 연계하여 초거대 AI 서비스 구축을 통해 신소재 설계의 효율성 증대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3736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3254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en-US" altLang="ko-KR" sz="3600" b="1" kern="0" spc="-150" dirty="0" smtClean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1/3)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2049" name="_x401090120" descr="EMB00003ce824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"/>
          <a:stretch>
            <a:fillRect/>
          </a:stretch>
        </p:blipFill>
        <p:spPr bwMode="auto">
          <a:xfrm>
            <a:off x="539551" y="908720"/>
            <a:ext cx="3852000" cy="4643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08720"/>
            <a:ext cx="3852000" cy="491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41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293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en-US" altLang="ko-KR" sz="3600" b="1" kern="0" spc="-150" dirty="0" smtClean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43934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 smtClean="0"/>
              <a:t>\</a:t>
            </a:r>
            <a:endParaRPr lang="ko-KR" altLang="en-US" dirty="0"/>
          </a:p>
        </p:txBody>
      </p:sp>
      <p:pic>
        <p:nvPicPr>
          <p:cNvPr id="5121" name="_x401090552" descr="EMB00003ce824e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6"/>
          <a:stretch>
            <a:fillRect/>
          </a:stretch>
        </p:blipFill>
        <p:spPr bwMode="auto">
          <a:xfrm>
            <a:off x="360996" y="749704"/>
            <a:ext cx="4140000" cy="526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_x401094224" descr="EMB00003ce824e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49704"/>
            <a:ext cx="4140000" cy="542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934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293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en-US" altLang="ko-KR" sz="3600" b="1" kern="0" spc="-150" dirty="0" smtClean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6145" name="_x401090984" descr="EMB00003ce824e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52736"/>
            <a:ext cx="4140000" cy="363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773172"/>
            <a:ext cx="4140000" cy="154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73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46923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en-US" altLang="ko-KR" sz="3600" b="1" kern="0" spc="-150" dirty="0" smtClean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1,2)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7169" name="_x401091776" descr="EMB00003ce824e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4"/>
          <a:stretch>
            <a:fillRect/>
          </a:stretch>
        </p:blipFill>
        <p:spPr bwMode="auto">
          <a:xfrm>
            <a:off x="899592" y="1124744"/>
            <a:ext cx="3580562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_x401092352" descr="EMB00003ce824e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796" y="1124744"/>
            <a:ext cx="3490769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938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4357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 smtClean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9217" name="_x401090912" descr="EMB00003ce824e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52736"/>
            <a:ext cx="3444817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90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ctr" latinLnBrk="0">
          <a:defRPr sz="1400" kern="0" dirty="0" smtClean="0">
            <a:gradFill>
              <a:gsLst>
                <a:gs pos="0">
                  <a:srgbClr val="FFE400"/>
                </a:gs>
                <a:gs pos="100000">
                  <a:srgbClr val="FFE400"/>
                </a:gs>
              </a:gsLst>
              <a:lin ang="5400000" scaled="0"/>
            </a:gradFill>
            <a:latin typeface="HY견고딕" pitchFamily="18" charset="-127"/>
            <a:ea typeface="HY견고딕" pitchFamily="18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13633</TotalTime>
  <Words>2952</Words>
  <Application>Microsoft Office PowerPoint</Application>
  <PresentationFormat>On-screen Show (4:3)</PresentationFormat>
  <Paragraphs>405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63" baseType="lpstr">
      <vt:lpstr>Gong Gothic Bold</vt:lpstr>
      <vt:lpstr>HY헤드라인M</vt:lpstr>
      <vt:lpstr>KoPubWorld돋움체 Bold</vt:lpstr>
      <vt:lpstr>MS Gothic</vt:lpstr>
      <vt:lpstr>ＭＳ Ｐゴシック</vt:lpstr>
      <vt:lpstr>NanumGothic</vt:lpstr>
      <vt:lpstr>Paperlogy 3 Light</vt:lpstr>
      <vt:lpstr>Paperlogy 4 Regular</vt:lpstr>
      <vt:lpstr>Paperlogy 5 Medium</vt:lpstr>
      <vt:lpstr>Paperlogy 6 SemiBold</vt:lpstr>
      <vt:lpstr>Paperlogy 7 Bold</vt:lpstr>
      <vt:lpstr>Paperlogy 8 ExtraBold</vt:lpstr>
      <vt:lpstr>Roboto Black</vt:lpstr>
      <vt:lpstr>굴림</vt:lpstr>
      <vt:lpstr>나눔고딕 ExtraBold</vt:lpstr>
      <vt:lpstr>나눔명조 ExtraBold</vt:lpstr>
      <vt:lpstr>Malgun Gothic</vt:lpstr>
      <vt:lpstr>Malgun Gothic</vt:lpstr>
      <vt:lpstr>옥션고딕 B</vt:lpstr>
      <vt:lpstr>옥션고딕 L</vt:lpstr>
      <vt:lpstr>페이퍼로지 3 Light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4 Regular</vt:lpstr>
      <vt:lpstr>프리젠테이션 5 Medium</vt:lpstr>
      <vt:lpstr>프리젠테이션 6 SemiBold</vt:lpstr>
      <vt:lpstr>프리젠테이션 7 Bold</vt:lpstr>
      <vt:lpstr>Arial</vt:lpstr>
      <vt:lpstr>Calibri</vt:lpstr>
      <vt:lpstr>Wingdings</vt:lpstr>
      <vt:lpstr>Office 테마</vt:lpstr>
      <vt:lpstr>1_Office 테마</vt:lpstr>
      <vt:lpstr>5_디자인 사용자 지정</vt:lpstr>
      <vt:lpstr>디자인 사용자 지정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K</cp:lastModifiedBy>
  <cp:revision>1441</cp:revision>
  <dcterms:created xsi:type="dcterms:W3CDTF">2012-10-07T06:06:37Z</dcterms:created>
  <dcterms:modified xsi:type="dcterms:W3CDTF">2026-04-28T04:30:02Z</dcterms:modified>
</cp:coreProperties>
</file>