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notesMasterIdLst>
    <p:notesMasterId r:id="rId34"/>
  </p:notesMasterIdLst>
  <p:sldIdLst>
    <p:sldId id="257" r:id="rId5"/>
    <p:sldId id="605" r:id="rId6"/>
    <p:sldId id="627" r:id="rId7"/>
    <p:sldId id="606" r:id="rId8"/>
    <p:sldId id="622" r:id="rId9"/>
    <p:sldId id="3101" r:id="rId10"/>
    <p:sldId id="3102" r:id="rId11"/>
    <p:sldId id="628" r:id="rId12"/>
    <p:sldId id="602" r:id="rId13"/>
    <p:sldId id="583" r:id="rId14"/>
    <p:sldId id="612" r:id="rId15"/>
    <p:sldId id="584" r:id="rId16"/>
    <p:sldId id="585" r:id="rId17"/>
    <p:sldId id="3098" r:id="rId18"/>
    <p:sldId id="3099" r:id="rId19"/>
    <p:sldId id="613" r:id="rId20"/>
    <p:sldId id="595" r:id="rId21"/>
    <p:sldId id="597" r:id="rId22"/>
    <p:sldId id="588" r:id="rId23"/>
    <p:sldId id="591" r:id="rId24"/>
    <p:sldId id="589" r:id="rId25"/>
    <p:sldId id="593" r:id="rId26"/>
    <p:sldId id="592" r:id="rId27"/>
    <p:sldId id="614" r:id="rId28"/>
    <p:sldId id="618" r:id="rId29"/>
    <p:sldId id="619" r:id="rId30"/>
    <p:sldId id="3100" r:id="rId31"/>
    <p:sldId id="626" r:id="rId32"/>
    <p:sldId id="616" r:id="rId33"/>
  </p:sldIdLst>
  <p:sldSz cx="9144000" cy="6858000" type="screen4x3"/>
  <p:notesSz cx="6669088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FF"/>
    <a:srgbClr val="F2F2F2"/>
    <a:srgbClr val="FFFF99"/>
    <a:srgbClr val="FFFF00"/>
    <a:srgbClr val="D60093"/>
    <a:srgbClr val="0066FF"/>
    <a:srgbClr val="05D1BE"/>
    <a:srgbClr val="0AC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19" autoAdjust="0"/>
    <p:restoredTop sz="93151" autoAdjust="0"/>
  </p:normalViewPr>
  <p:slideViewPr>
    <p:cSldViewPr>
      <p:cViewPr varScale="1">
        <p:scale>
          <a:sx n="138" d="100"/>
          <a:sy n="138" d="100"/>
        </p:scale>
        <p:origin x="18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412" y="7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C5E2F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697-4288-A6A1-CC5BA4B4D06F}"/>
              </c:ext>
            </c:extLst>
          </c:dPt>
          <c:dPt>
            <c:idx val="4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697-4288-A6A1-CC5BA4B4D06F}"/>
              </c:ext>
            </c:extLst>
          </c:dPt>
          <c:cat>
            <c:strRef>
              <c:f>Sheet1!$A$2:$A$6</c:f>
              <c:strCache>
                <c:ptCount val="5"/>
                <c:pt idx="0">
                  <c:v>24'</c:v>
                </c:pt>
                <c:pt idx="1">
                  <c:v>26'</c:v>
                </c:pt>
                <c:pt idx="2">
                  <c:v>28'</c:v>
                </c:pt>
                <c:pt idx="3">
                  <c:v>30'</c:v>
                </c:pt>
                <c:pt idx="4">
                  <c:v>32'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2636</c:v>
                </c:pt>
                <c:pt idx="1">
                  <c:v>2980</c:v>
                </c:pt>
                <c:pt idx="2">
                  <c:v>3381</c:v>
                </c:pt>
                <c:pt idx="3">
                  <c:v>3854</c:v>
                </c:pt>
                <c:pt idx="4">
                  <c:v>4413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97-4288-A6A1-CC5BA4B4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818783152"/>
        <c:axId val="818783808"/>
      </c:barChart>
      <c:catAx>
        <c:axId val="818783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8783808"/>
        <c:crosses val="autoZero"/>
        <c:auto val="1"/>
        <c:lblAlgn val="ctr"/>
        <c:lblOffset val="100"/>
        <c:noMultiLvlLbl val="0"/>
      </c:catAx>
      <c:valAx>
        <c:axId val="81878380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1878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9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r">
              <a:defRPr sz="1100"/>
            </a:lvl1pPr>
          </a:lstStyle>
          <a:p>
            <a:fld id="{8E4BF0FD-BB12-4622-97E2-976EBF9E08A1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1" tIns="45360" rIns="90721" bIns="4536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908"/>
            <a:ext cx="5335270" cy="4467701"/>
          </a:xfrm>
          <a:prstGeom prst="rect">
            <a:avLst/>
          </a:prstGeom>
        </p:spPr>
        <p:txBody>
          <a:bodyPr vert="horz" lIns="90721" tIns="45360" rIns="90721" bIns="4536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9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r">
              <a:defRPr sz="1100"/>
            </a:lvl1pPr>
          </a:lstStyle>
          <a:p>
            <a:fld id="{84B391F6-C4AA-44F2-A496-BA2047C241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9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286A2-3C37-4575-820C-79F49E177F0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pic>
        <p:nvPicPr>
          <p:cNvPr id="16" name="Picture 3" descr="kbsibt-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" y="160325"/>
            <a:ext cx="8858250" cy="730250"/>
          </a:xfrm>
          <a:prstGeom prst="rect">
            <a:avLst/>
          </a:prstGeom>
        </p:spPr>
      </p:pic>
      <p:pic>
        <p:nvPicPr>
          <p:cNvPr id="8" name="Picture 2" descr="D:\Bakcup_100316\바탕 화면\[엔팩]\[홍보]\엔팩 CI\Logo-png\국문-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6465904"/>
            <a:ext cx="2376389" cy="347472"/>
          </a:xfrm>
          <a:prstGeom prst="rect">
            <a:avLst/>
          </a:prstGeom>
          <a:noFill/>
        </p:spPr>
      </p:pic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2281833" y="6453336"/>
            <a:ext cx="561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46430-F91F-4F01-9FEC-29DFA57BA1B0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/>
          <p:nvPr userDrawn="1"/>
        </p:nvSpPr>
        <p:spPr>
          <a:xfrm>
            <a:off x="214282" y="928670"/>
            <a:ext cx="8715436" cy="542928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11" name="자유형 10"/>
          <p:cNvSpPr/>
          <p:nvPr userDrawn="1"/>
        </p:nvSpPr>
        <p:spPr>
          <a:xfrm>
            <a:off x="214282" y="214290"/>
            <a:ext cx="8715436" cy="614366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5914" t="11510" r="57826" b="3032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4644898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 userDrawn="1"/>
        </p:nvSpPr>
        <p:spPr>
          <a:xfrm>
            <a:off x="0" y="2276872"/>
            <a:ext cx="9144000" cy="237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 descr="D:\[엔팩]\엔팩's\PT작업\소스's\ppt 템플릿\BG\lin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71424" y="2852936"/>
            <a:ext cx="10177268" cy="1285875"/>
          </a:xfrm>
          <a:prstGeom prst="rect">
            <a:avLst/>
          </a:prstGeom>
          <a:noFill/>
        </p:spPr>
      </p:pic>
      <p:pic>
        <p:nvPicPr>
          <p:cNvPr id="10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2284013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439" y="114571"/>
            <a:ext cx="6829444" cy="582594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0062A5C-BB22-4DBE-ADD1-3FE35BB72D8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7" descr="슬로건_w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13" y="6402388"/>
            <a:ext cx="2028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master2.jpg"/>
          <p:cNvPicPr>
            <a:picLocks noChangeAspect="1"/>
          </p:cNvPicPr>
          <p:nvPr userDrawn="1"/>
        </p:nvPicPr>
        <p:blipFill>
          <a:blip r:embed="rId2" cstate="print"/>
          <a:srcRect l="290" r="290" b="206"/>
          <a:stretch>
            <a:fillRect/>
          </a:stretch>
        </p:blipFill>
        <p:spPr>
          <a:xfrm>
            <a:off x="-82378" y="-65314"/>
            <a:ext cx="9308756" cy="6985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23968"/>
            <a:ext cx="9144000" cy="4571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892380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70095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19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3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11059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27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31468" t="11510" r="59113" b="8719"/>
          <a:stretch>
            <a:fillRect/>
          </a:stretch>
        </p:blipFill>
        <p:spPr bwMode="auto">
          <a:xfrm>
            <a:off x="6768752" y="0"/>
            <a:ext cx="23752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53"/>
          <p:cNvPicPr>
            <a:picLocks noChangeAspect="1" noChangeArrowheads="1"/>
          </p:cNvPicPr>
          <p:nvPr userDrawn="1"/>
        </p:nvPicPr>
        <p:blipFill>
          <a:blip r:embed="rId3" cstate="print"/>
          <a:srcRect t="85251"/>
          <a:stretch>
            <a:fillRect/>
          </a:stretch>
        </p:blipFill>
        <p:spPr bwMode="auto">
          <a:xfrm rot="16200000">
            <a:off x="3449326" y="3319426"/>
            <a:ext cx="685800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DAD2B6-3D88-40AC-8B27-77E60855EFE7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8E8F-1708-42D0-A125-A57D68DBF0A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7BE01-1F18-46F5-A3F2-688B23DB018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2A5F5-E794-4469-B1A3-7A8B28E5C9E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D3E8C6-D90E-4D5C-A2C4-BA8DB504401A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D9B-6A6B-42DB-AD54-5DD13871716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22BF61-DDF5-494C-A9DD-258F5C5E0A6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5FB91-7D21-4836-BAA7-F10CF9D8D48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936C5D-C212-4102-9A22-6F6C052CF063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D8C82-BBED-4D53-A8C1-6251F13FA5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7A4260-E6D5-4FE6-AEBD-ADBDEBD818B3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77C5-5C02-4D19-BAC0-0560D3BDBF4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722DF8-7D69-428B-80C3-C740C8579AE1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D18E8-FCD4-4E7D-90CB-085F12F0C4B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FF062-1190-4E49-B938-C66660DA73CA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B0AFD-7650-4FAE-B6C3-3FBF48F3CC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6F49D3-15A1-4FB4-8525-1F28665E4072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6DAA6-B5CB-4531-9C6F-47AC75BAA28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4A7ED-3625-4702-9B4B-53647888315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0E86-6564-4C2B-BC55-46DCB6B810F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3A85-C916-4682-9CD8-7C4D8AEEDFCB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AA932-F2EE-4E9E-8D7D-9B436D46EB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7" r:id="rId12"/>
    <p:sldLayoutId id="2147483664" r:id="rId13"/>
    <p:sldLayoutId id="2147483663" r:id="rId14"/>
    <p:sldLayoutId id="2147483661" r:id="rId15"/>
    <p:sldLayoutId id="2147483665" r:id="rId16"/>
    <p:sldLayoutId id="2147483666" r:id="rId17"/>
    <p:sldLayoutId id="2147483668" r:id="rId18"/>
    <p:sldLayoutId id="2147483669" r:id="rId19"/>
    <p:sldLayoutId id="2147483671" r:id="rId20"/>
    <p:sldLayoutId id="2147483672" r:id="rId21"/>
    <p:sldLayoutId id="2147483670" r:id="rId2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A63DA9F-87E7-4323-8A95-A7876770F730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8C3D03A-C725-45C6-85FF-40FA60568616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-323882" y="-23813"/>
            <a:ext cx="9772682" cy="10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3"/>
          <p:cNvPicPr>
            <a:picLocks noChangeAspect="1" noChangeArrowheads="1"/>
          </p:cNvPicPr>
          <p:nvPr userDrawn="1"/>
        </p:nvPicPr>
        <p:blipFill>
          <a:blip r:embed="rId13" cstate="print"/>
          <a:srcRect b="19872"/>
          <a:stretch>
            <a:fillRect/>
          </a:stretch>
        </p:blipFill>
        <p:spPr bwMode="auto">
          <a:xfrm>
            <a:off x="0" y="-17145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568" descr="빛"/>
          <p:cNvPicPr>
            <a:picLocks noChangeAspect="1" noChangeArrowheads="1"/>
          </p:cNvPicPr>
          <p:nvPr userDrawn="1"/>
        </p:nvPicPr>
        <p:blipFill>
          <a:blip r:embed="rId14" cstate="print"/>
          <a:srcRect l="58646" b="44444"/>
          <a:stretch>
            <a:fillRect/>
          </a:stretch>
        </p:blipFill>
        <p:spPr bwMode="auto">
          <a:xfrm>
            <a:off x="6732588" y="-4763"/>
            <a:ext cx="2160587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479800" y="6132537"/>
            <a:ext cx="2143125" cy="52705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 </a:t>
            </a:r>
            <a:fld id="{8C9C2726-73D7-412F-BA19-1091F1663751}" type="slidenum">
              <a:rPr kumimoji="0" lang="ko-KR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 </a:t>
            </a: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</a:t>
            </a:r>
            <a:endParaRPr kumimoji="0"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옥션고딕 L" pitchFamily="2" charset="-127"/>
              <a:ea typeface="옥션고딕 L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간지"/>
          <p:cNvPicPr>
            <a:picLocks noChangeAspect="1" noChangeArrowheads="1"/>
          </p:cNvPicPr>
          <p:nvPr userDrawn="1"/>
        </p:nvPicPr>
        <p:blipFill>
          <a:blip r:embed="rId13" cstate="print"/>
          <a:srcRect l="25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jpeg"/><Relationship Id="rId4" Type="http://schemas.openxmlformats.org/officeDocument/2006/relationships/hyperlink" Target="http://www.google.co.kr/url?sa=i&amp;rct=j&amp;q=&amp;esrc=s&amp;source=images&amp;cd=&amp;cad=rja&amp;uact=8&amp;docid=0xSEhOGudwzAMM&amp;tbnid=n6jFfD52KPFNUM:&amp;ved=0CAUQjRw&amp;url=http://rotc2416.tistory.com/393&amp;ei=0NaCU_z5BYXy8QWqxoKwBg&amp;bvm=bv.67720277,d.dGc&amp;psig=AFQjCNFTy0XCzMCGBZa5JVK02sF7CIkKqg&amp;ust=140116998495909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chart" Target="../charts/chart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12" Type="http://schemas.openxmlformats.org/officeDocument/2006/relationships/image" Target="../media/image43.png"/><Relationship Id="rId2" Type="http://schemas.openxmlformats.org/officeDocument/2006/relationships/image" Target="../media/image37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2.wdp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4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1.png"/><Relationship Id="rId1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051720" y="1048976"/>
            <a:ext cx="691276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0" b="1" dirty="0" err="1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다중분말금속</a:t>
            </a: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DED</a:t>
            </a: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프린터</a:t>
            </a:r>
            <a:b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</a:br>
            <a:r>
              <a:rPr lang="en-US" altLang="ko-KR" sz="2800" b="1" dirty="0" err="1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Multimaterial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 Metal Powder DED Printer</a:t>
            </a:r>
          </a:p>
        </p:txBody>
      </p:sp>
      <p:pic>
        <p:nvPicPr>
          <p:cNvPr id="8" name="Picture 3" descr="C:\Documents and Settings\Aone\바탕 화면\표지_01_0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l="1033" t="4073" r="54607" b="65784"/>
          <a:stretch>
            <a:fillRect/>
          </a:stretch>
        </p:blipFill>
        <p:spPr bwMode="auto">
          <a:xfrm>
            <a:off x="0" y="5877272"/>
            <a:ext cx="1020487" cy="980728"/>
          </a:xfrm>
          <a:prstGeom prst="rect">
            <a:avLst/>
          </a:prstGeom>
          <a:noFill/>
        </p:spPr>
      </p:pic>
      <p:pic>
        <p:nvPicPr>
          <p:cNvPr id="86020" name="Picture 4" descr="http://cfile26.uf.tistory.com/image/1128F9384DA9C22827CAF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63282" y="5949280"/>
            <a:ext cx="1080718" cy="908720"/>
          </a:xfrm>
          <a:prstGeom prst="rect">
            <a:avLst/>
          </a:prstGeom>
          <a:noFill/>
        </p:spPr>
      </p:pic>
      <p:sp>
        <p:nvSpPr>
          <p:cNvPr id="374" name="TextBox 373"/>
          <p:cNvSpPr txBox="1"/>
          <p:nvPr/>
        </p:nvSpPr>
        <p:spPr>
          <a:xfrm>
            <a:off x="179512" y="18864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’26</a:t>
            </a:r>
            <a:r>
              <a:rPr lang="ko-KR" altLang="en-US" sz="2000" b="1" dirty="0">
                <a:solidFill>
                  <a:schemeClr val="bg1"/>
                </a:solidFill>
              </a:rPr>
              <a:t>년도 국가연구시설</a:t>
            </a:r>
            <a:r>
              <a:rPr lang="en-US" altLang="ko-KR" sz="2000" b="1" dirty="0">
                <a:solidFill>
                  <a:schemeClr val="bg1"/>
                </a:solidFill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</a:rPr>
              <a:t>장비심의위원회 본심의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80016" y="3807272"/>
            <a:ext cx="61763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장비심의번호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(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임시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)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심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26-000</a:t>
            </a: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발표일자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2026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년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8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월  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신청기관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한국재료연구원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90228" y="1412776"/>
            <a:ext cx="18751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장비명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</a:t>
            </a:r>
            <a:endParaRPr lang="ko-KR" altLang="en-US" sz="36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60" name="Rounded Rectangle 18"/>
          <p:cNvSpPr/>
          <p:nvPr/>
        </p:nvSpPr>
        <p:spPr bwMode="gray">
          <a:xfrm>
            <a:off x="2274327" y="4372078"/>
            <a:ext cx="6329210" cy="78212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조성 및 공정 자동 설계가 가능한 금속소재 특화 초거대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서비스를 개발하여 누구나 활용 가능한 소재 혁신 기술 개발</a:t>
            </a:r>
            <a:endParaRPr 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Round Diagonal Corner Rectangle 17"/>
          <p:cNvSpPr/>
          <p:nvPr/>
        </p:nvSpPr>
        <p:spPr bwMode="gray">
          <a:xfrm>
            <a:off x="556316" y="4358135"/>
            <a:ext cx="2101775" cy="834263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최종 목표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2" name="Rounded Rectangle 18"/>
          <p:cNvSpPr/>
          <p:nvPr/>
        </p:nvSpPr>
        <p:spPr bwMode="gray">
          <a:xfrm>
            <a:off x="2266136" y="5332361"/>
            <a:ext cx="6329210" cy="1044166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자동화 실험실 기반 금속 소재 멀티모달 빅데이터 구축(5년 누적 25,000건), 자동화 실험실 공정 제어·최적화 기술 개발, 금속소재 파운데이션 모델·AI 시뮬레이터 학습 및 AI 서비스 플랫폼 연계</a:t>
            </a:r>
          </a:p>
        </p:txBody>
      </p:sp>
      <p:sp>
        <p:nvSpPr>
          <p:cNvPr id="63" name="Round Diagonal Corner Rectangle 17"/>
          <p:cNvSpPr/>
          <p:nvPr/>
        </p:nvSpPr>
        <p:spPr bwMode="gray">
          <a:xfrm>
            <a:off x="556316" y="5302356"/>
            <a:ext cx="2101775" cy="107897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내용</a:t>
            </a:r>
            <a:endParaRPr lang="en-US" altLang="ko-KR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4" name="Rounded Rectangle 18"/>
          <p:cNvSpPr/>
          <p:nvPr/>
        </p:nvSpPr>
        <p:spPr bwMode="gray">
          <a:xfrm>
            <a:off x="2256611" y="1333799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한국재료연구원연구운영비지원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(R&amp;D)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ound Diagonal Corner Rectangle 17"/>
          <p:cNvSpPr/>
          <p:nvPr/>
        </p:nvSpPr>
        <p:spPr bwMode="gray">
          <a:xfrm>
            <a:off x="546369" y="1316865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 업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6" name="Rounded Rectangle 18"/>
          <p:cNvSpPr/>
          <p:nvPr/>
        </p:nvSpPr>
        <p:spPr bwMode="gray">
          <a:xfrm>
            <a:off x="2256611" y="1970793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금속 소재 멀티모달 빅데이터 구축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Round Diagonal Corner Rectangle 17"/>
          <p:cNvSpPr/>
          <p:nvPr/>
        </p:nvSpPr>
        <p:spPr bwMode="gray">
          <a:xfrm>
            <a:off x="546369" y="1953859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 제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8" name="Rounded Rectangle 18"/>
          <p:cNvSpPr/>
          <p:nvPr/>
        </p:nvSpPr>
        <p:spPr bwMode="gray">
          <a:xfrm>
            <a:off x="2247086" y="2607786"/>
            <a:ext cx="6327402" cy="88698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 관 : 한국재료연구원 (단독 수행)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125000"/>
              </a:lnSpc>
              <a:defRPr/>
            </a:pPr>
            <a:r>
              <a:rPr lang="ko-KR" altLang="en-US" sz="1100" b="0" dirty="0">
                <a:solidFill>
                  <a:schemeClr val="tx1"/>
                </a:solidFill>
                <a:latin typeface="+mn-ea"/>
              </a:rPr>
              <a:t>※ 전략연구사업 「금속소재 조성·공정 자동설계 초거대 AI 서비스 개발」 內 세부과제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Round Diagonal Corner Rectangle 17"/>
          <p:cNvSpPr/>
          <p:nvPr/>
        </p:nvSpPr>
        <p:spPr bwMode="gray">
          <a:xfrm>
            <a:off x="539552" y="2590853"/>
            <a:ext cx="2101775" cy="93133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수행 기관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0" name="Rounded Rectangle 18"/>
          <p:cNvSpPr/>
          <p:nvPr/>
        </p:nvSpPr>
        <p:spPr bwMode="gray">
          <a:xfrm>
            <a:off x="2256611" y="3585874"/>
            <a:ext cx="6327402" cy="681157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기간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2026. 1. 1 ~ 2030. 12. 31(60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개월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총 사업비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116.5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억원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정부출연금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116.5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민간부담금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0)</a:t>
            </a:r>
          </a:p>
        </p:txBody>
      </p:sp>
      <p:sp>
        <p:nvSpPr>
          <p:cNvPr id="71" name="Round Diagonal Corner Rectangle 17"/>
          <p:cNvSpPr/>
          <p:nvPr/>
        </p:nvSpPr>
        <p:spPr bwMode="gray">
          <a:xfrm>
            <a:off x="546369" y="3568940"/>
            <a:ext cx="2101775" cy="72656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과제 개요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4" name="직사각형 51">
            <a:extLst>
              <a:ext uri="{FF2B5EF4-FFF2-40B4-BE49-F238E27FC236}">
                <a16:creationId xmlns:a16="http://schemas.microsoft.com/office/drawing/2014/main" id="{953B0705-EB59-4032-BA42-14F77E3E9EE8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196">
            <a:extLst>
              <a:ext uri="{FF2B5EF4-FFF2-40B4-BE49-F238E27FC236}">
                <a16:creationId xmlns:a16="http://schemas.microsoft.com/office/drawing/2014/main" id="{CB3508B5-0F36-3EAB-66F4-32E602B12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3" t="25082" r="20109"/>
          <a:stretch/>
        </p:blipFill>
        <p:spPr>
          <a:xfrm>
            <a:off x="6552907" y="3546340"/>
            <a:ext cx="1240171" cy="82916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96ED8C-6C63-73A9-9863-9534FEF05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907" y="1995692"/>
            <a:ext cx="1237566" cy="830282"/>
          </a:xfrm>
          <a:prstGeom prst="rect">
            <a:avLst/>
          </a:prstGeom>
        </p:spPr>
      </p:pic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E4F4DB04-2338-01F4-7F6E-DE7E2B3FB391}"/>
              </a:ext>
            </a:extLst>
          </p:cNvPr>
          <p:cNvSpPr/>
          <p:nvPr/>
        </p:nvSpPr>
        <p:spPr>
          <a:xfrm>
            <a:off x="1864942" y="4886653"/>
            <a:ext cx="4089333" cy="1325345"/>
          </a:xfrm>
          <a:prstGeom prst="roundRect">
            <a:avLst>
              <a:gd name="adj" fmla="val 4303"/>
            </a:avLst>
          </a:prstGeom>
          <a:solidFill>
            <a:srgbClr val="32323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70" name="그림 4" descr="텍스트, 컴퓨터, 멀티미디어, 전자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DB02797-6A5F-0CBE-2FDC-E06EFFF5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7" t="10428" r="8001" b="20387"/>
          <a:stretch>
            <a:fillRect/>
          </a:stretch>
        </p:blipFill>
        <p:spPr>
          <a:xfrm>
            <a:off x="1864942" y="1607838"/>
            <a:ext cx="4089333" cy="3932147"/>
          </a:xfrm>
          <a:prstGeom prst="rect">
            <a:avLst/>
          </a:prstGeom>
        </p:spPr>
      </p:pic>
      <p:sp>
        <p:nvSpPr>
          <p:cNvPr id="71" name="직사각형 5">
            <a:extLst>
              <a:ext uri="{FF2B5EF4-FFF2-40B4-BE49-F238E27FC236}">
                <a16:creationId xmlns:a16="http://schemas.microsoft.com/office/drawing/2014/main" id="{242BCFAF-6DB1-A3D9-B187-6253FF9CB8AC}"/>
              </a:ext>
            </a:extLst>
          </p:cNvPr>
          <p:cNvSpPr/>
          <p:nvPr/>
        </p:nvSpPr>
        <p:spPr>
          <a:xfrm>
            <a:off x="2435826" y="1672233"/>
            <a:ext cx="465538" cy="142711"/>
          </a:xfrm>
          <a:prstGeom prst="rect">
            <a:avLst/>
          </a:prstGeom>
          <a:solidFill>
            <a:srgbClr val="444444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51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rPr>
              <a:t>MaterAI</a:t>
            </a:r>
            <a:endParaRPr kumimoji="1" lang="ko-KR" altLang="en-US" sz="55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72" name="Speech Bubble: Rectangle 92">
            <a:extLst>
              <a:ext uri="{FF2B5EF4-FFF2-40B4-BE49-F238E27FC236}">
                <a16:creationId xmlns:a16="http://schemas.microsoft.com/office/drawing/2014/main" id="{AE1E544E-6855-B957-C6CC-AB7B7DD8541C}"/>
              </a:ext>
            </a:extLst>
          </p:cNvPr>
          <p:cNvSpPr/>
          <p:nvPr/>
        </p:nvSpPr>
        <p:spPr>
          <a:xfrm>
            <a:off x="7807915" y="2010123"/>
            <a:ext cx="1250097" cy="534831"/>
          </a:xfrm>
          <a:prstGeom prst="wedgeRectCallout">
            <a:avLst>
              <a:gd name="adj1" fmla="val -73923"/>
              <a:gd name="adj2" fmla="val 19002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소재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후보군 도출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8F7AFF-B04B-E900-0AE3-D7B0BAEFB2F8}"/>
              </a:ext>
            </a:extLst>
          </p:cNvPr>
          <p:cNvSpPr txBox="1"/>
          <p:nvPr/>
        </p:nvSpPr>
        <p:spPr>
          <a:xfrm>
            <a:off x="6403605" y="1600529"/>
            <a:ext cx="215907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 거대 </a:t>
            </a: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파운데이션 모델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74" name="Speech Bubble: Rectangle 92">
            <a:extLst>
              <a:ext uri="{FF2B5EF4-FFF2-40B4-BE49-F238E27FC236}">
                <a16:creationId xmlns:a16="http://schemas.microsoft.com/office/drawing/2014/main" id="{C7864107-0BE4-4E8B-8526-819199B9393F}"/>
              </a:ext>
            </a:extLst>
          </p:cNvPr>
          <p:cNvSpPr/>
          <p:nvPr/>
        </p:nvSpPr>
        <p:spPr>
          <a:xfrm>
            <a:off x="7824855" y="3586273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현장 데이터 기반 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조성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 최적화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1154A-30CC-BDA7-0E68-50A8FEED0973}"/>
              </a:ext>
            </a:extLst>
          </p:cNvPr>
          <p:cNvSpPr txBox="1"/>
          <p:nvPr/>
        </p:nvSpPr>
        <p:spPr>
          <a:xfrm>
            <a:off x="6403803" y="3158077"/>
            <a:ext cx="1940692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파인튜닝 기반 공정 최적화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76" name="그림 17" descr="만화 영화, 생일 케이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4B3318-C5AF-DE61-9073-CA6D94A7D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7" t="16864" r="71692" b="62989"/>
          <a:stretch/>
        </p:blipFill>
        <p:spPr>
          <a:xfrm>
            <a:off x="606499" y="1548197"/>
            <a:ext cx="983379" cy="176675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87FEC1A-3EEF-80E2-676D-13E141E0CD0C}"/>
              </a:ext>
            </a:extLst>
          </p:cNvPr>
          <p:cNvSpPr txBox="1"/>
          <p:nvPr/>
        </p:nvSpPr>
        <p:spPr>
          <a:xfrm>
            <a:off x="6403803" y="4722444"/>
            <a:ext cx="170422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기반 실험 결과 분석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80" name="Arrow: Chevron 183">
            <a:extLst>
              <a:ext uri="{FF2B5EF4-FFF2-40B4-BE49-F238E27FC236}">
                <a16:creationId xmlns:a16="http://schemas.microsoft.com/office/drawing/2014/main" id="{51267B43-60B5-2ADA-D6D5-9C66B630B86B}"/>
              </a:ext>
            </a:extLst>
          </p:cNvPr>
          <p:cNvSpPr/>
          <p:nvPr/>
        </p:nvSpPr>
        <p:spPr>
          <a:xfrm rot="5400000">
            <a:off x="8269596" y="261172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Arrow: Chevron 183">
            <a:extLst>
              <a:ext uri="{FF2B5EF4-FFF2-40B4-BE49-F238E27FC236}">
                <a16:creationId xmlns:a16="http://schemas.microsoft.com/office/drawing/2014/main" id="{18CB87A4-F8DA-FB26-77A8-53C9627AA986}"/>
              </a:ext>
            </a:extLst>
          </p:cNvPr>
          <p:cNvSpPr/>
          <p:nvPr/>
        </p:nvSpPr>
        <p:spPr>
          <a:xfrm rot="5400000">
            <a:off x="8269596" y="4191171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2" name="그림 28">
            <a:extLst>
              <a:ext uri="{FF2B5EF4-FFF2-40B4-BE49-F238E27FC236}">
                <a16:creationId xmlns:a16="http://schemas.microsoft.com/office/drawing/2014/main" id="{587B9E94-4721-4D6F-8127-BD0391F64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85" y="4891371"/>
            <a:ext cx="1162590" cy="1147489"/>
          </a:xfrm>
          <a:prstGeom prst="rect">
            <a:avLst/>
          </a:prstGeom>
        </p:spPr>
      </p:pic>
      <p:sp>
        <p:nvSpPr>
          <p:cNvPr id="83" name="Arrow: Chevron 183">
            <a:extLst>
              <a:ext uri="{FF2B5EF4-FFF2-40B4-BE49-F238E27FC236}">
                <a16:creationId xmlns:a16="http://schemas.microsoft.com/office/drawing/2014/main" id="{07ED363E-3177-7893-71C3-94FF3914F0DF}"/>
              </a:ext>
            </a:extLst>
          </p:cNvPr>
          <p:cNvSpPr/>
          <p:nvPr/>
        </p:nvSpPr>
        <p:spPr>
          <a:xfrm>
            <a:off x="1711267" y="199878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Arrow: Chevron 183">
            <a:extLst>
              <a:ext uri="{FF2B5EF4-FFF2-40B4-BE49-F238E27FC236}">
                <a16:creationId xmlns:a16="http://schemas.microsoft.com/office/drawing/2014/main" id="{1DCD50E5-721B-0891-5A55-5AA8DC5109C6}"/>
              </a:ext>
            </a:extLst>
          </p:cNvPr>
          <p:cNvSpPr/>
          <p:nvPr/>
        </p:nvSpPr>
        <p:spPr>
          <a:xfrm rot="10800000">
            <a:off x="1711268" y="5280259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모서리가 둥근 직사각형 12">
            <a:extLst>
              <a:ext uri="{FF2B5EF4-FFF2-40B4-BE49-F238E27FC236}">
                <a16:creationId xmlns:a16="http://schemas.microsoft.com/office/drawing/2014/main" id="{8ABA97CC-4C7B-2849-48E6-7D6B8969D2D4}"/>
              </a:ext>
            </a:extLst>
          </p:cNvPr>
          <p:cNvSpPr/>
          <p:nvPr/>
        </p:nvSpPr>
        <p:spPr>
          <a:xfrm>
            <a:off x="478954" y="1125750"/>
            <a:ext cx="1238471" cy="346283"/>
          </a:xfrm>
          <a:prstGeom prst="roundRect">
            <a:avLst>
              <a:gd name="adj" fmla="val 31290"/>
            </a:avLst>
          </a:prstGeom>
          <a:solidFill>
            <a:srgbClr val="177DF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연구자</a:t>
            </a:r>
          </a:p>
        </p:txBody>
      </p:sp>
      <p:sp>
        <p:nvSpPr>
          <p:cNvPr id="87" name="모서리가 둥근 직사각형 12">
            <a:extLst>
              <a:ext uri="{FF2B5EF4-FFF2-40B4-BE49-F238E27FC236}">
                <a16:creationId xmlns:a16="http://schemas.microsoft.com/office/drawing/2014/main" id="{C276A3F3-87A3-38C1-6CC8-67EE7A7AAC0C}"/>
              </a:ext>
            </a:extLst>
          </p:cNvPr>
          <p:cNvSpPr/>
          <p:nvPr/>
        </p:nvSpPr>
        <p:spPr>
          <a:xfrm>
            <a:off x="2146123" y="1125750"/>
            <a:ext cx="3505997" cy="346283"/>
          </a:xfrm>
          <a:prstGeom prst="roundRect">
            <a:avLst>
              <a:gd name="adj" fmla="val 31290"/>
            </a:avLst>
          </a:prstGeom>
          <a:solidFill>
            <a:srgbClr val="6B3CE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 설계 서비스 </a:t>
            </a:r>
          </a:p>
        </p:txBody>
      </p:sp>
      <p:sp>
        <p:nvSpPr>
          <p:cNvPr id="88" name="모서리가 둥근 직사각형 12">
            <a:extLst>
              <a:ext uri="{FF2B5EF4-FFF2-40B4-BE49-F238E27FC236}">
                <a16:creationId xmlns:a16="http://schemas.microsoft.com/office/drawing/2014/main" id="{C5839D6B-85C4-9CCB-F775-7B37D5B38A93}"/>
              </a:ext>
            </a:extLst>
          </p:cNvPr>
          <p:cNvSpPr/>
          <p:nvPr/>
        </p:nvSpPr>
        <p:spPr>
          <a:xfrm>
            <a:off x="6457213" y="1124848"/>
            <a:ext cx="2176948" cy="346283"/>
          </a:xfrm>
          <a:prstGeom prst="roundRect">
            <a:avLst>
              <a:gd name="adj" fmla="val 31290"/>
            </a:avLst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소재 개발 과정</a:t>
            </a:r>
          </a:p>
        </p:txBody>
      </p:sp>
      <p:sp>
        <p:nvSpPr>
          <p:cNvPr id="89" name="사각형: 둥근 모서리 76">
            <a:extLst>
              <a:ext uri="{FF2B5EF4-FFF2-40B4-BE49-F238E27FC236}">
                <a16:creationId xmlns:a16="http://schemas.microsoft.com/office/drawing/2014/main" id="{AF05055E-73B2-44EF-99FC-6B4A4772D9E7}"/>
              </a:ext>
            </a:extLst>
          </p:cNvPr>
          <p:cNvSpPr/>
          <p:nvPr/>
        </p:nvSpPr>
        <p:spPr>
          <a:xfrm>
            <a:off x="399945" y="4135731"/>
            <a:ext cx="1238471" cy="677018"/>
          </a:xfrm>
          <a:prstGeom prst="roundRect">
            <a:avLst/>
          </a:prstGeom>
          <a:solidFill>
            <a:srgbClr val="E77D1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새로운</a:t>
            </a:r>
            <a:b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</a:b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</a:t>
            </a:r>
          </a:p>
        </p:txBody>
      </p:sp>
      <p:sp>
        <p:nvSpPr>
          <p:cNvPr id="90" name="모서리가 둥근 직사각형 39">
            <a:extLst>
              <a:ext uri="{FF2B5EF4-FFF2-40B4-BE49-F238E27FC236}">
                <a16:creationId xmlns:a16="http://schemas.microsoft.com/office/drawing/2014/main" id="{CFE897AA-63D1-09D8-FECF-404369064B2A}"/>
              </a:ext>
            </a:extLst>
          </p:cNvPr>
          <p:cNvSpPr/>
          <p:nvPr/>
        </p:nvSpPr>
        <p:spPr>
          <a:xfrm>
            <a:off x="2161806" y="3710252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3F4FEC-EC0F-B14C-E28D-80A097AC3045}"/>
              </a:ext>
            </a:extLst>
          </p:cNvPr>
          <p:cNvSpPr txBox="1"/>
          <p:nvPr/>
        </p:nvSpPr>
        <p:spPr>
          <a:xfrm>
            <a:off x="2115449" y="1973726"/>
            <a:ext cx="121123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1. 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〮공정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탐색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4CF947-57E0-7856-D2E0-11A2AB1B8DCF}"/>
              </a:ext>
            </a:extLst>
          </p:cNvPr>
          <p:cNvSpPr txBox="1"/>
          <p:nvPr/>
        </p:nvSpPr>
        <p:spPr>
          <a:xfrm>
            <a:off x="2115449" y="3431291"/>
            <a:ext cx="1303537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2.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조성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공정 최적화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29BF0C-3287-63A1-649C-C807466DE02F}"/>
              </a:ext>
            </a:extLst>
          </p:cNvPr>
          <p:cNvSpPr txBox="1"/>
          <p:nvPr/>
        </p:nvSpPr>
        <p:spPr>
          <a:xfrm>
            <a:off x="2115449" y="4787129"/>
            <a:ext cx="87095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3.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결과 분석</a:t>
            </a:r>
            <a:endParaRPr kumimoji="1" lang="ja-JP" altLang="en-US" sz="132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4" name="모서리가 둥근 직사각형 44">
            <a:extLst>
              <a:ext uri="{FF2B5EF4-FFF2-40B4-BE49-F238E27FC236}">
                <a16:creationId xmlns:a16="http://schemas.microsoft.com/office/drawing/2014/main" id="{09DA28B0-8FC8-A9E8-20B1-36468CFD395B}"/>
              </a:ext>
            </a:extLst>
          </p:cNvPr>
          <p:cNvSpPr/>
          <p:nvPr/>
        </p:nvSpPr>
        <p:spPr>
          <a:xfrm>
            <a:off x="2161805" y="2263086"/>
            <a:ext cx="3504297" cy="939242"/>
          </a:xfrm>
          <a:prstGeom prst="roundRect">
            <a:avLst>
              <a:gd name="adj" fmla="val 3975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DAEE560-E278-0DBD-9664-7DD78D4A4A0A}"/>
              </a:ext>
            </a:extLst>
          </p:cNvPr>
          <p:cNvGrpSpPr/>
          <p:nvPr/>
        </p:nvGrpSpPr>
        <p:grpSpPr>
          <a:xfrm>
            <a:off x="5333879" y="1720244"/>
            <a:ext cx="1059837" cy="3922338"/>
            <a:chOff x="4503375" y="1720244"/>
            <a:chExt cx="3548847" cy="3922338"/>
          </a:xfrm>
        </p:grpSpPr>
        <p:sp>
          <p:nvSpPr>
            <p:cNvPr id="78" name="자유형 22">
              <a:extLst>
                <a:ext uri="{FF2B5EF4-FFF2-40B4-BE49-F238E27FC236}">
                  <a16:creationId xmlns:a16="http://schemas.microsoft.com/office/drawing/2014/main" id="{FE2CA604-8A20-326A-6E5F-87F848C0B497}"/>
                </a:ext>
              </a:extLst>
            </p:cNvPr>
            <p:cNvSpPr/>
            <p:nvPr/>
          </p:nvSpPr>
          <p:spPr>
            <a:xfrm>
              <a:off x="4508311" y="1720244"/>
              <a:ext cx="3543911" cy="1036984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자유형 23">
              <a:extLst>
                <a:ext uri="{FF2B5EF4-FFF2-40B4-BE49-F238E27FC236}">
                  <a16:creationId xmlns:a16="http://schemas.microsoft.com/office/drawing/2014/main" id="{EBCE99B4-1BA1-377B-62D1-D06B8AF42732}"/>
                </a:ext>
              </a:extLst>
            </p:cNvPr>
            <p:cNvSpPr/>
            <p:nvPr/>
          </p:nvSpPr>
          <p:spPr>
            <a:xfrm>
              <a:off x="4508311" y="3326644"/>
              <a:ext cx="3543911" cy="882656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자유형 45">
              <a:extLst>
                <a:ext uri="{FF2B5EF4-FFF2-40B4-BE49-F238E27FC236}">
                  <a16:creationId xmlns:a16="http://schemas.microsoft.com/office/drawing/2014/main" id="{E03BE137-7B89-27AA-0535-E28A9A1E893F}"/>
                </a:ext>
              </a:extLst>
            </p:cNvPr>
            <p:cNvSpPr/>
            <p:nvPr/>
          </p:nvSpPr>
          <p:spPr>
            <a:xfrm>
              <a:off x="4503375" y="4915511"/>
              <a:ext cx="3543910" cy="727071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6" name="모서리가 둥근 직사각형 53">
            <a:extLst>
              <a:ext uri="{FF2B5EF4-FFF2-40B4-BE49-F238E27FC236}">
                <a16:creationId xmlns:a16="http://schemas.microsoft.com/office/drawing/2014/main" id="{27CD5FBD-578C-B077-61EE-0B96D39E5AC4}"/>
              </a:ext>
            </a:extLst>
          </p:cNvPr>
          <p:cNvSpPr/>
          <p:nvPr/>
        </p:nvSpPr>
        <p:spPr>
          <a:xfrm>
            <a:off x="2161806" y="5097501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97" name="그룹 59">
            <a:extLst>
              <a:ext uri="{FF2B5EF4-FFF2-40B4-BE49-F238E27FC236}">
                <a16:creationId xmlns:a16="http://schemas.microsoft.com/office/drawing/2014/main" id="{3E795455-2A29-0AF0-7351-DD1E3FFD108A}"/>
              </a:ext>
            </a:extLst>
          </p:cNvPr>
          <p:cNvGrpSpPr/>
          <p:nvPr/>
        </p:nvGrpSpPr>
        <p:grpSpPr>
          <a:xfrm>
            <a:off x="2267665" y="2569362"/>
            <a:ext cx="3058456" cy="326690"/>
            <a:chOff x="4696630" y="2500783"/>
            <a:chExt cx="2667104" cy="284888"/>
          </a:xfrm>
        </p:grpSpPr>
        <p:sp>
          <p:nvSpPr>
            <p:cNvPr id="98" name="모서리가 둥근 직사각형 85">
              <a:extLst>
                <a:ext uri="{FF2B5EF4-FFF2-40B4-BE49-F238E27FC236}">
                  <a16:creationId xmlns:a16="http://schemas.microsoft.com/office/drawing/2014/main" id="{BF073DD7-BDE0-D852-FD23-929BDBC80029}"/>
                </a:ext>
              </a:extLst>
            </p:cNvPr>
            <p:cNvSpPr/>
            <p:nvPr/>
          </p:nvSpPr>
          <p:spPr>
            <a:xfrm>
              <a:off x="4696630" y="2500783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탐색하려는 합금 원소를 입력하세요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99" name="양쪽 모서리가 둥근 사각형 86">
              <a:extLst>
                <a:ext uri="{FF2B5EF4-FFF2-40B4-BE49-F238E27FC236}">
                  <a16:creationId xmlns:a16="http://schemas.microsoft.com/office/drawing/2014/main" id="{993BE316-AAD8-AFF4-B8FA-7ABA9CA26EA5}"/>
                </a:ext>
              </a:extLst>
            </p:cNvPr>
            <p:cNvSpPr/>
            <p:nvPr/>
          </p:nvSpPr>
          <p:spPr>
            <a:xfrm rot="5400000">
              <a:off x="7053202" y="2475138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그룹 87">
              <a:extLst>
                <a:ext uri="{FF2B5EF4-FFF2-40B4-BE49-F238E27FC236}">
                  <a16:creationId xmlns:a16="http://schemas.microsoft.com/office/drawing/2014/main" id="{39EB194A-3C64-F45B-A9F0-4FF9BE9BC250}"/>
                </a:ext>
              </a:extLst>
            </p:cNvPr>
            <p:cNvGrpSpPr/>
            <p:nvPr/>
          </p:nvGrpSpPr>
          <p:grpSpPr>
            <a:xfrm>
              <a:off x="7118179" y="2562761"/>
              <a:ext cx="154444" cy="160930"/>
              <a:chOff x="7076355" y="2454622"/>
              <a:chExt cx="205565" cy="214197"/>
            </a:xfrm>
          </p:grpSpPr>
          <p:sp>
            <p:nvSpPr>
              <p:cNvPr id="101" name="타원 88">
                <a:extLst>
                  <a:ext uri="{FF2B5EF4-FFF2-40B4-BE49-F238E27FC236}">
                    <a16:creationId xmlns:a16="http://schemas.microsoft.com/office/drawing/2014/main" id="{7942A9F5-6B02-E6AC-DF72-ACDFCB7BB293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2" name="직선 연결선[R] 89">
                <a:extLst>
                  <a:ext uri="{FF2B5EF4-FFF2-40B4-BE49-F238E27FC236}">
                    <a16:creationId xmlns:a16="http://schemas.microsoft.com/office/drawing/2014/main" id="{7B003B41-D109-38E7-4360-C85547864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3" name="그룹 60">
            <a:extLst>
              <a:ext uri="{FF2B5EF4-FFF2-40B4-BE49-F238E27FC236}">
                <a16:creationId xmlns:a16="http://schemas.microsoft.com/office/drawing/2014/main" id="{7DF349C9-1664-1930-ABAC-D6E4B1F0C818}"/>
              </a:ext>
            </a:extLst>
          </p:cNvPr>
          <p:cNvGrpSpPr/>
          <p:nvPr/>
        </p:nvGrpSpPr>
        <p:grpSpPr>
          <a:xfrm>
            <a:off x="2267665" y="4019590"/>
            <a:ext cx="3058456" cy="326690"/>
            <a:chOff x="4696630" y="4032430"/>
            <a:chExt cx="2667104" cy="284888"/>
          </a:xfrm>
        </p:grpSpPr>
        <p:sp>
          <p:nvSpPr>
            <p:cNvPr id="104" name="모서리가 둥근 직사각형 75">
              <a:extLst>
                <a:ext uri="{FF2B5EF4-FFF2-40B4-BE49-F238E27FC236}">
                  <a16:creationId xmlns:a16="http://schemas.microsoft.com/office/drawing/2014/main" id="{210C2C32-8EF5-751E-FE7A-1B693C245FC4}"/>
                </a:ext>
              </a:extLst>
            </p:cNvPr>
            <p:cNvSpPr/>
            <p:nvPr/>
          </p:nvSpPr>
          <p:spPr>
            <a:xfrm>
              <a:off x="4696630" y="4032430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설정을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05" name="양쪽 모서리가 둥근 사각형 78">
              <a:extLst>
                <a:ext uri="{FF2B5EF4-FFF2-40B4-BE49-F238E27FC236}">
                  <a16:creationId xmlns:a16="http://schemas.microsoft.com/office/drawing/2014/main" id="{1775C9EB-0A1A-D6E2-4CCD-9ED00D283B46}"/>
                </a:ext>
              </a:extLst>
            </p:cNvPr>
            <p:cNvSpPr/>
            <p:nvPr/>
          </p:nvSpPr>
          <p:spPr>
            <a:xfrm rot="5400000">
              <a:off x="7053202" y="4006785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6" name="그룹 79">
              <a:extLst>
                <a:ext uri="{FF2B5EF4-FFF2-40B4-BE49-F238E27FC236}">
                  <a16:creationId xmlns:a16="http://schemas.microsoft.com/office/drawing/2014/main" id="{6A2B5685-D60A-D1A9-B67C-228499AEC065}"/>
                </a:ext>
              </a:extLst>
            </p:cNvPr>
            <p:cNvGrpSpPr/>
            <p:nvPr/>
          </p:nvGrpSpPr>
          <p:grpSpPr>
            <a:xfrm>
              <a:off x="7118179" y="4094408"/>
              <a:ext cx="154444" cy="160930"/>
              <a:chOff x="7076355" y="2454622"/>
              <a:chExt cx="205565" cy="214197"/>
            </a:xfrm>
          </p:grpSpPr>
          <p:sp>
            <p:nvSpPr>
              <p:cNvPr id="107" name="타원 83">
                <a:extLst>
                  <a:ext uri="{FF2B5EF4-FFF2-40B4-BE49-F238E27FC236}">
                    <a16:creationId xmlns:a16="http://schemas.microsoft.com/office/drawing/2014/main" id="{5FD45B92-3BBC-6DD3-6EE2-FDD1A8331B31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" name="직선 연결선[R] 84">
                <a:extLst>
                  <a:ext uri="{FF2B5EF4-FFF2-40B4-BE49-F238E27FC236}">
                    <a16:creationId xmlns:a16="http://schemas.microsoft.com/office/drawing/2014/main" id="{334670C1-8B0B-0A88-328A-D6B913BDE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9" name="그룹 61">
            <a:extLst>
              <a:ext uri="{FF2B5EF4-FFF2-40B4-BE49-F238E27FC236}">
                <a16:creationId xmlns:a16="http://schemas.microsoft.com/office/drawing/2014/main" id="{5AA51762-7DC5-3CB8-388E-2679C8106F56}"/>
              </a:ext>
            </a:extLst>
          </p:cNvPr>
          <p:cNvGrpSpPr/>
          <p:nvPr/>
        </p:nvGrpSpPr>
        <p:grpSpPr>
          <a:xfrm>
            <a:off x="2267665" y="5406839"/>
            <a:ext cx="3058456" cy="326690"/>
            <a:chOff x="4696630" y="5160119"/>
            <a:chExt cx="2667104" cy="284888"/>
          </a:xfrm>
        </p:grpSpPr>
        <p:sp>
          <p:nvSpPr>
            <p:cNvPr id="110" name="모서리가 둥근 직사각형 68">
              <a:extLst>
                <a:ext uri="{FF2B5EF4-FFF2-40B4-BE49-F238E27FC236}">
                  <a16:creationId xmlns:a16="http://schemas.microsoft.com/office/drawing/2014/main" id="{E3A88FFB-42C4-E6E8-D5C5-02E09132717A}"/>
                </a:ext>
              </a:extLst>
            </p:cNvPr>
            <p:cNvSpPr/>
            <p:nvPr/>
          </p:nvSpPr>
          <p:spPr>
            <a:xfrm>
              <a:off x="4696630" y="5160119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결과를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1" name="양쪽 모서리가 둥근 사각형 69">
              <a:extLst>
                <a:ext uri="{FF2B5EF4-FFF2-40B4-BE49-F238E27FC236}">
                  <a16:creationId xmlns:a16="http://schemas.microsoft.com/office/drawing/2014/main" id="{DFA2464E-2E62-E91C-3A7F-2B42072A5CE4}"/>
                </a:ext>
              </a:extLst>
            </p:cNvPr>
            <p:cNvSpPr/>
            <p:nvPr/>
          </p:nvSpPr>
          <p:spPr>
            <a:xfrm rot="5400000">
              <a:off x="7053202" y="5134474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2" name="그룹 71">
              <a:extLst>
                <a:ext uri="{FF2B5EF4-FFF2-40B4-BE49-F238E27FC236}">
                  <a16:creationId xmlns:a16="http://schemas.microsoft.com/office/drawing/2014/main" id="{B382EC4A-6D97-EA27-C86D-3F0DF0C1727C}"/>
                </a:ext>
              </a:extLst>
            </p:cNvPr>
            <p:cNvGrpSpPr/>
            <p:nvPr/>
          </p:nvGrpSpPr>
          <p:grpSpPr>
            <a:xfrm>
              <a:off x="7118179" y="5222097"/>
              <a:ext cx="154444" cy="160930"/>
              <a:chOff x="7076355" y="2454622"/>
              <a:chExt cx="205565" cy="214197"/>
            </a:xfrm>
          </p:grpSpPr>
          <p:sp>
            <p:nvSpPr>
              <p:cNvPr id="113" name="타원 72">
                <a:extLst>
                  <a:ext uri="{FF2B5EF4-FFF2-40B4-BE49-F238E27FC236}">
                    <a16:creationId xmlns:a16="http://schemas.microsoft.com/office/drawing/2014/main" id="{52BA3821-0277-7F81-D12C-930020D705FE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4" name="직선 연결선[R] 73">
                <a:extLst>
                  <a:ext uri="{FF2B5EF4-FFF2-40B4-BE49-F238E27FC236}">
                    <a16:creationId xmlns:a16="http://schemas.microsoft.com/office/drawing/2014/main" id="{5E8E8758-8CF0-6457-5C25-F7A4E7B91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0555A-EF37-52B8-998E-57098CFD6CF7}"/>
              </a:ext>
            </a:extLst>
          </p:cNvPr>
          <p:cNvSpPr txBox="1"/>
          <p:nvPr/>
        </p:nvSpPr>
        <p:spPr>
          <a:xfrm>
            <a:off x="317644" y="3242827"/>
            <a:ext cx="1477597" cy="890882"/>
          </a:xfrm>
          <a:prstGeom prst="round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원하는 조성</a:t>
            </a:r>
            <a: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,</a:t>
            </a: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 물성 등</a:t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정보 입력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829A9B-4950-77FD-47E2-80DC3CB2ADAE}"/>
              </a:ext>
            </a:extLst>
          </p:cNvPr>
          <p:cNvSpPr txBox="1"/>
          <p:nvPr/>
        </p:nvSpPr>
        <p:spPr>
          <a:xfrm>
            <a:off x="243115" y="5934505"/>
            <a:ext cx="1552126" cy="627973"/>
          </a:xfrm>
          <a:prstGeom prst="round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사용자가 원하는 </a:t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개발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4C50587D-C630-C00E-0D83-CF2E1ECE2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907" y="5151848"/>
            <a:ext cx="1237566" cy="825044"/>
          </a:xfrm>
          <a:prstGeom prst="rect">
            <a:avLst/>
          </a:prstGeom>
        </p:spPr>
      </p:pic>
      <p:sp>
        <p:nvSpPr>
          <p:cNvPr id="121" name="Speech Bubble: Rectangle 92">
            <a:extLst>
              <a:ext uri="{FF2B5EF4-FFF2-40B4-BE49-F238E27FC236}">
                <a16:creationId xmlns:a16="http://schemas.microsoft.com/office/drawing/2014/main" id="{6D5ACD7D-F90F-FE78-60E7-95085DA2C83F}"/>
              </a:ext>
            </a:extLst>
          </p:cNvPr>
          <p:cNvSpPr/>
          <p:nvPr/>
        </p:nvSpPr>
        <p:spPr>
          <a:xfrm>
            <a:off x="7824855" y="5107752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결과 자동 분석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실험 결과 저장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15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2A7672-CEAE-4CA9-835E-27C7B6CEBE4C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44F9531F-75C3-4CB2-8380-62C2FA69DE75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117" name="사각형: 둥근 모서리 2">
            <a:extLst>
              <a:ext uri="{FF2B5EF4-FFF2-40B4-BE49-F238E27FC236}">
                <a16:creationId xmlns:a16="http://schemas.microsoft.com/office/drawing/2014/main" id="{4F00B13E-C1E8-A80B-4990-EB739F72005B}"/>
              </a:ext>
            </a:extLst>
          </p:cNvPr>
          <p:cNvSpPr/>
          <p:nvPr/>
        </p:nvSpPr>
        <p:spPr>
          <a:xfrm>
            <a:off x="389365" y="1068630"/>
            <a:ext cx="3904269" cy="5358881"/>
          </a:xfrm>
          <a:prstGeom prst="roundRect">
            <a:avLst>
              <a:gd name="adj" fmla="val 387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35F2C-6E42-B790-05E8-DA09C837FF78}"/>
              </a:ext>
            </a:extLst>
          </p:cNvPr>
          <p:cNvSpPr txBox="1"/>
          <p:nvPr/>
        </p:nvSpPr>
        <p:spPr>
          <a:xfrm>
            <a:off x="465571" y="1312525"/>
            <a:ext cx="3811822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200" rtl="0"/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주요국 거대 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신소재 개발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 </a:t>
            </a:r>
          </a:p>
          <a:p>
            <a:pPr algn="just" defTabSz="457200" rtl="0">
              <a:lnSpc>
                <a:spcPct val="150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선진국은 소재 특화 거대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AI*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활용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r>
              <a:rPr lang="ko-KR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시행착오 최소화 및 시간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∙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비용 단축 연구 진행 중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A9EB0D38-FEB9-FC7B-24D8-C67492650BA8}"/>
              </a:ext>
            </a:extLst>
          </p:cNvPr>
          <p:cNvSpPr/>
          <p:nvPr/>
        </p:nvSpPr>
        <p:spPr>
          <a:xfrm>
            <a:off x="657806" y="872531"/>
            <a:ext cx="3312000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현황</a:t>
            </a:r>
          </a:p>
        </p:txBody>
      </p:sp>
      <p:sp>
        <p:nvSpPr>
          <p:cNvPr id="120" name="직사각형 31">
            <a:extLst>
              <a:ext uri="{FF2B5EF4-FFF2-40B4-BE49-F238E27FC236}">
                <a16:creationId xmlns:a16="http://schemas.microsoft.com/office/drawing/2014/main" id="{DCE04B54-0B3E-01FF-2EDD-57C0E2AC4DE2}"/>
              </a:ext>
            </a:extLst>
          </p:cNvPr>
          <p:cNvSpPr/>
          <p:nvPr/>
        </p:nvSpPr>
        <p:spPr>
          <a:xfrm>
            <a:off x="384733" y="2296597"/>
            <a:ext cx="3904269" cy="1670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구글 딥마인드와 로렌스 버클리 국립연구소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소재 탐색을 위한 “</a:t>
            </a:r>
            <a:r>
              <a:rPr lang="en-US" altLang="ko-KR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GNoME 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프로젝트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”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220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새로운 무기화합물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와 안정성이 확인된 후보 물질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38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공개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네이처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, ’23.11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월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</a:p>
          <a:p>
            <a:pPr algn="ctr">
              <a:lnSpc>
                <a:spcPts val="2000"/>
              </a:lnSpc>
            </a:pP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 →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AI 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기반 신소재 개발은 기존 방식에 비해 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  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개발 시간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71%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단축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프로토타입 제작 속도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17%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증가</a:t>
            </a:r>
            <a:endParaRPr lang="ko-KR" altLang="en-US" sz="1400" kern="1200" spc="-70" dirty="0">
              <a:solidFill>
                <a:srgbClr val="0000FF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1" name="사각형: 둥근 모서리 108">
            <a:extLst>
              <a:ext uri="{FF2B5EF4-FFF2-40B4-BE49-F238E27FC236}">
                <a16:creationId xmlns:a16="http://schemas.microsoft.com/office/drawing/2014/main" id="{8F7B16B3-1F56-0514-2C44-8D574F128866}"/>
              </a:ext>
            </a:extLst>
          </p:cNvPr>
          <p:cNvSpPr/>
          <p:nvPr/>
        </p:nvSpPr>
        <p:spPr>
          <a:xfrm>
            <a:off x="554068" y="4128180"/>
            <a:ext cx="2986486" cy="369332"/>
          </a:xfrm>
          <a:prstGeom prst="roundRect">
            <a:avLst>
              <a:gd name="adj" fmla="val 9524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ctr" latinLnBrk="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선진국의 발 빠른 소재 </a:t>
            </a:r>
            <a:r>
              <a:rPr lang="en-US" altLang="ko-KR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AI </a:t>
            </a: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전략 및 정책</a:t>
            </a:r>
            <a:endParaRPr lang="en-US" altLang="ko-KR" sz="1200" b="1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122" name="그룹 35">
            <a:extLst>
              <a:ext uri="{FF2B5EF4-FFF2-40B4-BE49-F238E27FC236}">
                <a16:creationId xmlns:a16="http://schemas.microsoft.com/office/drawing/2014/main" id="{06AA69A3-BA4E-4E47-BFE8-467ADBB66AB5}"/>
              </a:ext>
            </a:extLst>
          </p:cNvPr>
          <p:cNvGrpSpPr/>
          <p:nvPr/>
        </p:nvGrpSpPr>
        <p:grpSpPr>
          <a:xfrm>
            <a:off x="1246838" y="5612127"/>
            <a:ext cx="3160690" cy="346205"/>
            <a:chOff x="8990891" y="5648176"/>
            <a:chExt cx="3160690" cy="380826"/>
          </a:xfrm>
        </p:grpSpPr>
        <p:pic>
          <p:nvPicPr>
            <p:cNvPr id="123" name="_x585090672" descr="EMB00001848344b">
              <a:extLst>
                <a:ext uri="{FF2B5EF4-FFF2-40B4-BE49-F238E27FC236}">
                  <a16:creationId xmlns:a16="http://schemas.microsoft.com/office/drawing/2014/main" id="{586767A5-CE8A-A449-316E-529BE56FB76B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9" r="6409"/>
            <a:stretch/>
          </p:blipFill>
          <p:spPr bwMode="auto">
            <a:xfrm>
              <a:off x="8990891" y="5648176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DDDB8D3-3DC2-7BCC-9778-8EB82A3F0CC1}"/>
                </a:ext>
              </a:extLst>
            </p:cNvPr>
            <p:cNvSpPr txBox="1"/>
            <p:nvPr/>
          </p:nvSpPr>
          <p:spPr>
            <a:xfrm>
              <a:off x="9559581" y="5700089"/>
              <a:ext cx="2592000" cy="287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CIFAR AI Chair 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정책</a:t>
              </a:r>
            </a:p>
          </p:txBody>
        </p:sp>
      </p:grpSp>
      <p:sp>
        <p:nvSpPr>
          <p:cNvPr id="125" name="TextBox 164">
            <a:extLst>
              <a:ext uri="{FF2B5EF4-FFF2-40B4-BE49-F238E27FC236}">
                <a16:creationId xmlns:a16="http://schemas.microsoft.com/office/drawing/2014/main" id="{55A0AD75-3226-0401-0AFC-9ABCB68C14B5}"/>
              </a:ext>
            </a:extLst>
          </p:cNvPr>
          <p:cNvSpPr txBox="1"/>
          <p:nvPr/>
        </p:nvSpPr>
        <p:spPr>
          <a:xfrm rot="5400000">
            <a:off x="789883" y="5447799"/>
            <a:ext cx="369332" cy="674862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캐나다</a:t>
            </a:r>
          </a:p>
        </p:txBody>
      </p:sp>
      <p:grpSp>
        <p:nvGrpSpPr>
          <p:cNvPr id="126" name="그룹 44">
            <a:extLst>
              <a:ext uri="{FF2B5EF4-FFF2-40B4-BE49-F238E27FC236}">
                <a16:creationId xmlns:a16="http://schemas.microsoft.com/office/drawing/2014/main" id="{5FD67EF7-E1B2-4CFB-CD8F-37DD30489945}"/>
              </a:ext>
            </a:extLst>
          </p:cNvPr>
          <p:cNvGrpSpPr/>
          <p:nvPr/>
        </p:nvGrpSpPr>
        <p:grpSpPr>
          <a:xfrm>
            <a:off x="1246838" y="4481772"/>
            <a:ext cx="3231924" cy="446276"/>
            <a:chOff x="8990891" y="4651253"/>
            <a:chExt cx="3231924" cy="490904"/>
          </a:xfrm>
        </p:grpSpPr>
        <p:pic>
          <p:nvPicPr>
            <p:cNvPr id="127" name="_x540298168" descr="EMB000018483449">
              <a:extLst>
                <a:ext uri="{FF2B5EF4-FFF2-40B4-BE49-F238E27FC236}">
                  <a16:creationId xmlns:a16="http://schemas.microsoft.com/office/drawing/2014/main" id="{7174EBF4-483B-0947-A6F6-2C1EBAC9DEE9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4691672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F0ED6A7-3095-1715-DDD7-D7B880340E47}"/>
                </a:ext>
              </a:extLst>
            </p:cNvPr>
            <p:cNvSpPr txBox="1"/>
            <p:nvPr/>
          </p:nvSpPr>
          <p:spPr>
            <a:xfrm>
              <a:off x="9559581" y="4651253"/>
              <a:ext cx="266323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fontAlgn="ctr" latinLnBrk="0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 게놈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(MGI, `21)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혁신 플랫폼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(MIP, `15)</a:t>
              </a:r>
              <a:endParaRPr lang="en-US" altLang="ko-KR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29" name="TextBox 147">
            <a:extLst>
              <a:ext uri="{FF2B5EF4-FFF2-40B4-BE49-F238E27FC236}">
                <a16:creationId xmlns:a16="http://schemas.microsoft.com/office/drawing/2014/main" id="{C600DEA9-AF81-C41B-FE7D-6699C0B6ED6B}"/>
              </a:ext>
            </a:extLst>
          </p:cNvPr>
          <p:cNvSpPr txBox="1"/>
          <p:nvPr/>
        </p:nvSpPr>
        <p:spPr>
          <a:xfrm rot="5400000">
            <a:off x="783785" y="4486754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미국</a:t>
            </a:r>
          </a:p>
        </p:txBody>
      </p:sp>
      <p:grpSp>
        <p:nvGrpSpPr>
          <p:cNvPr id="130" name="그룹 48">
            <a:extLst>
              <a:ext uri="{FF2B5EF4-FFF2-40B4-BE49-F238E27FC236}">
                <a16:creationId xmlns:a16="http://schemas.microsoft.com/office/drawing/2014/main" id="{A71886E9-7C49-2D97-3077-B8DFB7C1CE68}"/>
              </a:ext>
            </a:extLst>
          </p:cNvPr>
          <p:cNvGrpSpPr/>
          <p:nvPr/>
        </p:nvGrpSpPr>
        <p:grpSpPr>
          <a:xfrm>
            <a:off x="1246838" y="5043966"/>
            <a:ext cx="3253154" cy="446276"/>
            <a:chOff x="8990891" y="5107981"/>
            <a:chExt cx="3253154" cy="490904"/>
          </a:xfrm>
        </p:grpSpPr>
        <p:pic>
          <p:nvPicPr>
            <p:cNvPr id="131" name="_x584986840" descr="EMB00001848344a">
              <a:extLst>
                <a:ext uri="{FF2B5EF4-FFF2-40B4-BE49-F238E27FC236}">
                  <a16:creationId xmlns:a16="http://schemas.microsoft.com/office/drawing/2014/main" id="{1D617360-9AEC-4D0F-3B7A-87B3CEEE68DA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5148400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7678F9A-51D6-6802-741C-C5F951A9A005}"/>
                </a:ext>
              </a:extLst>
            </p:cNvPr>
            <p:cNvSpPr txBox="1"/>
            <p:nvPr/>
          </p:nvSpPr>
          <p:spPr>
            <a:xfrm>
              <a:off x="9559581" y="5107981"/>
              <a:ext cx="268446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Dial-a-Molecule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(`10-`25)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SMART-POM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(`15-`21)</a:t>
              </a:r>
              <a:endParaRPr lang="en-US" altLang="ko-KR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33" name="TextBox 129">
            <a:extLst>
              <a:ext uri="{FF2B5EF4-FFF2-40B4-BE49-F238E27FC236}">
                <a16:creationId xmlns:a16="http://schemas.microsoft.com/office/drawing/2014/main" id="{77EC0BF3-907D-E062-B0D2-9C7DB115A042}"/>
              </a:ext>
            </a:extLst>
          </p:cNvPr>
          <p:cNvSpPr txBox="1"/>
          <p:nvPr/>
        </p:nvSpPr>
        <p:spPr>
          <a:xfrm rot="5400000">
            <a:off x="783784" y="5048948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유럽</a:t>
            </a:r>
          </a:p>
        </p:txBody>
      </p:sp>
      <p:sp>
        <p:nvSpPr>
          <p:cNvPr id="134" name="양쪽 대괄호 66">
            <a:extLst>
              <a:ext uri="{FF2B5EF4-FFF2-40B4-BE49-F238E27FC236}">
                <a16:creationId xmlns:a16="http://schemas.microsoft.com/office/drawing/2014/main" id="{846BB6B5-7F52-0FE0-7362-7C91F8AE8A37}"/>
              </a:ext>
            </a:extLst>
          </p:cNvPr>
          <p:cNvSpPr/>
          <p:nvPr/>
        </p:nvSpPr>
        <p:spPr>
          <a:xfrm>
            <a:off x="595661" y="6132995"/>
            <a:ext cx="3551642" cy="231725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선진국 기술독점 및 전략적 통제 </a:t>
            </a:r>
            <a:r>
              <a:rPr lang="en-US" altLang="ko-KR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국산화 필요</a:t>
            </a:r>
            <a:endParaRPr lang="ko-KR" altLang="en-US" sz="1400" dirty="0">
              <a:solidFill>
                <a:srgbClr val="B2646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5" name="사각형: 둥근 모서리 222">
            <a:extLst>
              <a:ext uri="{FF2B5EF4-FFF2-40B4-BE49-F238E27FC236}">
                <a16:creationId xmlns:a16="http://schemas.microsoft.com/office/drawing/2014/main" id="{072289F3-923C-D965-5F8D-63B27BED90DA}"/>
              </a:ext>
            </a:extLst>
          </p:cNvPr>
          <p:cNvSpPr/>
          <p:nvPr/>
        </p:nvSpPr>
        <p:spPr>
          <a:xfrm>
            <a:off x="4589658" y="1052736"/>
            <a:ext cx="4239314" cy="5446673"/>
          </a:xfrm>
          <a:prstGeom prst="roundRect">
            <a:avLst>
              <a:gd name="adj" fmla="val 631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36" name="사각형: 둥근 모서리 223">
            <a:extLst>
              <a:ext uri="{FF2B5EF4-FFF2-40B4-BE49-F238E27FC236}">
                <a16:creationId xmlns:a16="http://schemas.microsoft.com/office/drawing/2014/main" id="{463A97F1-73CB-6527-B076-7E0636687B0B}"/>
              </a:ext>
            </a:extLst>
          </p:cNvPr>
          <p:cNvSpPr/>
          <p:nvPr/>
        </p:nvSpPr>
        <p:spPr>
          <a:xfrm>
            <a:off x="4674256" y="891928"/>
            <a:ext cx="3919776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소재 산업의 </a:t>
            </a:r>
            <a:r>
              <a:rPr lang="ko-KR" altLang="en-US" sz="160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중요성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37" name="그림 53">
            <a:extLst>
              <a:ext uri="{FF2B5EF4-FFF2-40B4-BE49-F238E27FC236}">
                <a16:creationId xmlns:a16="http://schemas.microsoft.com/office/drawing/2014/main" id="{68D8A44A-433E-D8D9-CB73-2F9223808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88" t="19333" r="74263" b="61878"/>
          <a:stretch/>
        </p:blipFill>
        <p:spPr>
          <a:xfrm>
            <a:off x="5393522" y="1725244"/>
            <a:ext cx="237517" cy="381000"/>
          </a:xfrm>
          <a:prstGeom prst="rect">
            <a:avLst/>
          </a:prstGeom>
        </p:spPr>
      </p:pic>
      <p:pic>
        <p:nvPicPr>
          <p:cNvPr id="138" name="그림 54">
            <a:extLst>
              <a:ext uri="{FF2B5EF4-FFF2-40B4-BE49-F238E27FC236}">
                <a16:creationId xmlns:a16="http://schemas.microsoft.com/office/drawing/2014/main" id="{011ACD4E-2871-00C4-6267-7A4A4C507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343" y="3946658"/>
            <a:ext cx="4142479" cy="2146638"/>
          </a:xfrm>
          <a:prstGeom prst="rect">
            <a:avLst/>
          </a:prstGeom>
        </p:spPr>
      </p:pic>
      <p:grpSp>
        <p:nvGrpSpPr>
          <p:cNvPr id="139" name="그룹 73">
            <a:extLst>
              <a:ext uri="{FF2B5EF4-FFF2-40B4-BE49-F238E27FC236}">
                <a16:creationId xmlns:a16="http://schemas.microsoft.com/office/drawing/2014/main" id="{93AE0EA0-AA61-206B-5DAB-0A49A6D4C06D}"/>
              </a:ext>
            </a:extLst>
          </p:cNvPr>
          <p:cNvGrpSpPr/>
          <p:nvPr/>
        </p:nvGrpSpPr>
        <p:grpSpPr>
          <a:xfrm>
            <a:off x="4588669" y="1581614"/>
            <a:ext cx="999305" cy="612000"/>
            <a:chOff x="4588669" y="2309085"/>
            <a:chExt cx="999305" cy="612000"/>
          </a:xfrm>
        </p:grpSpPr>
        <p:sp>
          <p:nvSpPr>
            <p:cNvPr id="140" name="타원 74">
              <a:extLst>
                <a:ext uri="{FF2B5EF4-FFF2-40B4-BE49-F238E27FC236}">
                  <a16:creationId xmlns:a16="http://schemas.microsoft.com/office/drawing/2014/main" id="{6F6B90E7-3F19-71C7-26D1-C1B67D133D8C}"/>
                </a:ext>
              </a:extLst>
            </p:cNvPr>
            <p:cNvSpPr/>
            <p:nvPr/>
          </p:nvSpPr>
          <p:spPr>
            <a:xfrm>
              <a:off x="4782321" y="2309085"/>
              <a:ext cx="612000" cy="612000"/>
            </a:xfrm>
            <a:prstGeom prst="ellipse">
              <a:avLst/>
            </a:prstGeom>
            <a:solidFill>
              <a:srgbClr val="197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1000" b="1" dirty="0">
                <a:latin typeface="페이퍼로지 8 ExtraBold" pitchFamily="2" charset="-127"/>
                <a:ea typeface="Paperlogy 8 ExtraBold" pitchFamily="2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4220458-B06C-249E-F1CE-992B4D2F8419}"/>
                </a:ext>
              </a:extLst>
            </p:cNvPr>
            <p:cNvSpPr txBox="1"/>
            <p:nvPr/>
          </p:nvSpPr>
          <p:spPr>
            <a:xfrm>
              <a:off x="4588669" y="2384253"/>
              <a:ext cx="9993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글로벌 </a:t>
              </a:r>
              <a:br>
                <a:rPr kumimoji="1" lang="en-US" altLang="ja-JP" sz="1200" b="1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</a:br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소재시장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A22BFFB8-1B5E-894F-D139-D5182745F37C}"/>
              </a:ext>
            </a:extLst>
          </p:cNvPr>
          <p:cNvSpPr txBox="1"/>
          <p:nvPr/>
        </p:nvSpPr>
        <p:spPr>
          <a:xfrm>
            <a:off x="5151403" y="1784115"/>
            <a:ext cx="3341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매년 성장 중인 글로벌 소재 시장</a:t>
            </a:r>
            <a:endParaRPr kumimoji="1" lang="ja-JP" altLang="en-US" sz="1400" b="1" dirty="0">
              <a:solidFill>
                <a:schemeClr val="tx1"/>
              </a:solidFill>
              <a:latin typeface="페이퍼로지 7 Bold" pitchFamily="2" charset="-127"/>
              <a:ea typeface="Paperlogy 7 Bold" pitchFamily="2" charset="-127"/>
            </a:endParaRPr>
          </a:p>
        </p:txBody>
      </p:sp>
      <p:grpSp>
        <p:nvGrpSpPr>
          <p:cNvPr id="143" name="그룹 80">
            <a:extLst>
              <a:ext uri="{FF2B5EF4-FFF2-40B4-BE49-F238E27FC236}">
                <a16:creationId xmlns:a16="http://schemas.microsoft.com/office/drawing/2014/main" id="{D89AF12A-93A2-A0C4-EC85-A0F7D33F0616}"/>
              </a:ext>
            </a:extLst>
          </p:cNvPr>
          <p:cNvGrpSpPr/>
          <p:nvPr/>
        </p:nvGrpSpPr>
        <p:grpSpPr>
          <a:xfrm>
            <a:off x="4692169" y="1996594"/>
            <a:ext cx="3997323" cy="1711526"/>
            <a:chOff x="4020795" y="2822054"/>
            <a:chExt cx="3997323" cy="1711526"/>
          </a:xfrm>
        </p:grpSpPr>
        <p:grpSp>
          <p:nvGrpSpPr>
            <p:cNvPr id="144" name="그룹 86">
              <a:extLst>
                <a:ext uri="{FF2B5EF4-FFF2-40B4-BE49-F238E27FC236}">
                  <a16:creationId xmlns:a16="http://schemas.microsoft.com/office/drawing/2014/main" id="{201DCB8E-32E1-D9F5-6629-5D12A9949EDC}"/>
                </a:ext>
              </a:extLst>
            </p:cNvPr>
            <p:cNvGrpSpPr/>
            <p:nvPr/>
          </p:nvGrpSpPr>
          <p:grpSpPr>
            <a:xfrm>
              <a:off x="5302476" y="2822054"/>
              <a:ext cx="2715642" cy="1711526"/>
              <a:chOff x="5461231" y="2626491"/>
              <a:chExt cx="2715642" cy="1882679"/>
            </a:xfrm>
          </p:grpSpPr>
          <p:grpSp>
            <p:nvGrpSpPr>
              <p:cNvPr id="146" name="그룹 89">
                <a:extLst>
                  <a:ext uri="{FF2B5EF4-FFF2-40B4-BE49-F238E27FC236}">
                    <a16:creationId xmlns:a16="http://schemas.microsoft.com/office/drawing/2014/main" id="{8563586F-9B4F-D665-0171-4B93466B0A04}"/>
                  </a:ext>
                </a:extLst>
              </p:cNvPr>
              <p:cNvGrpSpPr/>
              <p:nvPr/>
            </p:nvGrpSpPr>
            <p:grpSpPr>
              <a:xfrm>
                <a:off x="5461231" y="2626491"/>
                <a:ext cx="2715642" cy="1662223"/>
                <a:chOff x="5461231" y="2626491"/>
                <a:chExt cx="2715642" cy="1662223"/>
              </a:xfrm>
            </p:grpSpPr>
            <p:graphicFrame>
              <p:nvGraphicFramePr>
                <p:cNvPr id="148" name="차트 91">
                  <a:extLst>
                    <a:ext uri="{FF2B5EF4-FFF2-40B4-BE49-F238E27FC236}">
                      <a16:creationId xmlns:a16="http://schemas.microsoft.com/office/drawing/2014/main" id="{904C9395-4D64-ADB9-F4E4-5564810C822E}"/>
                    </a:ext>
                  </a:extLst>
                </p:cNvPr>
                <p:cNvGraphicFramePr/>
                <p:nvPr/>
              </p:nvGraphicFramePr>
              <p:xfrm>
                <a:off x="5461231" y="2626491"/>
                <a:ext cx="2715642" cy="1619396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  <p:grpSp>
              <p:nvGrpSpPr>
                <p:cNvPr id="149" name="그룹 92">
                  <a:extLst>
                    <a:ext uri="{FF2B5EF4-FFF2-40B4-BE49-F238E27FC236}">
                      <a16:creationId xmlns:a16="http://schemas.microsoft.com/office/drawing/2014/main" id="{EA105A43-C035-FB12-973E-56C81CCB4993}"/>
                    </a:ext>
                  </a:extLst>
                </p:cNvPr>
                <p:cNvGrpSpPr/>
                <p:nvPr/>
              </p:nvGrpSpPr>
              <p:grpSpPr>
                <a:xfrm>
                  <a:off x="5516233" y="2864148"/>
                  <a:ext cx="2637238" cy="1424566"/>
                  <a:chOff x="680010" y="4993604"/>
                  <a:chExt cx="3230000" cy="1295060"/>
                </a:xfrm>
              </p:grpSpPr>
              <p:grpSp>
                <p:nvGrpSpPr>
                  <p:cNvPr id="150" name="그룹 93">
                    <a:extLst>
                      <a:ext uri="{FF2B5EF4-FFF2-40B4-BE49-F238E27FC236}">
                        <a16:creationId xmlns:a16="http://schemas.microsoft.com/office/drawing/2014/main" id="{393EB16E-5237-AB40-ACE2-B28DCCB0FB90}"/>
                      </a:ext>
                    </a:extLst>
                  </p:cNvPr>
                  <p:cNvGrpSpPr/>
                  <p:nvPr/>
                </p:nvGrpSpPr>
                <p:grpSpPr>
                  <a:xfrm>
                    <a:off x="830587" y="6130928"/>
                    <a:ext cx="2856336" cy="157736"/>
                    <a:chOff x="719069" y="6091382"/>
                    <a:chExt cx="2856336" cy="157736"/>
                  </a:xfrm>
                </p:grpSpPr>
                <p:sp>
                  <p:nvSpPr>
                    <p:cNvPr id="156" name="TextBox 155">
                      <a:extLst>
                        <a:ext uri="{FF2B5EF4-FFF2-40B4-BE49-F238E27FC236}">
                          <a16:creationId xmlns:a16="http://schemas.microsoft.com/office/drawing/2014/main" id="{F337E6F7-6B10-5975-A4D1-DE6D3DACF1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069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6F1B0D26-3F9D-F889-A5B8-AFBFAA5D13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09834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`26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9720C39F-CBF2-B10F-44B1-E9926EB86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598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`28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908ABDD1-AEB8-F0B2-9B55-82C49FBE06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91363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`30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54B45E6C-A2C9-182E-CF5F-716075D730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2129" y="6091382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`32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D5CD6CA7-76AD-ECBC-2963-7A760879DA42}"/>
                      </a:ext>
                    </a:extLst>
                  </p:cNvPr>
                  <p:cNvSpPr txBox="1"/>
                  <p:nvPr/>
                </p:nvSpPr>
                <p:spPr>
                  <a:xfrm>
                    <a:off x="680010" y="5354657"/>
                    <a:ext cx="794427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900">
                        <a:latin typeface="Paperlogy 6 SemiBold" pitchFamily="2" charset="-127"/>
                        <a:ea typeface="Paperlogy 6 SemiBold" pitchFamily="2" charset="-127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</a:rPr>
                      <a:t>2,636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</a:endParaRP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1BDC329-EE8C-D376-7F00-59058ABD5F4F}"/>
                      </a:ext>
                    </a:extLst>
                  </p:cNvPr>
                  <p:cNvSpPr txBox="1"/>
                  <p:nvPr/>
                </p:nvSpPr>
                <p:spPr>
                  <a:xfrm>
                    <a:off x="1287052" y="5343869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2,980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1F434700-CDB6-869E-C8BE-61A019E19DF9}"/>
                      </a:ext>
                    </a:extLst>
                  </p:cNvPr>
                  <p:cNvSpPr txBox="1"/>
                  <p:nvPr/>
                </p:nvSpPr>
                <p:spPr>
                  <a:xfrm>
                    <a:off x="1871416" y="5246733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3,381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8A523396-62D6-D010-754A-5AE7CD43A0E3}"/>
                      </a:ext>
                    </a:extLst>
                  </p:cNvPr>
                  <p:cNvSpPr txBox="1"/>
                  <p:nvPr/>
                </p:nvSpPr>
                <p:spPr>
                  <a:xfrm>
                    <a:off x="2479189" y="5138036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3,854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F20A4A84-719B-F3DE-5FF4-50474CCF58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01666" y="4993604"/>
                    <a:ext cx="908344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4,413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AD84E68-CAAE-35CE-88CB-AD75981A2D08}"/>
                  </a:ext>
                </a:extLst>
              </p:cNvPr>
              <p:cNvSpPr txBox="1"/>
              <p:nvPr/>
            </p:nvSpPr>
            <p:spPr>
              <a:xfrm>
                <a:off x="6453928" y="4272182"/>
                <a:ext cx="1525986" cy="23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700">
                    <a:solidFill>
                      <a:schemeClr val="bg1">
                        <a:lumMod val="65000"/>
                      </a:schemeClr>
                    </a:solidFill>
                    <a:latin typeface="Paperlogy 3 Light" pitchFamily="2" charset="-127"/>
                    <a:ea typeface="Paperlogy 3 Light" pitchFamily="2" charset="-127"/>
                  </a:defRPr>
                </a:lvl1pPr>
              </a:lstStyle>
              <a:p>
                <a:pPr algn="r"/>
                <a:r>
                  <a:rPr lang="ko-KR" altLang="en-US" sz="800" dirty="0">
                    <a:latin typeface="페이퍼로지 5 Medium" pitchFamily="2" charset="-127"/>
                    <a:ea typeface="페이퍼로지 5 Medium" pitchFamily="2" charset="-127"/>
                  </a:rPr>
                  <a:t>* </a:t>
                </a:r>
                <a:r>
                  <a:rPr lang="en-US" altLang="ko-KR" sz="800" dirty="0" err="1">
                    <a:latin typeface="페이퍼로지 5 Medium" pitchFamily="2" charset="-127"/>
                    <a:ea typeface="페이퍼로지 5 Medium" pitchFamily="2" charset="-127"/>
                  </a:rPr>
                  <a:t>Zionmarket</a:t>
                </a:r>
                <a:r>
                  <a:rPr lang="en-US" altLang="ko-KR" sz="800" dirty="0">
                    <a:latin typeface="페이퍼로지 5 Medium" pitchFamily="2" charset="-127"/>
                    <a:ea typeface="페이퍼로지 5 Medium" pitchFamily="2" charset="-127"/>
                  </a:rPr>
                  <a:t> Research</a:t>
                </a:r>
                <a:endParaRPr lang="ko-KR" altLang="en-US" sz="8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7B916-3F41-8691-2154-3A80D73BD9C1}"/>
                </a:ext>
              </a:extLst>
            </p:cNvPr>
            <p:cNvSpPr txBox="1"/>
            <p:nvPr/>
          </p:nvSpPr>
          <p:spPr>
            <a:xfrm>
              <a:off x="4020795" y="3265261"/>
              <a:ext cx="14552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4625" indent="-174625" algn="ctr">
                <a:lnSpc>
                  <a:spcPct val="120000"/>
                </a:lnSpc>
                <a:buClr>
                  <a:srgbClr val="197DFA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Paperlogy 5 Medium" pitchFamily="2" charset="-127"/>
                  <a:ea typeface="Paperlogy 5 Medium" pitchFamily="2" charset="-127"/>
                  <a:cs typeface="Arial" panose="020B0604020202020204" pitchFamily="34" charset="0"/>
                </a:defRPr>
              </a:lvl1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글로벌 소재 </a:t>
              </a:r>
              <a:br>
                <a:rPr lang="en-US" altLang="ko-KR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시장 규모</a:t>
              </a:r>
              <a:endParaRPr lang="en-US" altLang="ko-KR" sz="1100" dirty="0">
                <a:solidFill>
                  <a:srgbClr val="1799FF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4,413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조원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(`32)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821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사각형: 둥근 모서리 75">
            <a:extLst>
              <a:ext uri="{FF2B5EF4-FFF2-40B4-BE49-F238E27FC236}">
                <a16:creationId xmlns:a16="http://schemas.microsoft.com/office/drawing/2014/main" id="{8B8C1B19-751C-79BA-2780-1982AB311510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id="{AE64BD65-BB76-ADED-9244-B5428953296F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383" rtl="0">
              <a:lnSpc>
                <a:spcPct val="150000"/>
              </a:lnSpc>
              <a:defRPr/>
            </a:pP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소재 개발 과정의 </a:t>
            </a:r>
            <a:r>
              <a:rPr lang="en-US" altLang="ko-KR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도입 필요성</a:t>
            </a:r>
          </a:p>
        </p:txBody>
      </p:sp>
      <p:pic>
        <p:nvPicPr>
          <p:cNvPr id="9" name="그림 55">
            <a:extLst>
              <a:ext uri="{FF2B5EF4-FFF2-40B4-BE49-F238E27FC236}">
                <a16:creationId xmlns:a16="http://schemas.microsoft.com/office/drawing/2014/main" id="{5AB9976B-0A0E-D622-283D-CF2B566E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4" y="1340768"/>
            <a:ext cx="3630371" cy="1925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BA8DDA-FD98-A814-8585-C45C37544EB7}"/>
              </a:ext>
            </a:extLst>
          </p:cNvPr>
          <p:cNvSpPr txBox="1"/>
          <p:nvPr/>
        </p:nvSpPr>
        <p:spPr>
          <a:xfrm>
            <a:off x="532133" y="3573016"/>
            <a:ext cx="3813173" cy="1187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설계의 어려움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</a:pP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금속소재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는 조합 변화에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조합변화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의 물성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비선형적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</a:p>
          <a:p>
            <a:pPr algn="just" defTabSz="457383" rtl="0"/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공정조건에 따라 성능의 변화가 큼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.</a:t>
            </a:r>
          </a:p>
          <a:p>
            <a:pPr algn="just" defTabSz="457383" rtl="0">
              <a:lnSpc>
                <a:spcPct val="150000"/>
              </a:lnSpc>
            </a:pPr>
            <a:r>
              <a:rPr lang="ko-KR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성능 간 정밀 예측 설계 초거대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개발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1" name="양쪽 대괄호 69">
            <a:extLst>
              <a:ext uri="{FF2B5EF4-FFF2-40B4-BE49-F238E27FC236}">
                <a16:creationId xmlns:a16="http://schemas.microsoft.com/office/drawing/2014/main" id="{A011ED96-2C63-382D-08F2-8D2BAFA7F360}"/>
              </a:ext>
            </a:extLst>
          </p:cNvPr>
          <p:cNvSpPr/>
          <p:nvPr/>
        </p:nvSpPr>
        <p:spPr>
          <a:xfrm>
            <a:off x="326524" y="3284984"/>
            <a:ext cx="4224390" cy="231807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AI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의 성능 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= 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 신소재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공정 탐색 성공률 및 정확도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284ECA-5887-B6E9-2435-D6B9C34C4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1"/>
          <a:stretch/>
        </p:blipFill>
        <p:spPr>
          <a:xfrm>
            <a:off x="811100" y="4725144"/>
            <a:ext cx="3184836" cy="14921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312352-4F7D-B683-EB06-7A608A960CAF}"/>
              </a:ext>
            </a:extLst>
          </p:cNvPr>
          <p:cNvSpPr txBox="1"/>
          <p:nvPr/>
        </p:nvSpPr>
        <p:spPr>
          <a:xfrm>
            <a:off x="899592" y="6176337"/>
            <a:ext cx="3038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tabLst>
                <a:tab pos="2298700" algn="l"/>
              </a:tabLst>
            </a:pP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조성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미세조직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물성 복잡한 상관관계</a:t>
            </a:r>
            <a:endParaRPr kumimoji="1" lang="en-US" altLang="ko-KR" sz="1200" dirty="0">
              <a:solidFill>
                <a:srgbClr val="4F63F2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09" name="사각형: 둥근 모서리 222">
            <a:extLst>
              <a:ext uri="{FF2B5EF4-FFF2-40B4-BE49-F238E27FC236}">
                <a16:creationId xmlns:a16="http://schemas.microsoft.com/office/drawing/2014/main" id="{274DF354-56E2-2896-71AE-CDD05C8E9461}"/>
              </a:ext>
            </a:extLst>
          </p:cNvPr>
          <p:cNvSpPr/>
          <p:nvPr/>
        </p:nvSpPr>
        <p:spPr>
          <a:xfrm>
            <a:off x="4639406" y="1141460"/>
            <a:ext cx="4026456" cy="5329851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8B9E47-776C-A98B-7EEE-567E019F57A6}"/>
              </a:ext>
            </a:extLst>
          </p:cNvPr>
          <p:cNvSpPr txBox="1"/>
          <p:nvPr/>
        </p:nvSpPr>
        <p:spPr>
          <a:xfrm>
            <a:off x="4791275" y="1412776"/>
            <a:ext cx="3813173" cy="908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분야 기술 선점 필요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  <a:defRPr/>
            </a:pP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유기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화학 소재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: 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해외 선진국 설계 상용화</a:t>
            </a:r>
            <a:endParaRPr lang="en-US" altLang="ko-KR" sz="1401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383" rtl="0">
              <a:defRPr/>
            </a:pP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금속소재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: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초기 단계로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독자적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모델 확보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AA531E9-B36D-161B-BF68-A690698D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763" y="3920692"/>
            <a:ext cx="3217645" cy="2388628"/>
          </a:xfrm>
          <a:prstGeom prst="rect">
            <a:avLst/>
          </a:prstGeom>
        </p:spPr>
      </p:pic>
      <p:sp>
        <p:nvSpPr>
          <p:cNvPr id="111" name="TextBox 103">
            <a:extLst>
              <a:ext uri="{FF2B5EF4-FFF2-40B4-BE49-F238E27FC236}">
                <a16:creationId xmlns:a16="http://schemas.microsoft.com/office/drawing/2014/main" id="{127ED96F-2C3B-5E33-9B29-7D232F7776D2}"/>
              </a:ext>
            </a:extLst>
          </p:cNvPr>
          <p:cNvSpPr txBox="1"/>
          <p:nvPr/>
        </p:nvSpPr>
        <p:spPr>
          <a:xfrm>
            <a:off x="4788024" y="2492896"/>
            <a:ext cx="3813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220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38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 안정적 구조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736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실증</a:t>
            </a:r>
          </a:p>
        </p:txBody>
      </p:sp>
      <p:sp>
        <p:nvSpPr>
          <p:cNvPr id="112" name="TextBox 104">
            <a:extLst>
              <a:ext uri="{FF2B5EF4-FFF2-40B4-BE49-F238E27FC236}">
                <a16:creationId xmlns:a16="http://schemas.microsoft.com/office/drawing/2014/main" id="{455136CA-01DF-887E-7183-FE7078C59ED8}"/>
              </a:ext>
            </a:extLst>
          </p:cNvPr>
          <p:cNvSpPr txBox="1"/>
          <p:nvPr/>
        </p:nvSpPr>
        <p:spPr>
          <a:xfrm>
            <a:off x="6084448" y="2924944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Google DeepMind (2023)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  <p:sp>
        <p:nvSpPr>
          <p:cNvPr id="113" name="TextBox 105">
            <a:extLst>
              <a:ext uri="{FF2B5EF4-FFF2-40B4-BE49-F238E27FC236}">
                <a16:creationId xmlns:a16="http://schemas.microsoft.com/office/drawing/2014/main" id="{882486F2-D2E0-F20D-7AE2-16FD3CEAF156}"/>
              </a:ext>
            </a:extLst>
          </p:cNvPr>
          <p:cNvSpPr txBox="1"/>
          <p:nvPr/>
        </p:nvSpPr>
        <p:spPr>
          <a:xfrm>
            <a:off x="4788024" y="3204265"/>
            <a:ext cx="373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610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타겟 물성 확보 여부 실증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정확도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&gt;80%)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4" name="TextBox 106">
            <a:extLst>
              <a:ext uri="{FF2B5EF4-FFF2-40B4-BE49-F238E27FC236}">
                <a16:creationId xmlns:a16="http://schemas.microsoft.com/office/drawing/2014/main" id="{C6FB5F57-F4D5-6FA4-80CB-834B46C658C1}"/>
              </a:ext>
            </a:extLst>
          </p:cNvPr>
          <p:cNvSpPr txBox="1"/>
          <p:nvPr/>
        </p:nvSpPr>
        <p:spPr>
          <a:xfrm>
            <a:off x="6084448" y="3552846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Microsoft Research AI for Science (2025)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32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BB22-D7D6-2632-7970-934445CE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>
            <a:extLst>
              <a:ext uri="{FF2B5EF4-FFF2-40B4-BE49-F238E27FC236}">
                <a16:creationId xmlns:a16="http://schemas.microsoft.com/office/drawing/2014/main" id="{B78EFD4F-16B5-A42A-3C13-7390A43E103C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>
              <a:extLst>
                <a:ext uri="{FF2B5EF4-FFF2-40B4-BE49-F238E27FC236}">
                  <a16:creationId xmlns:a16="http://schemas.microsoft.com/office/drawing/2014/main" id="{2E6DD9E9-EC05-6DFF-6B29-F2C45529DC15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>
                <a:extLst>
                  <a:ext uri="{FF2B5EF4-FFF2-40B4-BE49-F238E27FC236}">
                    <a16:creationId xmlns:a16="http://schemas.microsoft.com/office/drawing/2014/main" id="{B8C6254B-F2E3-E0CD-CC9B-415C7D69858B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64B306B5-2E73-B882-E462-E3CD9E54C9E5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B0E440A7-485D-B2CE-B62A-FE45A51342AA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>
                <a:extLst>
                  <a:ext uri="{FF2B5EF4-FFF2-40B4-BE49-F238E27FC236}">
                    <a16:creationId xmlns:a16="http://schemas.microsoft.com/office/drawing/2014/main" id="{14DF3495-FA23-4A9A-D44D-48C2D091BCA7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6900482E-2DD1-FA9E-941A-6A76ADA40FB1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587F722C-B292-4E4A-7553-DCACD1D7A5C1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CDAA53F-E189-F4DE-420F-C86C4B584D6D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FCDF0DF6-0CEE-3318-04C2-D9FAADDAED4E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E82D9-FBB7-45CB-4A5F-6AE144F4022C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사각형: 둥근 모서리 75">
            <a:extLst>
              <a:ext uri="{FF2B5EF4-FFF2-40B4-BE49-F238E27FC236}">
                <a16:creationId xmlns:a16="http://schemas.microsoft.com/office/drawing/2014/main" id="{C36AF64B-2191-F246-F7CF-E7F4F8220EF8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C9D936B8-7990-6617-CBD9-F8B1AFD0644F}"/>
              </a:ext>
            </a:extLst>
          </p:cNvPr>
          <p:cNvGrpSpPr/>
          <p:nvPr/>
        </p:nvGrpSpPr>
        <p:grpSpPr>
          <a:xfrm>
            <a:off x="544849" y="1987375"/>
            <a:ext cx="8054302" cy="3820340"/>
            <a:chOff x="786966" y="1723902"/>
            <a:chExt cx="11862416" cy="5062886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BFF01C55-235E-8D3E-245B-1DA8FAE0433E}"/>
                </a:ext>
              </a:extLst>
            </p:cNvPr>
            <p:cNvSpPr/>
            <p:nvPr/>
          </p:nvSpPr>
          <p:spPr>
            <a:xfrm>
              <a:off x="804205" y="1723902"/>
              <a:ext cx="3944204" cy="392891"/>
            </a:xfrm>
            <a:prstGeom prst="roundRect">
              <a:avLst>
                <a:gd name="adj" fmla="val 50000"/>
              </a:avLst>
            </a:prstGeom>
            <a:solidFill>
              <a:srgbClr val="177DFA"/>
            </a:solidFill>
            <a:ln>
              <a:noFill/>
            </a:ln>
            <a:effectLst>
              <a:outerShdw blurRad="254000" dist="38100" dir="5400000" algn="t" rotWithShape="0">
                <a:schemeClr val="tx1">
                  <a:lumMod val="65000"/>
                  <a:lumOff val="3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64" rIns="180064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ko-KR" altLang="en-US" sz="1200" spc="-70" dirty="0">
                  <a:latin typeface="Paperlogy 6 SemiBold" pitchFamily="2" charset="-127"/>
                  <a:ea typeface="Paperlogy 6 SemiBold" pitchFamily="2" charset="-127"/>
                </a:rPr>
                <a:t>데이터 탐색 범위 향상</a:t>
              </a:r>
              <a:endParaRPr kumimoji="1" lang="en-US" altLang="ko-KR" sz="1200" spc="-70" dirty="0"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5900611-5C13-F8D2-686F-B2DD2E873B3E}"/>
                </a:ext>
              </a:extLst>
            </p:cNvPr>
            <p:cNvSpPr/>
            <p:nvPr/>
          </p:nvSpPr>
          <p:spPr>
            <a:xfrm>
              <a:off x="804205" y="2337922"/>
              <a:ext cx="3944202" cy="36824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5144CE4-4073-0911-A335-9ADE485FBA8C}"/>
                </a:ext>
              </a:extLst>
            </p:cNvPr>
            <p:cNvGrpSpPr/>
            <p:nvPr/>
          </p:nvGrpSpPr>
          <p:grpSpPr>
            <a:xfrm>
              <a:off x="956504" y="2488301"/>
              <a:ext cx="3672177" cy="144794"/>
              <a:chOff x="1148297" y="2401982"/>
              <a:chExt cx="4110210" cy="144000"/>
            </a:xfrm>
          </p:grpSpPr>
          <p:sp>
            <p:nvSpPr>
              <p:cNvPr id="17" name="이등변 삼각형 4">
                <a:extLst>
                  <a:ext uri="{FF2B5EF4-FFF2-40B4-BE49-F238E27FC236}">
                    <a16:creationId xmlns:a16="http://schemas.microsoft.com/office/drawing/2014/main" id="{906B29CE-A45C-AF9C-E283-2A4C326E14E3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" name="이등변 삼각형 63">
                <a:extLst>
                  <a:ext uri="{FF2B5EF4-FFF2-40B4-BE49-F238E27FC236}">
                    <a16:creationId xmlns:a16="http://schemas.microsoft.com/office/drawing/2014/main" id="{E86FE95F-7156-59BA-87FF-E22A39E1B59E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" name="이등변 삼각형 64">
                <a:extLst>
                  <a:ext uri="{FF2B5EF4-FFF2-40B4-BE49-F238E27FC236}">
                    <a16:creationId xmlns:a16="http://schemas.microsoft.com/office/drawing/2014/main" id="{653424D7-2872-1675-BCEF-E731C21FFBF5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" name="이등변 삼각형 65">
                <a:extLst>
                  <a:ext uri="{FF2B5EF4-FFF2-40B4-BE49-F238E27FC236}">
                    <a16:creationId xmlns:a16="http://schemas.microsoft.com/office/drawing/2014/main" id="{2403F91B-ECB1-0C99-EB02-0500F750C87A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" name="이등변 삼각형 66">
                <a:extLst>
                  <a:ext uri="{FF2B5EF4-FFF2-40B4-BE49-F238E27FC236}">
                    <a16:creationId xmlns:a16="http://schemas.microsoft.com/office/drawing/2014/main" id="{EEEFC39B-A73A-8F1D-FA10-D90B21553FA7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" name="이등변 삼각형 67">
                <a:extLst>
                  <a:ext uri="{FF2B5EF4-FFF2-40B4-BE49-F238E27FC236}">
                    <a16:creationId xmlns:a16="http://schemas.microsoft.com/office/drawing/2014/main" id="{20C0F56E-623C-9196-CEF6-65665DEE765B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" name="이등변 삼각형 68">
                <a:extLst>
                  <a:ext uri="{FF2B5EF4-FFF2-40B4-BE49-F238E27FC236}">
                    <a16:creationId xmlns:a16="http://schemas.microsoft.com/office/drawing/2014/main" id="{DE3CB139-35E6-270D-D065-0366DE28445C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" name="이등변 삼각형 69">
                <a:extLst>
                  <a:ext uri="{FF2B5EF4-FFF2-40B4-BE49-F238E27FC236}">
                    <a16:creationId xmlns:a16="http://schemas.microsoft.com/office/drawing/2014/main" id="{58447C88-5F4C-E9F1-A36C-05798BD1F327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" name="이등변 삼각형 70">
                <a:extLst>
                  <a:ext uri="{FF2B5EF4-FFF2-40B4-BE49-F238E27FC236}">
                    <a16:creationId xmlns:a16="http://schemas.microsoft.com/office/drawing/2014/main" id="{39364044-15E9-ABB0-42AC-857557A5EBE0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" name="이등변 삼각형 71">
                <a:extLst>
                  <a:ext uri="{FF2B5EF4-FFF2-40B4-BE49-F238E27FC236}">
                    <a16:creationId xmlns:a16="http://schemas.microsoft.com/office/drawing/2014/main" id="{CFA819BB-DDC1-974A-A134-12D73078EC0E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" name="이등변 삼각형 72">
                <a:extLst>
                  <a:ext uri="{FF2B5EF4-FFF2-40B4-BE49-F238E27FC236}">
                    <a16:creationId xmlns:a16="http://schemas.microsoft.com/office/drawing/2014/main" id="{9119BF75-37E3-E8C4-CDD8-968DDCC46B9F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" name="이등변 삼각형 73">
                <a:extLst>
                  <a:ext uri="{FF2B5EF4-FFF2-40B4-BE49-F238E27FC236}">
                    <a16:creationId xmlns:a16="http://schemas.microsoft.com/office/drawing/2014/main" id="{26646056-1284-7689-E8E7-C5E5E6B56D27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" name="이등변 삼각형 74">
                <a:extLst>
                  <a:ext uri="{FF2B5EF4-FFF2-40B4-BE49-F238E27FC236}">
                    <a16:creationId xmlns:a16="http://schemas.microsoft.com/office/drawing/2014/main" id="{76A4A186-121C-704C-62AE-4126574989E0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" name="이등변 삼각형 75">
                <a:extLst>
                  <a:ext uri="{FF2B5EF4-FFF2-40B4-BE49-F238E27FC236}">
                    <a16:creationId xmlns:a16="http://schemas.microsoft.com/office/drawing/2014/main" id="{001D5EDC-7953-E73E-6B5B-9C4FE45A6A54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" name="이등변 삼각형 76">
                <a:extLst>
                  <a:ext uri="{FF2B5EF4-FFF2-40B4-BE49-F238E27FC236}">
                    <a16:creationId xmlns:a16="http://schemas.microsoft.com/office/drawing/2014/main" id="{5DABF485-84E0-0A00-2CBC-C03246D3C497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" name="이등변 삼각형 77">
                <a:extLst>
                  <a:ext uri="{FF2B5EF4-FFF2-40B4-BE49-F238E27FC236}">
                    <a16:creationId xmlns:a16="http://schemas.microsoft.com/office/drawing/2014/main" id="{51B181DF-8103-B832-7DF1-32329E3BE821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" name="이등변 삼각형 78">
                <a:extLst>
                  <a:ext uri="{FF2B5EF4-FFF2-40B4-BE49-F238E27FC236}">
                    <a16:creationId xmlns:a16="http://schemas.microsoft.com/office/drawing/2014/main" id="{40B72DCB-C453-4A33-3663-92B0414D328D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4" name="이등변 삼각형 80">
                <a:extLst>
                  <a:ext uri="{FF2B5EF4-FFF2-40B4-BE49-F238E27FC236}">
                    <a16:creationId xmlns:a16="http://schemas.microsoft.com/office/drawing/2014/main" id="{76416174-26A4-A160-6563-87789B9A4938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5" name="이등변 삼각형 111">
                <a:extLst>
                  <a:ext uri="{FF2B5EF4-FFF2-40B4-BE49-F238E27FC236}">
                    <a16:creationId xmlns:a16="http://schemas.microsoft.com/office/drawing/2014/main" id="{E8C8696B-AAF3-65ED-A247-A077FF960258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6" name="이등변 삼각형 112">
                <a:extLst>
                  <a:ext uri="{FF2B5EF4-FFF2-40B4-BE49-F238E27FC236}">
                    <a16:creationId xmlns:a16="http://schemas.microsoft.com/office/drawing/2014/main" id="{30A4F17D-1FA1-3594-F1C8-53951CC85085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7" name="이등변 삼각형 113">
                <a:extLst>
                  <a:ext uri="{FF2B5EF4-FFF2-40B4-BE49-F238E27FC236}">
                    <a16:creationId xmlns:a16="http://schemas.microsoft.com/office/drawing/2014/main" id="{6AAACB27-9E72-E685-80AE-920CCD45362A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74411D7-8109-9A5D-2243-C279F678274C}"/>
                </a:ext>
              </a:extLst>
            </p:cNvPr>
            <p:cNvGrpSpPr/>
            <p:nvPr/>
          </p:nvGrpSpPr>
          <p:grpSpPr>
            <a:xfrm>
              <a:off x="956504" y="2740248"/>
              <a:ext cx="3672177" cy="144794"/>
              <a:chOff x="1148297" y="2401982"/>
              <a:chExt cx="4110210" cy="144000"/>
            </a:xfrm>
          </p:grpSpPr>
          <p:sp>
            <p:nvSpPr>
              <p:cNvPr id="41" name="이등변 삼각형 117">
                <a:extLst>
                  <a:ext uri="{FF2B5EF4-FFF2-40B4-BE49-F238E27FC236}">
                    <a16:creationId xmlns:a16="http://schemas.microsoft.com/office/drawing/2014/main" id="{1C4818B1-7BC3-5337-3309-74198606B773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42" name="이등변 삼각형 118">
                <a:extLst>
                  <a:ext uri="{FF2B5EF4-FFF2-40B4-BE49-F238E27FC236}">
                    <a16:creationId xmlns:a16="http://schemas.microsoft.com/office/drawing/2014/main" id="{18465BDA-1D83-F3C6-05F5-939B65809AC2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43" name="이등변 삼각형 120">
                <a:extLst>
                  <a:ext uri="{FF2B5EF4-FFF2-40B4-BE49-F238E27FC236}">
                    <a16:creationId xmlns:a16="http://schemas.microsoft.com/office/drawing/2014/main" id="{3F058291-C689-8AE0-F2E5-262FA1A6829A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44" name="이등변 삼각형 122">
                <a:extLst>
                  <a:ext uri="{FF2B5EF4-FFF2-40B4-BE49-F238E27FC236}">
                    <a16:creationId xmlns:a16="http://schemas.microsoft.com/office/drawing/2014/main" id="{5E6A56D3-98AB-ACC7-FA60-B7CA6C15FDCD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45" name="이등변 삼각형 123">
                <a:extLst>
                  <a:ext uri="{FF2B5EF4-FFF2-40B4-BE49-F238E27FC236}">
                    <a16:creationId xmlns:a16="http://schemas.microsoft.com/office/drawing/2014/main" id="{0CE30ECF-27D7-7067-E392-C540DB305BFD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0" name="이등변 삼각형 124">
                <a:extLst>
                  <a:ext uri="{FF2B5EF4-FFF2-40B4-BE49-F238E27FC236}">
                    <a16:creationId xmlns:a16="http://schemas.microsoft.com/office/drawing/2014/main" id="{FBF4D9A5-B7D2-4E65-0707-6235D4472178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1" name="이등변 삼각형 125">
                <a:extLst>
                  <a:ext uri="{FF2B5EF4-FFF2-40B4-BE49-F238E27FC236}">
                    <a16:creationId xmlns:a16="http://schemas.microsoft.com/office/drawing/2014/main" id="{19584998-F381-829E-66E8-5B97975D4715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2" name="이등변 삼각형 126">
                <a:extLst>
                  <a:ext uri="{FF2B5EF4-FFF2-40B4-BE49-F238E27FC236}">
                    <a16:creationId xmlns:a16="http://schemas.microsoft.com/office/drawing/2014/main" id="{32DDE845-74AA-3FE3-0C50-ACC29AD478E9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3" name="이등변 삼각형 127">
                <a:extLst>
                  <a:ext uri="{FF2B5EF4-FFF2-40B4-BE49-F238E27FC236}">
                    <a16:creationId xmlns:a16="http://schemas.microsoft.com/office/drawing/2014/main" id="{F432905B-33EA-CD9D-C956-C3FBE074122E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4" name="이등변 삼각형 128">
                <a:extLst>
                  <a:ext uri="{FF2B5EF4-FFF2-40B4-BE49-F238E27FC236}">
                    <a16:creationId xmlns:a16="http://schemas.microsoft.com/office/drawing/2014/main" id="{C78962FE-1AD8-F47B-FCCA-D5BD97B52AE4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5" name="이등변 삼각형 129">
                <a:extLst>
                  <a:ext uri="{FF2B5EF4-FFF2-40B4-BE49-F238E27FC236}">
                    <a16:creationId xmlns:a16="http://schemas.microsoft.com/office/drawing/2014/main" id="{479BD340-CF9F-D844-D46A-08CC4B0579AB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6" name="이등변 삼각형 130">
                <a:extLst>
                  <a:ext uri="{FF2B5EF4-FFF2-40B4-BE49-F238E27FC236}">
                    <a16:creationId xmlns:a16="http://schemas.microsoft.com/office/drawing/2014/main" id="{10F2E644-DEAE-E7BC-28BB-AF84D1621473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7" name="이등변 삼각형 131">
                <a:extLst>
                  <a:ext uri="{FF2B5EF4-FFF2-40B4-BE49-F238E27FC236}">
                    <a16:creationId xmlns:a16="http://schemas.microsoft.com/office/drawing/2014/main" id="{812AAEE1-19AA-6E9D-E1B3-4CA0A368A7C5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8" name="이등변 삼각형 132">
                <a:extLst>
                  <a:ext uri="{FF2B5EF4-FFF2-40B4-BE49-F238E27FC236}">
                    <a16:creationId xmlns:a16="http://schemas.microsoft.com/office/drawing/2014/main" id="{7892F814-7526-01FC-8873-92EF61F7154A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59" name="이등변 삼각형 133">
                <a:extLst>
                  <a:ext uri="{FF2B5EF4-FFF2-40B4-BE49-F238E27FC236}">
                    <a16:creationId xmlns:a16="http://schemas.microsoft.com/office/drawing/2014/main" id="{756F6247-1DF2-DFC3-8A12-648661B4BD42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0" name="이등변 삼각형 134">
                <a:extLst>
                  <a:ext uri="{FF2B5EF4-FFF2-40B4-BE49-F238E27FC236}">
                    <a16:creationId xmlns:a16="http://schemas.microsoft.com/office/drawing/2014/main" id="{0A1B1F83-8185-E36B-EB47-7EA7AD420C5A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1" name="이등변 삼각형 135">
                <a:extLst>
                  <a:ext uri="{FF2B5EF4-FFF2-40B4-BE49-F238E27FC236}">
                    <a16:creationId xmlns:a16="http://schemas.microsoft.com/office/drawing/2014/main" id="{35316F72-F3F3-2835-05C0-48FD1E88C262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2" name="이등변 삼각형 136">
                <a:extLst>
                  <a:ext uri="{FF2B5EF4-FFF2-40B4-BE49-F238E27FC236}">
                    <a16:creationId xmlns:a16="http://schemas.microsoft.com/office/drawing/2014/main" id="{63887722-6015-A5EF-34E5-45C38D135619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3" name="이등변 삼각형 137">
                <a:extLst>
                  <a:ext uri="{FF2B5EF4-FFF2-40B4-BE49-F238E27FC236}">
                    <a16:creationId xmlns:a16="http://schemas.microsoft.com/office/drawing/2014/main" id="{917BCA84-B7CB-B8BE-9278-2D3803963C24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4" name="이등변 삼각형 138">
                <a:extLst>
                  <a:ext uri="{FF2B5EF4-FFF2-40B4-BE49-F238E27FC236}">
                    <a16:creationId xmlns:a16="http://schemas.microsoft.com/office/drawing/2014/main" id="{EE9A8445-66FC-CAA6-3F2D-D08CEFB51725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5" name="이등변 삼각형 139">
                <a:extLst>
                  <a:ext uri="{FF2B5EF4-FFF2-40B4-BE49-F238E27FC236}">
                    <a16:creationId xmlns:a16="http://schemas.microsoft.com/office/drawing/2014/main" id="{FE4481BC-0BB8-0D07-A547-3930D5464879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565C9741-971E-4A77-83E9-0E7AA06AB5E4}"/>
                </a:ext>
              </a:extLst>
            </p:cNvPr>
            <p:cNvGrpSpPr/>
            <p:nvPr/>
          </p:nvGrpSpPr>
          <p:grpSpPr>
            <a:xfrm>
              <a:off x="956504" y="2992195"/>
              <a:ext cx="3672177" cy="144794"/>
              <a:chOff x="1148297" y="2401982"/>
              <a:chExt cx="4110210" cy="144000"/>
            </a:xfrm>
          </p:grpSpPr>
          <p:sp>
            <p:nvSpPr>
              <p:cNvPr id="67" name="이등변 삼각형 141">
                <a:extLst>
                  <a:ext uri="{FF2B5EF4-FFF2-40B4-BE49-F238E27FC236}">
                    <a16:creationId xmlns:a16="http://schemas.microsoft.com/office/drawing/2014/main" id="{91D1BD26-0A84-AA4F-91EA-0C7929CC9CA3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8" name="이등변 삼각형 142">
                <a:extLst>
                  <a:ext uri="{FF2B5EF4-FFF2-40B4-BE49-F238E27FC236}">
                    <a16:creationId xmlns:a16="http://schemas.microsoft.com/office/drawing/2014/main" id="{8C8C750D-01F9-AC70-6456-FF77C49AD380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9" name="이등변 삼각형 143">
                <a:extLst>
                  <a:ext uri="{FF2B5EF4-FFF2-40B4-BE49-F238E27FC236}">
                    <a16:creationId xmlns:a16="http://schemas.microsoft.com/office/drawing/2014/main" id="{BC422525-E417-FCD4-3EF6-9E18B05DB1DE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0" name="이등변 삼각형 144">
                <a:extLst>
                  <a:ext uri="{FF2B5EF4-FFF2-40B4-BE49-F238E27FC236}">
                    <a16:creationId xmlns:a16="http://schemas.microsoft.com/office/drawing/2014/main" id="{F9D300E6-6102-7507-9426-C597DA351EEE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1" name="이등변 삼각형 145">
                <a:extLst>
                  <a:ext uri="{FF2B5EF4-FFF2-40B4-BE49-F238E27FC236}">
                    <a16:creationId xmlns:a16="http://schemas.microsoft.com/office/drawing/2014/main" id="{E1F639A2-DBD7-5AC1-3A00-0DCDBA7F0687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2" name="이등변 삼각형 147">
                <a:extLst>
                  <a:ext uri="{FF2B5EF4-FFF2-40B4-BE49-F238E27FC236}">
                    <a16:creationId xmlns:a16="http://schemas.microsoft.com/office/drawing/2014/main" id="{D3EBC8E4-4ADA-0D39-5C87-AA04969EB5E7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3" name="이등변 삼각형 148">
                <a:extLst>
                  <a:ext uri="{FF2B5EF4-FFF2-40B4-BE49-F238E27FC236}">
                    <a16:creationId xmlns:a16="http://schemas.microsoft.com/office/drawing/2014/main" id="{3753B4B1-008A-0BED-8283-CDD273E57154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4" name="이등변 삼각형 155">
                <a:extLst>
                  <a:ext uri="{FF2B5EF4-FFF2-40B4-BE49-F238E27FC236}">
                    <a16:creationId xmlns:a16="http://schemas.microsoft.com/office/drawing/2014/main" id="{381C1439-3735-242A-CE73-12528261759F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5" name="이등변 삼각형 156">
                <a:extLst>
                  <a:ext uri="{FF2B5EF4-FFF2-40B4-BE49-F238E27FC236}">
                    <a16:creationId xmlns:a16="http://schemas.microsoft.com/office/drawing/2014/main" id="{351CA794-4193-303D-CE0E-2FC6CB689B25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6" name="이등변 삼각형 157">
                <a:extLst>
                  <a:ext uri="{FF2B5EF4-FFF2-40B4-BE49-F238E27FC236}">
                    <a16:creationId xmlns:a16="http://schemas.microsoft.com/office/drawing/2014/main" id="{5CFD0808-4220-9D95-E7F6-CC6A93DC5743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7" name="이등변 삼각형 158">
                <a:extLst>
                  <a:ext uri="{FF2B5EF4-FFF2-40B4-BE49-F238E27FC236}">
                    <a16:creationId xmlns:a16="http://schemas.microsoft.com/office/drawing/2014/main" id="{B82721E7-7437-8417-7003-528CD4DD6AA6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8" name="이등변 삼각형 159">
                <a:extLst>
                  <a:ext uri="{FF2B5EF4-FFF2-40B4-BE49-F238E27FC236}">
                    <a16:creationId xmlns:a16="http://schemas.microsoft.com/office/drawing/2014/main" id="{45665A06-7C14-FA59-788C-74EAA8022C68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79" name="이등변 삼각형 160">
                <a:extLst>
                  <a:ext uri="{FF2B5EF4-FFF2-40B4-BE49-F238E27FC236}">
                    <a16:creationId xmlns:a16="http://schemas.microsoft.com/office/drawing/2014/main" id="{8619DF3B-40DF-BACF-C248-4516DCAF35F6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0" name="이등변 삼각형 161">
                <a:extLst>
                  <a:ext uri="{FF2B5EF4-FFF2-40B4-BE49-F238E27FC236}">
                    <a16:creationId xmlns:a16="http://schemas.microsoft.com/office/drawing/2014/main" id="{953A80FA-E86A-1E16-1B65-01E4C4B1293E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1" name="이등변 삼각형 162">
                <a:extLst>
                  <a:ext uri="{FF2B5EF4-FFF2-40B4-BE49-F238E27FC236}">
                    <a16:creationId xmlns:a16="http://schemas.microsoft.com/office/drawing/2014/main" id="{F01989C4-0102-60B7-5B62-B265E0F94A1B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2" name="이등변 삼각형 163">
                <a:extLst>
                  <a:ext uri="{FF2B5EF4-FFF2-40B4-BE49-F238E27FC236}">
                    <a16:creationId xmlns:a16="http://schemas.microsoft.com/office/drawing/2014/main" id="{309813F7-E588-BE9F-5CDC-6978CF4A396F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3" name="이등변 삼각형 164">
                <a:extLst>
                  <a:ext uri="{FF2B5EF4-FFF2-40B4-BE49-F238E27FC236}">
                    <a16:creationId xmlns:a16="http://schemas.microsoft.com/office/drawing/2014/main" id="{AE350A82-89BA-54D6-7146-AAE7FE8A762B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4" name="이등변 삼각형 165">
                <a:extLst>
                  <a:ext uri="{FF2B5EF4-FFF2-40B4-BE49-F238E27FC236}">
                    <a16:creationId xmlns:a16="http://schemas.microsoft.com/office/drawing/2014/main" id="{CA7695AA-05A6-81C1-B856-C018C0F6189B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5" name="이등변 삼각형 166">
                <a:extLst>
                  <a:ext uri="{FF2B5EF4-FFF2-40B4-BE49-F238E27FC236}">
                    <a16:creationId xmlns:a16="http://schemas.microsoft.com/office/drawing/2014/main" id="{6A0A4DA1-E35F-1291-83AE-9E85CEC80BDE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7" name="이등변 삼각형 167">
                <a:extLst>
                  <a:ext uri="{FF2B5EF4-FFF2-40B4-BE49-F238E27FC236}">
                    <a16:creationId xmlns:a16="http://schemas.microsoft.com/office/drawing/2014/main" id="{500FCCF1-CB37-F2F1-2675-FEE5627E4A31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88" name="이등변 삼각형 168">
                <a:extLst>
                  <a:ext uri="{FF2B5EF4-FFF2-40B4-BE49-F238E27FC236}">
                    <a16:creationId xmlns:a16="http://schemas.microsoft.com/office/drawing/2014/main" id="{2CD4ACD7-A43F-510A-1372-EBD72032D94A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4F5A231D-EBC5-7991-D410-14DE64CF1AA4}"/>
                </a:ext>
              </a:extLst>
            </p:cNvPr>
            <p:cNvGrpSpPr/>
            <p:nvPr/>
          </p:nvGrpSpPr>
          <p:grpSpPr>
            <a:xfrm>
              <a:off x="956504" y="3244143"/>
              <a:ext cx="3672177" cy="144794"/>
              <a:chOff x="1148297" y="2401982"/>
              <a:chExt cx="4110210" cy="144000"/>
            </a:xfrm>
          </p:grpSpPr>
          <p:sp>
            <p:nvSpPr>
              <p:cNvPr id="90" name="이등변 삼각형 170">
                <a:extLst>
                  <a:ext uri="{FF2B5EF4-FFF2-40B4-BE49-F238E27FC236}">
                    <a16:creationId xmlns:a16="http://schemas.microsoft.com/office/drawing/2014/main" id="{CCFAC24E-D50B-7917-2463-A08395C3ADE6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1" name="이등변 삼각형 171">
                <a:extLst>
                  <a:ext uri="{FF2B5EF4-FFF2-40B4-BE49-F238E27FC236}">
                    <a16:creationId xmlns:a16="http://schemas.microsoft.com/office/drawing/2014/main" id="{BE14F67D-2093-237C-D1A0-03B83F37FE7A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2" name="이등변 삼각형 172">
                <a:extLst>
                  <a:ext uri="{FF2B5EF4-FFF2-40B4-BE49-F238E27FC236}">
                    <a16:creationId xmlns:a16="http://schemas.microsoft.com/office/drawing/2014/main" id="{880BADBB-1E92-E0A3-DE05-99852BC808AC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3" name="이등변 삼각형 173">
                <a:extLst>
                  <a:ext uri="{FF2B5EF4-FFF2-40B4-BE49-F238E27FC236}">
                    <a16:creationId xmlns:a16="http://schemas.microsoft.com/office/drawing/2014/main" id="{8606336F-B31C-A156-C7FC-FD06472A48A2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4" name="이등변 삼각형 174">
                <a:extLst>
                  <a:ext uri="{FF2B5EF4-FFF2-40B4-BE49-F238E27FC236}">
                    <a16:creationId xmlns:a16="http://schemas.microsoft.com/office/drawing/2014/main" id="{5D444413-BA66-EF76-99FB-721848A90E2F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5" name="이등변 삼각형 175">
                <a:extLst>
                  <a:ext uri="{FF2B5EF4-FFF2-40B4-BE49-F238E27FC236}">
                    <a16:creationId xmlns:a16="http://schemas.microsoft.com/office/drawing/2014/main" id="{77D6D32F-26F2-E56C-B140-536EDE7C8A38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6" name="이등변 삼각형 176">
                <a:extLst>
                  <a:ext uri="{FF2B5EF4-FFF2-40B4-BE49-F238E27FC236}">
                    <a16:creationId xmlns:a16="http://schemas.microsoft.com/office/drawing/2014/main" id="{6A7FE71C-8665-0805-7D57-4756AFA8257A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7" name="이등변 삼각형 177">
                <a:extLst>
                  <a:ext uri="{FF2B5EF4-FFF2-40B4-BE49-F238E27FC236}">
                    <a16:creationId xmlns:a16="http://schemas.microsoft.com/office/drawing/2014/main" id="{05B1455A-7760-ACAD-AB74-55006698E41F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8" name="이등변 삼각형 178">
                <a:extLst>
                  <a:ext uri="{FF2B5EF4-FFF2-40B4-BE49-F238E27FC236}">
                    <a16:creationId xmlns:a16="http://schemas.microsoft.com/office/drawing/2014/main" id="{E9969E20-10B2-C999-FDCE-E8F794BA4661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99" name="이등변 삼각형 179">
                <a:extLst>
                  <a:ext uri="{FF2B5EF4-FFF2-40B4-BE49-F238E27FC236}">
                    <a16:creationId xmlns:a16="http://schemas.microsoft.com/office/drawing/2014/main" id="{8FE7B169-825C-8D02-15B6-C146C7401B61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0" name="이등변 삼각형 180">
                <a:extLst>
                  <a:ext uri="{FF2B5EF4-FFF2-40B4-BE49-F238E27FC236}">
                    <a16:creationId xmlns:a16="http://schemas.microsoft.com/office/drawing/2014/main" id="{55A99555-1355-B61D-ABAF-591F0F6F764D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1" name="이등변 삼각형 181">
                <a:extLst>
                  <a:ext uri="{FF2B5EF4-FFF2-40B4-BE49-F238E27FC236}">
                    <a16:creationId xmlns:a16="http://schemas.microsoft.com/office/drawing/2014/main" id="{D7281FFF-9C2D-39DB-7966-CBE5B17836BA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2" name="이등변 삼각형 182">
                <a:extLst>
                  <a:ext uri="{FF2B5EF4-FFF2-40B4-BE49-F238E27FC236}">
                    <a16:creationId xmlns:a16="http://schemas.microsoft.com/office/drawing/2014/main" id="{ECE687B0-7B70-5DBA-0304-951221A41700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3" name="이등변 삼각형 183">
                <a:extLst>
                  <a:ext uri="{FF2B5EF4-FFF2-40B4-BE49-F238E27FC236}">
                    <a16:creationId xmlns:a16="http://schemas.microsoft.com/office/drawing/2014/main" id="{92F2C7CE-1E69-8E77-42C1-8C51D1C8A47D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4" name="이등변 삼각형 184">
                <a:extLst>
                  <a:ext uri="{FF2B5EF4-FFF2-40B4-BE49-F238E27FC236}">
                    <a16:creationId xmlns:a16="http://schemas.microsoft.com/office/drawing/2014/main" id="{95BB6F6B-ADC5-350A-9E48-4F47C3394E5B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5" name="이등변 삼각형 185">
                <a:extLst>
                  <a:ext uri="{FF2B5EF4-FFF2-40B4-BE49-F238E27FC236}">
                    <a16:creationId xmlns:a16="http://schemas.microsoft.com/office/drawing/2014/main" id="{09713A05-5D28-C99C-A831-0D32E6D70786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6" name="이등변 삼각형 186">
                <a:extLst>
                  <a:ext uri="{FF2B5EF4-FFF2-40B4-BE49-F238E27FC236}">
                    <a16:creationId xmlns:a16="http://schemas.microsoft.com/office/drawing/2014/main" id="{5B329342-D0AD-924C-2A2F-CCFA5FF74D4F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7" name="이등변 삼각형 187">
                <a:extLst>
                  <a:ext uri="{FF2B5EF4-FFF2-40B4-BE49-F238E27FC236}">
                    <a16:creationId xmlns:a16="http://schemas.microsoft.com/office/drawing/2014/main" id="{8E513DF2-FBA4-1D72-1E7A-4B57ED0D73FD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08" name="이등변 삼각형 188">
                <a:extLst>
                  <a:ext uri="{FF2B5EF4-FFF2-40B4-BE49-F238E27FC236}">
                    <a16:creationId xmlns:a16="http://schemas.microsoft.com/office/drawing/2014/main" id="{4D8D70C0-3F7C-9701-E9AF-83850138F2C6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15" name="이등변 삼각형 189">
                <a:extLst>
                  <a:ext uri="{FF2B5EF4-FFF2-40B4-BE49-F238E27FC236}">
                    <a16:creationId xmlns:a16="http://schemas.microsoft.com/office/drawing/2014/main" id="{3E5FF7CC-8F4C-E69A-8878-96CE3721B408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16" name="이등변 삼각형 190">
                <a:extLst>
                  <a:ext uri="{FF2B5EF4-FFF2-40B4-BE49-F238E27FC236}">
                    <a16:creationId xmlns:a16="http://schemas.microsoft.com/office/drawing/2014/main" id="{9320A512-FAD9-B499-867F-2A0A65EA73B9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EF4788E8-549D-3948-4EC9-2B199C6F8EE9}"/>
                </a:ext>
              </a:extLst>
            </p:cNvPr>
            <p:cNvGrpSpPr/>
            <p:nvPr/>
          </p:nvGrpSpPr>
          <p:grpSpPr>
            <a:xfrm>
              <a:off x="956504" y="3496090"/>
              <a:ext cx="3672177" cy="144794"/>
              <a:chOff x="1148297" y="2401982"/>
              <a:chExt cx="4110210" cy="144000"/>
            </a:xfrm>
          </p:grpSpPr>
          <p:sp>
            <p:nvSpPr>
              <p:cNvPr id="118" name="이등변 삼각형 192">
                <a:extLst>
                  <a:ext uri="{FF2B5EF4-FFF2-40B4-BE49-F238E27FC236}">
                    <a16:creationId xmlns:a16="http://schemas.microsoft.com/office/drawing/2014/main" id="{761E93BC-BFC2-E095-0235-EDB146EF8C6E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19" name="이등변 삼각형 193">
                <a:extLst>
                  <a:ext uri="{FF2B5EF4-FFF2-40B4-BE49-F238E27FC236}">
                    <a16:creationId xmlns:a16="http://schemas.microsoft.com/office/drawing/2014/main" id="{BCE90144-9CE1-036B-3E94-B8070C6C1AEE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0" name="이등변 삼각형 194">
                <a:extLst>
                  <a:ext uri="{FF2B5EF4-FFF2-40B4-BE49-F238E27FC236}">
                    <a16:creationId xmlns:a16="http://schemas.microsoft.com/office/drawing/2014/main" id="{C814A111-A469-FED3-C981-887A2F182C28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1" name="이등변 삼각형 195">
                <a:extLst>
                  <a:ext uri="{FF2B5EF4-FFF2-40B4-BE49-F238E27FC236}">
                    <a16:creationId xmlns:a16="http://schemas.microsoft.com/office/drawing/2014/main" id="{6F60D578-DCF8-791A-5E50-A215E983294B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2" name="이등변 삼각형 196">
                <a:extLst>
                  <a:ext uri="{FF2B5EF4-FFF2-40B4-BE49-F238E27FC236}">
                    <a16:creationId xmlns:a16="http://schemas.microsoft.com/office/drawing/2014/main" id="{9F64741E-1A27-C416-5F68-F7374151E501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3" name="이등변 삼각형 197">
                <a:extLst>
                  <a:ext uri="{FF2B5EF4-FFF2-40B4-BE49-F238E27FC236}">
                    <a16:creationId xmlns:a16="http://schemas.microsoft.com/office/drawing/2014/main" id="{E4B3F4AE-B79D-0A70-C8F6-40CF1B7E5B10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4" name="이등변 삼각형 198">
                <a:extLst>
                  <a:ext uri="{FF2B5EF4-FFF2-40B4-BE49-F238E27FC236}">
                    <a16:creationId xmlns:a16="http://schemas.microsoft.com/office/drawing/2014/main" id="{76BF8DCF-F3D8-E335-C246-B4CCA6702171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5" name="이등변 삼각형 199">
                <a:extLst>
                  <a:ext uri="{FF2B5EF4-FFF2-40B4-BE49-F238E27FC236}">
                    <a16:creationId xmlns:a16="http://schemas.microsoft.com/office/drawing/2014/main" id="{BDD3D2E4-0804-1E25-8D2D-14E61C55151A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6" name="이등변 삼각형 200">
                <a:extLst>
                  <a:ext uri="{FF2B5EF4-FFF2-40B4-BE49-F238E27FC236}">
                    <a16:creationId xmlns:a16="http://schemas.microsoft.com/office/drawing/2014/main" id="{BA665B3C-CB72-ACA9-B28C-D7D44D4A2FFE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7" name="이등변 삼각형 201">
                <a:extLst>
                  <a:ext uri="{FF2B5EF4-FFF2-40B4-BE49-F238E27FC236}">
                    <a16:creationId xmlns:a16="http://schemas.microsoft.com/office/drawing/2014/main" id="{11CA8803-4FF2-03D7-2663-5A57CD7E187B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8" name="이등변 삼각형 202">
                <a:extLst>
                  <a:ext uri="{FF2B5EF4-FFF2-40B4-BE49-F238E27FC236}">
                    <a16:creationId xmlns:a16="http://schemas.microsoft.com/office/drawing/2014/main" id="{CC089F76-CF80-C740-52D5-FDDE6232967B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29" name="이등변 삼각형 203">
                <a:extLst>
                  <a:ext uri="{FF2B5EF4-FFF2-40B4-BE49-F238E27FC236}">
                    <a16:creationId xmlns:a16="http://schemas.microsoft.com/office/drawing/2014/main" id="{EBCB4FCE-9E3E-4CF0-2EAB-D9AB07B2EC7C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0" name="이등변 삼각형 204">
                <a:extLst>
                  <a:ext uri="{FF2B5EF4-FFF2-40B4-BE49-F238E27FC236}">
                    <a16:creationId xmlns:a16="http://schemas.microsoft.com/office/drawing/2014/main" id="{012C9902-05AE-E97B-E2CB-70D486C83545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1" name="이등변 삼각형 205">
                <a:extLst>
                  <a:ext uri="{FF2B5EF4-FFF2-40B4-BE49-F238E27FC236}">
                    <a16:creationId xmlns:a16="http://schemas.microsoft.com/office/drawing/2014/main" id="{20114532-D3FC-764C-7164-D7221286F28C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2" name="이등변 삼각형 206">
                <a:extLst>
                  <a:ext uri="{FF2B5EF4-FFF2-40B4-BE49-F238E27FC236}">
                    <a16:creationId xmlns:a16="http://schemas.microsoft.com/office/drawing/2014/main" id="{036CF380-9A4F-CD9C-109D-8C96A8FB6818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3" name="이등변 삼각형 207">
                <a:extLst>
                  <a:ext uri="{FF2B5EF4-FFF2-40B4-BE49-F238E27FC236}">
                    <a16:creationId xmlns:a16="http://schemas.microsoft.com/office/drawing/2014/main" id="{10E9C543-085D-600D-3A21-0FAB0CBA9986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4" name="이등변 삼각형 208">
                <a:extLst>
                  <a:ext uri="{FF2B5EF4-FFF2-40B4-BE49-F238E27FC236}">
                    <a16:creationId xmlns:a16="http://schemas.microsoft.com/office/drawing/2014/main" id="{BB90181D-D994-A26B-46E7-552B6166A3AA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5" name="이등변 삼각형 209">
                <a:extLst>
                  <a:ext uri="{FF2B5EF4-FFF2-40B4-BE49-F238E27FC236}">
                    <a16:creationId xmlns:a16="http://schemas.microsoft.com/office/drawing/2014/main" id="{41F97D62-107D-0DE4-07B8-737031534121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6" name="이등변 삼각형 210">
                <a:extLst>
                  <a:ext uri="{FF2B5EF4-FFF2-40B4-BE49-F238E27FC236}">
                    <a16:creationId xmlns:a16="http://schemas.microsoft.com/office/drawing/2014/main" id="{699CF8DE-CDF9-26C4-7C25-2B90CBA739C3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7" name="이등변 삼각형 211">
                <a:extLst>
                  <a:ext uri="{FF2B5EF4-FFF2-40B4-BE49-F238E27FC236}">
                    <a16:creationId xmlns:a16="http://schemas.microsoft.com/office/drawing/2014/main" id="{AE38A84B-8C8D-798B-57E5-73062BEE5C95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38" name="이등변 삼각형 212">
                <a:extLst>
                  <a:ext uri="{FF2B5EF4-FFF2-40B4-BE49-F238E27FC236}">
                    <a16:creationId xmlns:a16="http://schemas.microsoft.com/office/drawing/2014/main" id="{89B37DBA-A698-C4ED-FD14-A320B2472DD6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E253BD0B-6885-0896-AB40-92BFE6C66D18}"/>
                </a:ext>
              </a:extLst>
            </p:cNvPr>
            <p:cNvGrpSpPr/>
            <p:nvPr/>
          </p:nvGrpSpPr>
          <p:grpSpPr>
            <a:xfrm>
              <a:off x="956504" y="3748038"/>
              <a:ext cx="3672177" cy="144794"/>
              <a:chOff x="1148297" y="2401982"/>
              <a:chExt cx="4110210" cy="144000"/>
            </a:xfrm>
          </p:grpSpPr>
          <p:sp>
            <p:nvSpPr>
              <p:cNvPr id="140" name="이등변 삼각형 214">
                <a:extLst>
                  <a:ext uri="{FF2B5EF4-FFF2-40B4-BE49-F238E27FC236}">
                    <a16:creationId xmlns:a16="http://schemas.microsoft.com/office/drawing/2014/main" id="{503B1E95-6B09-8F52-FBD1-06995A9A63CA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1" name="이등변 삼각형 215">
                <a:extLst>
                  <a:ext uri="{FF2B5EF4-FFF2-40B4-BE49-F238E27FC236}">
                    <a16:creationId xmlns:a16="http://schemas.microsoft.com/office/drawing/2014/main" id="{9ABB7E7A-897B-8AA9-8031-C59A37F08849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2" name="이등변 삼각형 216">
                <a:extLst>
                  <a:ext uri="{FF2B5EF4-FFF2-40B4-BE49-F238E27FC236}">
                    <a16:creationId xmlns:a16="http://schemas.microsoft.com/office/drawing/2014/main" id="{CEE86D98-F7BA-7B6B-D46A-DBA91996BAA0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3" name="이등변 삼각형 217">
                <a:extLst>
                  <a:ext uri="{FF2B5EF4-FFF2-40B4-BE49-F238E27FC236}">
                    <a16:creationId xmlns:a16="http://schemas.microsoft.com/office/drawing/2014/main" id="{5DB62D30-1570-ADE5-A91A-B5F0B43CEE59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4" name="이등변 삼각형 218">
                <a:extLst>
                  <a:ext uri="{FF2B5EF4-FFF2-40B4-BE49-F238E27FC236}">
                    <a16:creationId xmlns:a16="http://schemas.microsoft.com/office/drawing/2014/main" id="{477104B2-9FD4-78CE-5F49-D86A27749DC7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5" name="이등변 삼각형 219">
                <a:extLst>
                  <a:ext uri="{FF2B5EF4-FFF2-40B4-BE49-F238E27FC236}">
                    <a16:creationId xmlns:a16="http://schemas.microsoft.com/office/drawing/2014/main" id="{DB867D05-67CE-1EE4-7635-5F7B5D182B8D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6" name="이등변 삼각형 220">
                <a:extLst>
                  <a:ext uri="{FF2B5EF4-FFF2-40B4-BE49-F238E27FC236}">
                    <a16:creationId xmlns:a16="http://schemas.microsoft.com/office/drawing/2014/main" id="{A5459AF2-D65D-AA4A-5687-EC238C6D6A01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7" name="이등변 삼각형 221">
                <a:extLst>
                  <a:ext uri="{FF2B5EF4-FFF2-40B4-BE49-F238E27FC236}">
                    <a16:creationId xmlns:a16="http://schemas.microsoft.com/office/drawing/2014/main" id="{338F64EB-50D8-B8B5-54B6-BAE4192459F2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8" name="이등변 삼각형 222">
                <a:extLst>
                  <a:ext uri="{FF2B5EF4-FFF2-40B4-BE49-F238E27FC236}">
                    <a16:creationId xmlns:a16="http://schemas.microsoft.com/office/drawing/2014/main" id="{6012BB46-589E-3427-B2F9-DAA6C2ED4F3C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49" name="이등변 삼각형 223">
                <a:extLst>
                  <a:ext uri="{FF2B5EF4-FFF2-40B4-BE49-F238E27FC236}">
                    <a16:creationId xmlns:a16="http://schemas.microsoft.com/office/drawing/2014/main" id="{5CA05865-4ED4-1B45-0E7B-A1EC0CBF5AAC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0" name="이등변 삼각형 224">
                <a:extLst>
                  <a:ext uri="{FF2B5EF4-FFF2-40B4-BE49-F238E27FC236}">
                    <a16:creationId xmlns:a16="http://schemas.microsoft.com/office/drawing/2014/main" id="{90380500-14A9-34C4-D96B-E55E9C609094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1" name="이등변 삼각형 225">
                <a:extLst>
                  <a:ext uri="{FF2B5EF4-FFF2-40B4-BE49-F238E27FC236}">
                    <a16:creationId xmlns:a16="http://schemas.microsoft.com/office/drawing/2014/main" id="{F7BB1924-C595-A64A-0503-95BD4D0EED2B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2" name="이등변 삼각형 226">
                <a:extLst>
                  <a:ext uri="{FF2B5EF4-FFF2-40B4-BE49-F238E27FC236}">
                    <a16:creationId xmlns:a16="http://schemas.microsoft.com/office/drawing/2014/main" id="{16AC14E5-BE7D-841E-307F-EE5D270B2F23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3" name="이등변 삼각형 227">
                <a:extLst>
                  <a:ext uri="{FF2B5EF4-FFF2-40B4-BE49-F238E27FC236}">
                    <a16:creationId xmlns:a16="http://schemas.microsoft.com/office/drawing/2014/main" id="{8B707429-0DDD-FCB7-DAE6-94E9CC8D4E22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4" name="이등변 삼각형 228">
                <a:extLst>
                  <a:ext uri="{FF2B5EF4-FFF2-40B4-BE49-F238E27FC236}">
                    <a16:creationId xmlns:a16="http://schemas.microsoft.com/office/drawing/2014/main" id="{28EF0187-BF64-BE96-D9AA-46B3312F39B2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5" name="이등변 삼각형 229">
                <a:extLst>
                  <a:ext uri="{FF2B5EF4-FFF2-40B4-BE49-F238E27FC236}">
                    <a16:creationId xmlns:a16="http://schemas.microsoft.com/office/drawing/2014/main" id="{4DD83695-729B-C9FC-3C4E-B3DB236B370B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6" name="이등변 삼각형 230">
                <a:extLst>
                  <a:ext uri="{FF2B5EF4-FFF2-40B4-BE49-F238E27FC236}">
                    <a16:creationId xmlns:a16="http://schemas.microsoft.com/office/drawing/2014/main" id="{A03A3C02-4E75-88BE-0203-F509065AA3EB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7" name="이등변 삼각형 231">
                <a:extLst>
                  <a:ext uri="{FF2B5EF4-FFF2-40B4-BE49-F238E27FC236}">
                    <a16:creationId xmlns:a16="http://schemas.microsoft.com/office/drawing/2014/main" id="{1EFF918D-5AB7-E1F6-2EBF-B49E1EAFA368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8" name="이등변 삼각형 232">
                <a:extLst>
                  <a:ext uri="{FF2B5EF4-FFF2-40B4-BE49-F238E27FC236}">
                    <a16:creationId xmlns:a16="http://schemas.microsoft.com/office/drawing/2014/main" id="{8A0ECE66-7C58-A9AD-BD31-ED65EEC45FA6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59" name="이등변 삼각형 233">
                <a:extLst>
                  <a:ext uri="{FF2B5EF4-FFF2-40B4-BE49-F238E27FC236}">
                    <a16:creationId xmlns:a16="http://schemas.microsoft.com/office/drawing/2014/main" id="{6F19D68D-C48A-34F5-AA25-940D27507130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0" name="이등변 삼각형 234">
                <a:extLst>
                  <a:ext uri="{FF2B5EF4-FFF2-40B4-BE49-F238E27FC236}">
                    <a16:creationId xmlns:a16="http://schemas.microsoft.com/office/drawing/2014/main" id="{4C2BBB31-29A3-B2BB-5096-5ECF93D2F374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DC165724-CE74-ABEF-4E1E-41952FA274D9}"/>
                </a:ext>
              </a:extLst>
            </p:cNvPr>
            <p:cNvGrpSpPr/>
            <p:nvPr/>
          </p:nvGrpSpPr>
          <p:grpSpPr>
            <a:xfrm>
              <a:off x="956504" y="3999985"/>
              <a:ext cx="3672177" cy="144794"/>
              <a:chOff x="1148297" y="2401982"/>
              <a:chExt cx="4110210" cy="144000"/>
            </a:xfrm>
          </p:grpSpPr>
          <p:sp>
            <p:nvSpPr>
              <p:cNvPr id="162" name="이등변 삼각형 236">
                <a:extLst>
                  <a:ext uri="{FF2B5EF4-FFF2-40B4-BE49-F238E27FC236}">
                    <a16:creationId xmlns:a16="http://schemas.microsoft.com/office/drawing/2014/main" id="{2A05771C-F062-65F7-6719-5CABEEBC82E8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3" name="이등변 삼각형 237">
                <a:extLst>
                  <a:ext uri="{FF2B5EF4-FFF2-40B4-BE49-F238E27FC236}">
                    <a16:creationId xmlns:a16="http://schemas.microsoft.com/office/drawing/2014/main" id="{9A32B623-58E5-1958-AD91-C51B563EB1E0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4" name="이등변 삼각형 238">
                <a:extLst>
                  <a:ext uri="{FF2B5EF4-FFF2-40B4-BE49-F238E27FC236}">
                    <a16:creationId xmlns:a16="http://schemas.microsoft.com/office/drawing/2014/main" id="{F4D70F7F-D1B5-1281-41AA-24E402C20DBA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5" name="이등변 삼각형 239">
                <a:extLst>
                  <a:ext uri="{FF2B5EF4-FFF2-40B4-BE49-F238E27FC236}">
                    <a16:creationId xmlns:a16="http://schemas.microsoft.com/office/drawing/2014/main" id="{DDB4CC22-0672-0BA7-1964-93493139C20A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6" name="이등변 삼각형 240">
                <a:extLst>
                  <a:ext uri="{FF2B5EF4-FFF2-40B4-BE49-F238E27FC236}">
                    <a16:creationId xmlns:a16="http://schemas.microsoft.com/office/drawing/2014/main" id="{62B1EF84-2633-DDC0-6930-EEE423E7371D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7" name="이등변 삼각형 241">
                <a:extLst>
                  <a:ext uri="{FF2B5EF4-FFF2-40B4-BE49-F238E27FC236}">
                    <a16:creationId xmlns:a16="http://schemas.microsoft.com/office/drawing/2014/main" id="{20359E4D-F894-8B22-1804-DDA251D80FE7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8" name="이등변 삼각형 242">
                <a:extLst>
                  <a:ext uri="{FF2B5EF4-FFF2-40B4-BE49-F238E27FC236}">
                    <a16:creationId xmlns:a16="http://schemas.microsoft.com/office/drawing/2014/main" id="{35B80DF6-FDEE-6CD1-CB7B-C164D61AABFA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69" name="이등변 삼각형 243">
                <a:extLst>
                  <a:ext uri="{FF2B5EF4-FFF2-40B4-BE49-F238E27FC236}">
                    <a16:creationId xmlns:a16="http://schemas.microsoft.com/office/drawing/2014/main" id="{EDFFAF8D-BF0E-6EA4-342B-7D97115A6015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0" name="이등변 삼각형 244">
                <a:extLst>
                  <a:ext uri="{FF2B5EF4-FFF2-40B4-BE49-F238E27FC236}">
                    <a16:creationId xmlns:a16="http://schemas.microsoft.com/office/drawing/2014/main" id="{F120E5C1-96DC-4661-1726-9E76368F6796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1" name="이등변 삼각형 245">
                <a:extLst>
                  <a:ext uri="{FF2B5EF4-FFF2-40B4-BE49-F238E27FC236}">
                    <a16:creationId xmlns:a16="http://schemas.microsoft.com/office/drawing/2014/main" id="{1B6A1C5B-1157-6A77-25F5-96641584F210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2" name="이등변 삼각형 246">
                <a:extLst>
                  <a:ext uri="{FF2B5EF4-FFF2-40B4-BE49-F238E27FC236}">
                    <a16:creationId xmlns:a16="http://schemas.microsoft.com/office/drawing/2014/main" id="{F92177C3-0260-88E8-A6B3-3C226AF2F821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3" name="이등변 삼각형 247">
                <a:extLst>
                  <a:ext uri="{FF2B5EF4-FFF2-40B4-BE49-F238E27FC236}">
                    <a16:creationId xmlns:a16="http://schemas.microsoft.com/office/drawing/2014/main" id="{A0B5F96D-E756-BB0A-E36B-46F3A0E06AA0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4" name="이등변 삼각형 248">
                <a:extLst>
                  <a:ext uri="{FF2B5EF4-FFF2-40B4-BE49-F238E27FC236}">
                    <a16:creationId xmlns:a16="http://schemas.microsoft.com/office/drawing/2014/main" id="{83916EC7-171E-83D1-8924-0C22F9005989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5" name="이등변 삼각형 249">
                <a:extLst>
                  <a:ext uri="{FF2B5EF4-FFF2-40B4-BE49-F238E27FC236}">
                    <a16:creationId xmlns:a16="http://schemas.microsoft.com/office/drawing/2014/main" id="{5A6D1D99-56A6-5B75-4F99-CCEBAFDBB678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6" name="이등변 삼각형 250">
                <a:extLst>
                  <a:ext uri="{FF2B5EF4-FFF2-40B4-BE49-F238E27FC236}">
                    <a16:creationId xmlns:a16="http://schemas.microsoft.com/office/drawing/2014/main" id="{EA1BC169-9A3C-8186-387E-65BE0EAA9E8C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7" name="이등변 삼각형 251">
                <a:extLst>
                  <a:ext uri="{FF2B5EF4-FFF2-40B4-BE49-F238E27FC236}">
                    <a16:creationId xmlns:a16="http://schemas.microsoft.com/office/drawing/2014/main" id="{F05E5013-125F-C30C-7774-22D78ABAF71F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8" name="이등변 삼각형 252">
                <a:extLst>
                  <a:ext uri="{FF2B5EF4-FFF2-40B4-BE49-F238E27FC236}">
                    <a16:creationId xmlns:a16="http://schemas.microsoft.com/office/drawing/2014/main" id="{D7AEF159-07D8-222C-F22C-8763ECE39F3C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79" name="이등변 삼각형 253">
                <a:extLst>
                  <a:ext uri="{FF2B5EF4-FFF2-40B4-BE49-F238E27FC236}">
                    <a16:creationId xmlns:a16="http://schemas.microsoft.com/office/drawing/2014/main" id="{C394CAAA-10A2-CF8C-9A22-312C83CCA139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0" name="이등변 삼각형 254">
                <a:extLst>
                  <a:ext uri="{FF2B5EF4-FFF2-40B4-BE49-F238E27FC236}">
                    <a16:creationId xmlns:a16="http://schemas.microsoft.com/office/drawing/2014/main" id="{60BFD478-B1ED-75A3-0771-CD28B243368A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1" name="이등변 삼각형 255">
                <a:extLst>
                  <a:ext uri="{FF2B5EF4-FFF2-40B4-BE49-F238E27FC236}">
                    <a16:creationId xmlns:a16="http://schemas.microsoft.com/office/drawing/2014/main" id="{977D0E6F-F424-8F4B-C4A5-D2C31EC708E3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2" name="이등변 삼각형 256">
                <a:extLst>
                  <a:ext uri="{FF2B5EF4-FFF2-40B4-BE49-F238E27FC236}">
                    <a16:creationId xmlns:a16="http://schemas.microsoft.com/office/drawing/2014/main" id="{E67FF9A3-AAA4-EAE2-55E7-DF7F46401970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F352FA3C-B600-DECD-C8C9-CA8D1ECE0898}"/>
                </a:ext>
              </a:extLst>
            </p:cNvPr>
            <p:cNvGrpSpPr/>
            <p:nvPr/>
          </p:nvGrpSpPr>
          <p:grpSpPr>
            <a:xfrm>
              <a:off x="956504" y="4251932"/>
              <a:ext cx="3672177" cy="144794"/>
              <a:chOff x="1148297" y="2401982"/>
              <a:chExt cx="4110210" cy="144000"/>
            </a:xfrm>
          </p:grpSpPr>
          <p:sp>
            <p:nvSpPr>
              <p:cNvPr id="184" name="이등변 삼각형 258">
                <a:extLst>
                  <a:ext uri="{FF2B5EF4-FFF2-40B4-BE49-F238E27FC236}">
                    <a16:creationId xmlns:a16="http://schemas.microsoft.com/office/drawing/2014/main" id="{6A595C88-286D-FE4D-F8F5-CA1B3DAB21E1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5" name="이등변 삼각형 259">
                <a:extLst>
                  <a:ext uri="{FF2B5EF4-FFF2-40B4-BE49-F238E27FC236}">
                    <a16:creationId xmlns:a16="http://schemas.microsoft.com/office/drawing/2014/main" id="{3D7AC19E-E10D-235C-4A0D-1470A0B927C6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6" name="이등변 삼각형 260">
                <a:extLst>
                  <a:ext uri="{FF2B5EF4-FFF2-40B4-BE49-F238E27FC236}">
                    <a16:creationId xmlns:a16="http://schemas.microsoft.com/office/drawing/2014/main" id="{8C72CCFA-A2A4-055B-0EC4-EE8759CD91CD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7" name="이등변 삼각형 261">
                <a:extLst>
                  <a:ext uri="{FF2B5EF4-FFF2-40B4-BE49-F238E27FC236}">
                    <a16:creationId xmlns:a16="http://schemas.microsoft.com/office/drawing/2014/main" id="{51305D23-DE77-40AE-6F0C-660717B418F4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8" name="이등변 삼각형 262">
                <a:extLst>
                  <a:ext uri="{FF2B5EF4-FFF2-40B4-BE49-F238E27FC236}">
                    <a16:creationId xmlns:a16="http://schemas.microsoft.com/office/drawing/2014/main" id="{899DAE12-247C-3C31-DEBB-DE21E331C48D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89" name="이등변 삼각형 263">
                <a:extLst>
                  <a:ext uri="{FF2B5EF4-FFF2-40B4-BE49-F238E27FC236}">
                    <a16:creationId xmlns:a16="http://schemas.microsoft.com/office/drawing/2014/main" id="{6446F414-65B6-306E-8C5D-44B3955CEEE6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0" name="이등변 삼각형 264">
                <a:extLst>
                  <a:ext uri="{FF2B5EF4-FFF2-40B4-BE49-F238E27FC236}">
                    <a16:creationId xmlns:a16="http://schemas.microsoft.com/office/drawing/2014/main" id="{4645B448-4FB2-455A-B7FC-C04F9985296C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1" name="이등변 삼각형 265">
                <a:extLst>
                  <a:ext uri="{FF2B5EF4-FFF2-40B4-BE49-F238E27FC236}">
                    <a16:creationId xmlns:a16="http://schemas.microsoft.com/office/drawing/2014/main" id="{8ABB3796-27C3-DFF7-A397-A5C7391E2601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2" name="이등변 삼각형 266">
                <a:extLst>
                  <a:ext uri="{FF2B5EF4-FFF2-40B4-BE49-F238E27FC236}">
                    <a16:creationId xmlns:a16="http://schemas.microsoft.com/office/drawing/2014/main" id="{E0D89CA7-1B11-ECC4-294A-2FF4FC098CA3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3" name="이등변 삼각형 267">
                <a:extLst>
                  <a:ext uri="{FF2B5EF4-FFF2-40B4-BE49-F238E27FC236}">
                    <a16:creationId xmlns:a16="http://schemas.microsoft.com/office/drawing/2014/main" id="{0C2CB39F-A65E-F358-B534-D9D35AADA698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4" name="이등변 삼각형 268">
                <a:extLst>
                  <a:ext uri="{FF2B5EF4-FFF2-40B4-BE49-F238E27FC236}">
                    <a16:creationId xmlns:a16="http://schemas.microsoft.com/office/drawing/2014/main" id="{F7E3AF18-0EE8-A915-8E6F-3E148034F49B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5" name="이등변 삼각형 269">
                <a:extLst>
                  <a:ext uri="{FF2B5EF4-FFF2-40B4-BE49-F238E27FC236}">
                    <a16:creationId xmlns:a16="http://schemas.microsoft.com/office/drawing/2014/main" id="{54084021-C9DE-F409-F278-BA36700A52BC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6" name="이등변 삼각형 270">
                <a:extLst>
                  <a:ext uri="{FF2B5EF4-FFF2-40B4-BE49-F238E27FC236}">
                    <a16:creationId xmlns:a16="http://schemas.microsoft.com/office/drawing/2014/main" id="{43CD935B-BCC5-EC68-245D-37EA182AACCD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7" name="이등변 삼각형 271">
                <a:extLst>
                  <a:ext uri="{FF2B5EF4-FFF2-40B4-BE49-F238E27FC236}">
                    <a16:creationId xmlns:a16="http://schemas.microsoft.com/office/drawing/2014/main" id="{7285C98D-C802-24E1-3E65-2A2224CCFDF1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8" name="이등변 삼각형 272">
                <a:extLst>
                  <a:ext uri="{FF2B5EF4-FFF2-40B4-BE49-F238E27FC236}">
                    <a16:creationId xmlns:a16="http://schemas.microsoft.com/office/drawing/2014/main" id="{04EF6A16-F377-9A92-0C24-0FC006FAC451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199" name="이등변 삼각형 273">
                <a:extLst>
                  <a:ext uri="{FF2B5EF4-FFF2-40B4-BE49-F238E27FC236}">
                    <a16:creationId xmlns:a16="http://schemas.microsoft.com/office/drawing/2014/main" id="{C5661CF4-4DAD-F7DE-D87C-3F1C429C6670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0" name="이등변 삼각형 274">
                <a:extLst>
                  <a:ext uri="{FF2B5EF4-FFF2-40B4-BE49-F238E27FC236}">
                    <a16:creationId xmlns:a16="http://schemas.microsoft.com/office/drawing/2014/main" id="{D0AF5AF9-15A7-CFA6-6291-CFE8B8C04C9C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1" name="이등변 삼각형 275">
                <a:extLst>
                  <a:ext uri="{FF2B5EF4-FFF2-40B4-BE49-F238E27FC236}">
                    <a16:creationId xmlns:a16="http://schemas.microsoft.com/office/drawing/2014/main" id="{02498C1A-2D1E-80D1-B6D7-414A80C94373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2" name="이등변 삼각형 276">
                <a:extLst>
                  <a:ext uri="{FF2B5EF4-FFF2-40B4-BE49-F238E27FC236}">
                    <a16:creationId xmlns:a16="http://schemas.microsoft.com/office/drawing/2014/main" id="{9823B053-4B44-D19B-161D-AB319B47D245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3" name="이등변 삼각형 277">
                <a:extLst>
                  <a:ext uri="{FF2B5EF4-FFF2-40B4-BE49-F238E27FC236}">
                    <a16:creationId xmlns:a16="http://schemas.microsoft.com/office/drawing/2014/main" id="{110C1E84-79EB-73DB-29F3-FB7C7F14B7D4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4" name="이등변 삼각형 278">
                <a:extLst>
                  <a:ext uri="{FF2B5EF4-FFF2-40B4-BE49-F238E27FC236}">
                    <a16:creationId xmlns:a16="http://schemas.microsoft.com/office/drawing/2014/main" id="{A2F554B4-06B8-9DE5-ABFA-74E4C18A0F1E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A45CD97E-73BB-B459-9506-094754509E54}"/>
                </a:ext>
              </a:extLst>
            </p:cNvPr>
            <p:cNvGrpSpPr/>
            <p:nvPr/>
          </p:nvGrpSpPr>
          <p:grpSpPr>
            <a:xfrm>
              <a:off x="956504" y="4503880"/>
              <a:ext cx="3672177" cy="144794"/>
              <a:chOff x="1148297" y="2401982"/>
              <a:chExt cx="4110210" cy="144000"/>
            </a:xfrm>
          </p:grpSpPr>
          <p:sp>
            <p:nvSpPr>
              <p:cNvPr id="206" name="이등변 삼각형 280">
                <a:extLst>
                  <a:ext uri="{FF2B5EF4-FFF2-40B4-BE49-F238E27FC236}">
                    <a16:creationId xmlns:a16="http://schemas.microsoft.com/office/drawing/2014/main" id="{70F2F8C1-0975-485F-35E0-BD80EEAAEA8F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7" name="이등변 삼각형 281">
                <a:extLst>
                  <a:ext uri="{FF2B5EF4-FFF2-40B4-BE49-F238E27FC236}">
                    <a16:creationId xmlns:a16="http://schemas.microsoft.com/office/drawing/2014/main" id="{5A774537-6351-53EA-DBA1-59983552A39B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8" name="이등변 삼각형 282">
                <a:extLst>
                  <a:ext uri="{FF2B5EF4-FFF2-40B4-BE49-F238E27FC236}">
                    <a16:creationId xmlns:a16="http://schemas.microsoft.com/office/drawing/2014/main" id="{A5180DDD-DA97-85A7-A5B5-8C6CF5EB2C0E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09" name="이등변 삼각형 283">
                <a:extLst>
                  <a:ext uri="{FF2B5EF4-FFF2-40B4-BE49-F238E27FC236}">
                    <a16:creationId xmlns:a16="http://schemas.microsoft.com/office/drawing/2014/main" id="{30CA105E-C48B-1C54-EAD9-130F96A4FF1D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0" name="이등변 삼각형 284">
                <a:extLst>
                  <a:ext uri="{FF2B5EF4-FFF2-40B4-BE49-F238E27FC236}">
                    <a16:creationId xmlns:a16="http://schemas.microsoft.com/office/drawing/2014/main" id="{11F4F6B4-1D41-CC42-45F3-A103FBF87C65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1" name="이등변 삼각형 285">
                <a:extLst>
                  <a:ext uri="{FF2B5EF4-FFF2-40B4-BE49-F238E27FC236}">
                    <a16:creationId xmlns:a16="http://schemas.microsoft.com/office/drawing/2014/main" id="{A2DED501-F85B-C49E-0125-774BE4849A0A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2" name="이등변 삼각형 286">
                <a:extLst>
                  <a:ext uri="{FF2B5EF4-FFF2-40B4-BE49-F238E27FC236}">
                    <a16:creationId xmlns:a16="http://schemas.microsoft.com/office/drawing/2014/main" id="{AB2B385A-A563-1904-5889-E03395C2F962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3" name="이등변 삼각형 287">
                <a:extLst>
                  <a:ext uri="{FF2B5EF4-FFF2-40B4-BE49-F238E27FC236}">
                    <a16:creationId xmlns:a16="http://schemas.microsoft.com/office/drawing/2014/main" id="{49943458-D8E3-ECCD-A641-2785F743B8D2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4" name="이등변 삼각형 288">
                <a:extLst>
                  <a:ext uri="{FF2B5EF4-FFF2-40B4-BE49-F238E27FC236}">
                    <a16:creationId xmlns:a16="http://schemas.microsoft.com/office/drawing/2014/main" id="{48DC6A66-F24D-758B-3564-38BC0F5DA04F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5" name="이등변 삼각형 289">
                <a:extLst>
                  <a:ext uri="{FF2B5EF4-FFF2-40B4-BE49-F238E27FC236}">
                    <a16:creationId xmlns:a16="http://schemas.microsoft.com/office/drawing/2014/main" id="{382D11BD-8E07-9198-2306-5F1190A55E8B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6" name="이등변 삼각형 290">
                <a:extLst>
                  <a:ext uri="{FF2B5EF4-FFF2-40B4-BE49-F238E27FC236}">
                    <a16:creationId xmlns:a16="http://schemas.microsoft.com/office/drawing/2014/main" id="{109F3F8C-D840-6480-8CF8-6D52C36A1AAB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7" name="이등변 삼각형 291">
                <a:extLst>
                  <a:ext uri="{FF2B5EF4-FFF2-40B4-BE49-F238E27FC236}">
                    <a16:creationId xmlns:a16="http://schemas.microsoft.com/office/drawing/2014/main" id="{8A3C3531-91AD-5B7E-7832-DD1AA715AA7F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8" name="이등변 삼각형 292">
                <a:extLst>
                  <a:ext uri="{FF2B5EF4-FFF2-40B4-BE49-F238E27FC236}">
                    <a16:creationId xmlns:a16="http://schemas.microsoft.com/office/drawing/2014/main" id="{A4DF47E4-BF13-0E77-9F0D-1AB1BB910C0A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19" name="이등변 삼각형 293">
                <a:extLst>
                  <a:ext uri="{FF2B5EF4-FFF2-40B4-BE49-F238E27FC236}">
                    <a16:creationId xmlns:a16="http://schemas.microsoft.com/office/drawing/2014/main" id="{DAC770D1-6F55-6A42-2D9D-7AA4AA703BFA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0" name="이등변 삼각형 294">
                <a:extLst>
                  <a:ext uri="{FF2B5EF4-FFF2-40B4-BE49-F238E27FC236}">
                    <a16:creationId xmlns:a16="http://schemas.microsoft.com/office/drawing/2014/main" id="{BEA8681A-DF12-3578-EBF5-74298E20E12C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1" name="이등변 삼각형 295">
                <a:extLst>
                  <a:ext uri="{FF2B5EF4-FFF2-40B4-BE49-F238E27FC236}">
                    <a16:creationId xmlns:a16="http://schemas.microsoft.com/office/drawing/2014/main" id="{4B172FB1-DB2C-AE33-D469-74A16169B0ED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2" name="이등변 삼각형 296">
                <a:extLst>
                  <a:ext uri="{FF2B5EF4-FFF2-40B4-BE49-F238E27FC236}">
                    <a16:creationId xmlns:a16="http://schemas.microsoft.com/office/drawing/2014/main" id="{D5EFF39F-0093-A048-B5CE-DABB7EAEB1B0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3" name="이등변 삼각형 297">
                <a:extLst>
                  <a:ext uri="{FF2B5EF4-FFF2-40B4-BE49-F238E27FC236}">
                    <a16:creationId xmlns:a16="http://schemas.microsoft.com/office/drawing/2014/main" id="{C3791DB3-2A8E-E445-D09B-6FDD6DA649FE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4" name="이등변 삼각형 298">
                <a:extLst>
                  <a:ext uri="{FF2B5EF4-FFF2-40B4-BE49-F238E27FC236}">
                    <a16:creationId xmlns:a16="http://schemas.microsoft.com/office/drawing/2014/main" id="{66676164-F47F-E164-C9FE-88C48BDE8C1F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5" name="이등변 삼각형 299">
                <a:extLst>
                  <a:ext uri="{FF2B5EF4-FFF2-40B4-BE49-F238E27FC236}">
                    <a16:creationId xmlns:a16="http://schemas.microsoft.com/office/drawing/2014/main" id="{1BF1AD30-050B-1798-96EA-905F7C9230DA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6" name="이등변 삼각형 300">
                <a:extLst>
                  <a:ext uri="{FF2B5EF4-FFF2-40B4-BE49-F238E27FC236}">
                    <a16:creationId xmlns:a16="http://schemas.microsoft.com/office/drawing/2014/main" id="{706033CE-42A4-438A-FC63-D690E119CE88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37B7308-C298-03A1-1D67-BD3E2A152FCD}"/>
                </a:ext>
              </a:extLst>
            </p:cNvPr>
            <p:cNvGrpSpPr/>
            <p:nvPr/>
          </p:nvGrpSpPr>
          <p:grpSpPr>
            <a:xfrm>
              <a:off x="956504" y="4755827"/>
              <a:ext cx="3672177" cy="144794"/>
              <a:chOff x="1148297" y="2401982"/>
              <a:chExt cx="4110210" cy="144000"/>
            </a:xfrm>
          </p:grpSpPr>
          <p:sp>
            <p:nvSpPr>
              <p:cNvPr id="228" name="이등변 삼각형 302">
                <a:extLst>
                  <a:ext uri="{FF2B5EF4-FFF2-40B4-BE49-F238E27FC236}">
                    <a16:creationId xmlns:a16="http://schemas.microsoft.com/office/drawing/2014/main" id="{EF50E6BC-8891-A271-9F86-C4076E9A26AD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29" name="이등변 삼각형 303">
                <a:extLst>
                  <a:ext uri="{FF2B5EF4-FFF2-40B4-BE49-F238E27FC236}">
                    <a16:creationId xmlns:a16="http://schemas.microsoft.com/office/drawing/2014/main" id="{F81583E4-88E9-DCA5-CE02-E05D64F71BA5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0" name="이등변 삼각형 304">
                <a:extLst>
                  <a:ext uri="{FF2B5EF4-FFF2-40B4-BE49-F238E27FC236}">
                    <a16:creationId xmlns:a16="http://schemas.microsoft.com/office/drawing/2014/main" id="{C674D70A-2791-777A-CD64-F29961C52084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1" name="이등변 삼각형 305">
                <a:extLst>
                  <a:ext uri="{FF2B5EF4-FFF2-40B4-BE49-F238E27FC236}">
                    <a16:creationId xmlns:a16="http://schemas.microsoft.com/office/drawing/2014/main" id="{D7368BBF-BCAC-6FC0-737D-3F56E7588C0B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2" name="이등변 삼각형 306">
                <a:extLst>
                  <a:ext uri="{FF2B5EF4-FFF2-40B4-BE49-F238E27FC236}">
                    <a16:creationId xmlns:a16="http://schemas.microsoft.com/office/drawing/2014/main" id="{EB9448C9-E9A5-B636-4EB9-AB3BA6546221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3" name="이등변 삼각형 307">
                <a:extLst>
                  <a:ext uri="{FF2B5EF4-FFF2-40B4-BE49-F238E27FC236}">
                    <a16:creationId xmlns:a16="http://schemas.microsoft.com/office/drawing/2014/main" id="{BD4D97A9-BD61-D43A-9DF4-C377A70B6E0C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4" name="이등변 삼각형 308">
                <a:extLst>
                  <a:ext uri="{FF2B5EF4-FFF2-40B4-BE49-F238E27FC236}">
                    <a16:creationId xmlns:a16="http://schemas.microsoft.com/office/drawing/2014/main" id="{39B5B87A-6572-F1C4-039B-102526CEE7E7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5" name="이등변 삼각형 309">
                <a:extLst>
                  <a:ext uri="{FF2B5EF4-FFF2-40B4-BE49-F238E27FC236}">
                    <a16:creationId xmlns:a16="http://schemas.microsoft.com/office/drawing/2014/main" id="{F095509A-7AA6-3A27-06DC-59844C391F2D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6" name="이등변 삼각형 310">
                <a:extLst>
                  <a:ext uri="{FF2B5EF4-FFF2-40B4-BE49-F238E27FC236}">
                    <a16:creationId xmlns:a16="http://schemas.microsoft.com/office/drawing/2014/main" id="{F965938B-3BEE-EFB2-5CF6-1B9CFC00BA9A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7" name="이등변 삼각형 311">
                <a:extLst>
                  <a:ext uri="{FF2B5EF4-FFF2-40B4-BE49-F238E27FC236}">
                    <a16:creationId xmlns:a16="http://schemas.microsoft.com/office/drawing/2014/main" id="{F6F7A443-0795-3490-54A0-505A72AD3937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8" name="이등변 삼각형 312">
                <a:extLst>
                  <a:ext uri="{FF2B5EF4-FFF2-40B4-BE49-F238E27FC236}">
                    <a16:creationId xmlns:a16="http://schemas.microsoft.com/office/drawing/2014/main" id="{1A553B22-2043-9F7A-D0CC-D46C1F1A57BE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39" name="이등변 삼각형 313">
                <a:extLst>
                  <a:ext uri="{FF2B5EF4-FFF2-40B4-BE49-F238E27FC236}">
                    <a16:creationId xmlns:a16="http://schemas.microsoft.com/office/drawing/2014/main" id="{690EC215-16E0-B1DE-8286-31118919D4D5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0" name="이등변 삼각형 314">
                <a:extLst>
                  <a:ext uri="{FF2B5EF4-FFF2-40B4-BE49-F238E27FC236}">
                    <a16:creationId xmlns:a16="http://schemas.microsoft.com/office/drawing/2014/main" id="{9EA19D68-4BE5-C3D4-9297-219267658B3E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1" name="이등변 삼각형 315">
                <a:extLst>
                  <a:ext uri="{FF2B5EF4-FFF2-40B4-BE49-F238E27FC236}">
                    <a16:creationId xmlns:a16="http://schemas.microsoft.com/office/drawing/2014/main" id="{C5835D5D-0FF5-9E3A-C2C9-1943A3092B93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2" name="이등변 삼각형 316">
                <a:extLst>
                  <a:ext uri="{FF2B5EF4-FFF2-40B4-BE49-F238E27FC236}">
                    <a16:creationId xmlns:a16="http://schemas.microsoft.com/office/drawing/2014/main" id="{C4CA4BD5-1A2F-E75A-F060-B363CE43EB76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3" name="이등변 삼각형 317">
                <a:extLst>
                  <a:ext uri="{FF2B5EF4-FFF2-40B4-BE49-F238E27FC236}">
                    <a16:creationId xmlns:a16="http://schemas.microsoft.com/office/drawing/2014/main" id="{C29FF402-7EC8-1B3A-1C2A-F8ED5FDA8FAC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4" name="이등변 삼각형 318">
                <a:extLst>
                  <a:ext uri="{FF2B5EF4-FFF2-40B4-BE49-F238E27FC236}">
                    <a16:creationId xmlns:a16="http://schemas.microsoft.com/office/drawing/2014/main" id="{10302AEC-961D-0000-055C-097765AADB6F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5" name="이등변 삼각형 319">
                <a:extLst>
                  <a:ext uri="{FF2B5EF4-FFF2-40B4-BE49-F238E27FC236}">
                    <a16:creationId xmlns:a16="http://schemas.microsoft.com/office/drawing/2014/main" id="{2D88DA45-071C-FA10-C698-4AEB92B7BE32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6" name="이등변 삼각형 320">
                <a:extLst>
                  <a:ext uri="{FF2B5EF4-FFF2-40B4-BE49-F238E27FC236}">
                    <a16:creationId xmlns:a16="http://schemas.microsoft.com/office/drawing/2014/main" id="{238B530B-F2C9-9319-555B-E0E97B305D53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7" name="이등변 삼각형 321">
                <a:extLst>
                  <a:ext uri="{FF2B5EF4-FFF2-40B4-BE49-F238E27FC236}">
                    <a16:creationId xmlns:a16="http://schemas.microsoft.com/office/drawing/2014/main" id="{0E10D7EC-8983-E0B8-AFC8-1B93412C9892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48" name="이등변 삼각형 322">
                <a:extLst>
                  <a:ext uri="{FF2B5EF4-FFF2-40B4-BE49-F238E27FC236}">
                    <a16:creationId xmlns:a16="http://schemas.microsoft.com/office/drawing/2014/main" id="{FB4CF1A2-1019-5A1E-48E6-19335CC1C431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600F024F-C9FC-5343-982A-4E7DD1708A5D}"/>
                </a:ext>
              </a:extLst>
            </p:cNvPr>
            <p:cNvGrpSpPr/>
            <p:nvPr/>
          </p:nvGrpSpPr>
          <p:grpSpPr>
            <a:xfrm>
              <a:off x="956504" y="5007775"/>
              <a:ext cx="3672177" cy="144794"/>
              <a:chOff x="1148297" y="2401982"/>
              <a:chExt cx="4110210" cy="144000"/>
            </a:xfrm>
          </p:grpSpPr>
          <p:sp>
            <p:nvSpPr>
              <p:cNvPr id="250" name="이등변 삼각형 324">
                <a:extLst>
                  <a:ext uri="{FF2B5EF4-FFF2-40B4-BE49-F238E27FC236}">
                    <a16:creationId xmlns:a16="http://schemas.microsoft.com/office/drawing/2014/main" id="{AC278A34-FFAB-A0D6-047A-88429455851B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1" name="이등변 삼각형 325">
                <a:extLst>
                  <a:ext uri="{FF2B5EF4-FFF2-40B4-BE49-F238E27FC236}">
                    <a16:creationId xmlns:a16="http://schemas.microsoft.com/office/drawing/2014/main" id="{B5CC32D3-F429-E3F5-54C1-021FF90EE6A6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2" name="이등변 삼각형 326">
                <a:extLst>
                  <a:ext uri="{FF2B5EF4-FFF2-40B4-BE49-F238E27FC236}">
                    <a16:creationId xmlns:a16="http://schemas.microsoft.com/office/drawing/2014/main" id="{A1841D67-3B6C-3926-47DF-014E81EA4C97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3" name="이등변 삼각형 327">
                <a:extLst>
                  <a:ext uri="{FF2B5EF4-FFF2-40B4-BE49-F238E27FC236}">
                    <a16:creationId xmlns:a16="http://schemas.microsoft.com/office/drawing/2014/main" id="{12637433-5433-7997-04F2-1F82F01BC133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4" name="이등변 삼각형 328">
                <a:extLst>
                  <a:ext uri="{FF2B5EF4-FFF2-40B4-BE49-F238E27FC236}">
                    <a16:creationId xmlns:a16="http://schemas.microsoft.com/office/drawing/2014/main" id="{78F8FA36-A5DC-7062-03BB-D3189E65AD41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5" name="이등변 삼각형 329">
                <a:extLst>
                  <a:ext uri="{FF2B5EF4-FFF2-40B4-BE49-F238E27FC236}">
                    <a16:creationId xmlns:a16="http://schemas.microsoft.com/office/drawing/2014/main" id="{13439825-E645-F491-7AFC-22FD8C3F0211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6" name="이등변 삼각형 330">
                <a:extLst>
                  <a:ext uri="{FF2B5EF4-FFF2-40B4-BE49-F238E27FC236}">
                    <a16:creationId xmlns:a16="http://schemas.microsoft.com/office/drawing/2014/main" id="{664F6119-1D84-6022-A4C0-8081CC09CE47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7" name="이등변 삼각형 331">
                <a:extLst>
                  <a:ext uri="{FF2B5EF4-FFF2-40B4-BE49-F238E27FC236}">
                    <a16:creationId xmlns:a16="http://schemas.microsoft.com/office/drawing/2014/main" id="{23E18083-6A56-7501-48EA-657CD9FB8672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8" name="이등변 삼각형 332">
                <a:extLst>
                  <a:ext uri="{FF2B5EF4-FFF2-40B4-BE49-F238E27FC236}">
                    <a16:creationId xmlns:a16="http://schemas.microsoft.com/office/drawing/2014/main" id="{035AA7D8-7244-603D-32AA-EA86804CD020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59" name="이등변 삼각형 333">
                <a:extLst>
                  <a:ext uri="{FF2B5EF4-FFF2-40B4-BE49-F238E27FC236}">
                    <a16:creationId xmlns:a16="http://schemas.microsoft.com/office/drawing/2014/main" id="{A7D20813-3CC0-236E-0A08-6EA5DFBEEACC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0" name="이등변 삼각형 334">
                <a:extLst>
                  <a:ext uri="{FF2B5EF4-FFF2-40B4-BE49-F238E27FC236}">
                    <a16:creationId xmlns:a16="http://schemas.microsoft.com/office/drawing/2014/main" id="{5DC600C2-4FAE-0196-7B72-EACF18041F3D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1" name="이등변 삼각형 335">
                <a:extLst>
                  <a:ext uri="{FF2B5EF4-FFF2-40B4-BE49-F238E27FC236}">
                    <a16:creationId xmlns:a16="http://schemas.microsoft.com/office/drawing/2014/main" id="{D02CB9A0-8BA4-A8B1-388B-249A5693E8BF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2" name="이등변 삼각형 336">
                <a:extLst>
                  <a:ext uri="{FF2B5EF4-FFF2-40B4-BE49-F238E27FC236}">
                    <a16:creationId xmlns:a16="http://schemas.microsoft.com/office/drawing/2014/main" id="{FEF954DA-07C1-8793-44B7-35B250221417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3" name="이등변 삼각형 337">
                <a:extLst>
                  <a:ext uri="{FF2B5EF4-FFF2-40B4-BE49-F238E27FC236}">
                    <a16:creationId xmlns:a16="http://schemas.microsoft.com/office/drawing/2014/main" id="{A8F01D86-1007-30B8-BCFC-2B6A3A6D4815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4" name="이등변 삼각형 338">
                <a:extLst>
                  <a:ext uri="{FF2B5EF4-FFF2-40B4-BE49-F238E27FC236}">
                    <a16:creationId xmlns:a16="http://schemas.microsoft.com/office/drawing/2014/main" id="{94FF53BD-5B99-3813-6033-CD560442E1D3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5" name="이등변 삼각형 339">
                <a:extLst>
                  <a:ext uri="{FF2B5EF4-FFF2-40B4-BE49-F238E27FC236}">
                    <a16:creationId xmlns:a16="http://schemas.microsoft.com/office/drawing/2014/main" id="{D5ECF737-E52E-24A1-9C09-267E53F711A1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6" name="이등변 삼각형 340">
                <a:extLst>
                  <a:ext uri="{FF2B5EF4-FFF2-40B4-BE49-F238E27FC236}">
                    <a16:creationId xmlns:a16="http://schemas.microsoft.com/office/drawing/2014/main" id="{66F5DFCF-D85F-D199-12D0-E06F34D18CF6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7" name="이등변 삼각형 341">
                <a:extLst>
                  <a:ext uri="{FF2B5EF4-FFF2-40B4-BE49-F238E27FC236}">
                    <a16:creationId xmlns:a16="http://schemas.microsoft.com/office/drawing/2014/main" id="{5ED4FFE6-354A-0C7B-3F1E-879A85360C2B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8" name="이등변 삼각형 342">
                <a:extLst>
                  <a:ext uri="{FF2B5EF4-FFF2-40B4-BE49-F238E27FC236}">
                    <a16:creationId xmlns:a16="http://schemas.microsoft.com/office/drawing/2014/main" id="{3AD90778-AB43-FCC6-3A33-FC03BDA45810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69" name="이등변 삼각형 343">
                <a:extLst>
                  <a:ext uri="{FF2B5EF4-FFF2-40B4-BE49-F238E27FC236}">
                    <a16:creationId xmlns:a16="http://schemas.microsoft.com/office/drawing/2014/main" id="{43A38482-C36D-6850-607C-92D62A54B822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0" name="이등변 삼각형 344">
                <a:extLst>
                  <a:ext uri="{FF2B5EF4-FFF2-40B4-BE49-F238E27FC236}">
                    <a16:creationId xmlns:a16="http://schemas.microsoft.com/office/drawing/2014/main" id="{A4379C54-CBE3-C655-184B-35E1035F360F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9C399900-6E7F-BC52-D6D8-DEC4FE0A9B75}"/>
                </a:ext>
              </a:extLst>
            </p:cNvPr>
            <p:cNvGrpSpPr/>
            <p:nvPr/>
          </p:nvGrpSpPr>
          <p:grpSpPr>
            <a:xfrm>
              <a:off x="956504" y="5259723"/>
              <a:ext cx="3672177" cy="144794"/>
              <a:chOff x="1148297" y="2401982"/>
              <a:chExt cx="4110210" cy="144000"/>
            </a:xfrm>
          </p:grpSpPr>
          <p:sp>
            <p:nvSpPr>
              <p:cNvPr id="272" name="이등변 삼각형 346">
                <a:extLst>
                  <a:ext uri="{FF2B5EF4-FFF2-40B4-BE49-F238E27FC236}">
                    <a16:creationId xmlns:a16="http://schemas.microsoft.com/office/drawing/2014/main" id="{75F5A38F-A51A-50F0-311A-17B5FA37EF0F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3" name="이등변 삼각형 347">
                <a:extLst>
                  <a:ext uri="{FF2B5EF4-FFF2-40B4-BE49-F238E27FC236}">
                    <a16:creationId xmlns:a16="http://schemas.microsoft.com/office/drawing/2014/main" id="{578DC14A-C30F-A7DD-5615-532A315BB3DF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4" name="이등변 삼각형 348">
                <a:extLst>
                  <a:ext uri="{FF2B5EF4-FFF2-40B4-BE49-F238E27FC236}">
                    <a16:creationId xmlns:a16="http://schemas.microsoft.com/office/drawing/2014/main" id="{96F66078-FAA1-EB74-FC07-422558D177BC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5" name="이등변 삼각형 349">
                <a:extLst>
                  <a:ext uri="{FF2B5EF4-FFF2-40B4-BE49-F238E27FC236}">
                    <a16:creationId xmlns:a16="http://schemas.microsoft.com/office/drawing/2014/main" id="{1185EB12-1928-B2F8-0DFF-F206EB8BCF61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6" name="이등변 삼각형 350">
                <a:extLst>
                  <a:ext uri="{FF2B5EF4-FFF2-40B4-BE49-F238E27FC236}">
                    <a16:creationId xmlns:a16="http://schemas.microsoft.com/office/drawing/2014/main" id="{E929D433-42D9-4EF9-9445-58E261D0FC86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7" name="이등변 삼각형 351">
                <a:extLst>
                  <a:ext uri="{FF2B5EF4-FFF2-40B4-BE49-F238E27FC236}">
                    <a16:creationId xmlns:a16="http://schemas.microsoft.com/office/drawing/2014/main" id="{DFE94D02-1193-0ACA-2EC8-57145670CE77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8" name="이등변 삼각형 352">
                <a:extLst>
                  <a:ext uri="{FF2B5EF4-FFF2-40B4-BE49-F238E27FC236}">
                    <a16:creationId xmlns:a16="http://schemas.microsoft.com/office/drawing/2014/main" id="{145AADBA-FBCB-29B1-08BA-FD3FE39AC22D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79" name="이등변 삼각형 353">
                <a:extLst>
                  <a:ext uri="{FF2B5EF4-FFF2-40B4-BE49-F238E27FC236}">
                    <a16:creationId xmlns:a16="http://schemas.microsoft.com/office/drawing/2014/main" id="{250F5698-3990-547B-C30F-81CB7C07BE92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0" name="이등변 삼각형 354">
                <a:extLst>
                  <a:ext uri="{FF2B5EF4-FFF2-40B4-BE49-F238E27FC236}">
                    <a16:creationId xmlns:a16="http://schemas.microsoft.com/office/drawing/2014/main" id="{51121370-02A1-87F9-32B6-D2E713740D8D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1" name="이등변 삼각형 355">
                <a:extLst>
                  <a:ext uri="{FF2B5EF4-FFF2-40B4-BE49-F238E27FC236}">
                    <a16:creationId xmlns:a16="http://schemas.microsoft.com/office/drawing/2014/main" id="{380BC109-3DAA-7438-24C3-85A0BCC274A9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2" name="이등변 삼각형 356">
                <a:extLst>
                  <a:ext uri="{FF2B5EF4-FFF2-40B4-BE49-F238E27FC236}">
                    <a16:creationId xmlns:a16="http://schemas.microsoft.com/office/drawing/2014/main" id="{D832C13D-67CD-EC51-20A5-17E62AA4E1B9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3" name="이등변 삼각형 357">
                <a:extLst>
                  <a:ext uri="{FF2B5EF4-FFF2-40B4-BE49-F238E27FC236}">
                    <a16:creationId xmlns:a16="http://schemas.microsoft.com/office/drawing/2014/main" id="{68FA80EF-F2E4-A647-0B9A-056D0B3373D7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4" name="이등변 삼각형 358">
                <a:extLst>
                  <a:ext uri="{FF2B5EF4-FFF2-40B4-BE49-F238E27FC236}">
                    <a16:creationId xmlns:a16="http://schemas.microsoft.com/office/drawing/2014/main" id="{770CC74B-3766-9F45-6061-D050F0FF5476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5" name="이등변 삼각형 359">
                <a:extLst>
                  <a:ext uri="{FF2B5EF4-FFF2-40B4-BE49-F238E27FC236}">
                    <a16:creationId xmlns:a16="http://schemas.microsoft.com/office/drawing/2014/main" id="{F0F0F2BE-0C3E-3F95-9BEA-BDC916FC4396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6" name="이등변 삼각형 360">
                <a:extLst>
                  <a:ext uri="{FF2B5EF4-FFF2-40B4-BE49-F238E27FC236}">
                    <a16:creationId xmlns:a16="http://schemas.microsoft.com/office/drawing/2014/main" id="{7021E93A-EE9B-2CAF-A085-8E5331DAC44A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7" name="이등변 삼각형 361">
                <a:extLst>
                  <a:ext uri="{FF2B5EF4-FFF2-40B4-BE49-F238E27FC236}">
                    <a16:creationId xmlns:a16="http://schemas.microsoft.com/office/drawing/2014/main" id="{CD603342-C186-1014-CE5B-432F028F6DA0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8" name="이등변 삼각형 362">
                <a:extLst>
                  <a:ext uri="{FF2B5EF4-FFF2-40B4-BE49-F238E27FC236}">
                    <a16:creationId xmlns:a16="http://schemas.microsoft.com/office/drawing/2014/main" id="{E84D276C-B58D-40DB-E99D-642EABB989CD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89" name="이등변 삼각형 363">
                <a:extLst>
                  <a:ext uri="{FF2B5EF4-FFF2-40B4-BE49-F238E27FC236}">
                    <a16:creationId xmlns:a16="http://schemas.microsoft.com/office/drawing/2014/main" id="{B8BD3821-35D6-922B-3977-CD98C7FA75D7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0" name="이등변 삼각형 364">
                <a:extLst>
                  <a:ext uri="{FF2B5EF4-FFF2-40B4-BE49-F238E27FC236}">
                    <a16:creationId xmlns:a16="http://schemas.microsoft.com/office/drawing/2014/main" id="{62922917-4E14-0FF7-4F64-1DDAEAFA04B3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1" name="이등변 삼각형 365">
                <a:extLst>
                  <a:ext uri="{FF2B5EF4-FFF2-40B4-BE49-F238E27FC236}">
                    <a16:creationId xmlns:a16="http://schemas.microsoft.com/office/drawing/2014/main" id="{8F55A369-163B-1901-5069-13DCA124408E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2" name="이등변 삼각형 366">
                <a:extLst>
                  <a:ext uri="{FF2B5EF4-FFF2-40B4-BE49-F238E27FC236}">
                    <a16:creationId xmlns:a16="http://schemas.microsoft.com/office/drawing/2014/main" id="{FF011F52-86A3-3DCD-356E-9AB216CDE8C0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4A224AA7-D5E9-D265-E05B-216291620FFB}"/>
                </a:ext>
              </a:extLst>
            </p:cNvPr>
            <p:cNvGrpSpPr/>
            <p:nvPr/>
          </p:nvGrpSpPr>
          <p:grpSpPr>
            <a:xfrm>
              <a:off x="956504" y="5511669"/>
              <a:ext cx="3672177" cy="144794"/>
              <a:chOff x="1148297" y="2401982"/>
              <a:chExt cx="4110210" cy="144000"/>
            </a:xfrm>
          </p:grpSpPr>
          <p:sp>
            <p:nvSpPr>
              <p:cNvPr id="294" name="이등변 삼각형 368">
                <a:extLst>
                  <a:ext uri="{FF2B5EF4-FFF2-40B4-BE49-F238E27FC236}">
                    <a16:creationId xmlns:a16="http://schemas.microsoft.com/office/drawing/2014/main" id="{298E9474-693B-D33E-F533-4508B3442053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5" name="이등변 삼각형 369">
                <a:extLst>
                  <a:ext uri="{FF2B5EF4-FFF2-40B4-BE49-F238E27FC236}">
                    <a16:creationId xmlns:a16="http://schemas.microsoft.com/office/drawing/2014/main" id="{BE68765C-E6CF-CF71-C50B-9969324D44B8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6" name="이등변 삼각형 370">
                <a:extLst>
                  <a:ext uri="{FF2B5EF4-FFF2-40B4-BE49-F238E27FC236}">
                    <a16:creationId xmlns:a16="http://schemas.microsoft.com/office/drawing/2014/main" id="{8CBA7457-2E00-6A67-38AC-663A13884A4A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7" name="이등변 삼각형 371">
                <a:extLst>
                  <a:ext uri="{FF2B5EF4-FFF2-40B4-BE49-F238E27FC236}">
                    <a16:creationId xmlns:a16="http://schemas.microsoft.com/office/drawing/2014/main" id="{FCDC1F00-C792-58DB-105D-6D1ADF70085E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8" name="이등변 삼각형 372">
                <a:extLst>
                  <a:ext uri="{FF2B5EF4-FFF2-40B4-BE49-F238E27FC236}">
                    <a16:creationId xmlns:a16="http://schemas.microsoft.com/office/drawing/2014/main" id="{66CDC9C5-A9C4-ADF3-59DE-3A1C4ED259AC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299" name="이등변 삼각형 373">
                <a:extLst>
                  <a:ext uri="{FF2B5EF4-FFF2-40B4-BE49-F238E27FC236}">
                    <a16:creationId xmlns:a16="http://schemas.microsoft.com/office/drawing/2014/main" id="{A4D0ECB5-43FA-1E90-4B97-CA91DEC642D5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0" name="이등변 삼각형 374">
                <a:extLst>
                  <a:ext uri="{FF2B5EF4-FFF2-40B4-BE49-F238E27FC236}">
                    <a16:creationId xmlns:a16="http://schemas.microsoft.com/office/drawing/2014/main" id="{746CED4F-303C-981C-E80A-CFF3FC3361B9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1" name="이등변 삼각형 375">
                <a:extLst>
                  <a:ext uri="{FF2B5EF4-FFF2-40B4-BE49-F238E27FC236}">
                    <a16:creationId xmlns:a16="http://schemas.microsoft.com/office/drawing/2014/main" id="{C0D45D0B-90F6-C0DE-C5AD-5D545244EE32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2" name="이등변 삼각형 376">
                <a:extLst>
                  <a:ext uri="{FF2B5EF4-FFF2-40B4-BE49-F238E27FC236}">
                    <a16:creationId xmlns:a16="http://schemas.microsoft.com/office/drawing/2014/main" id="{9622E804-BFB4-AA1F-D0CC-378A9645B003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3" name="이등변 삼각형 377">
                <a:extLst>
                  <a:ext uri="{FF2B5EF4-FFF2-40B4-BE49-F238E27FC236}">
                    <a16:creationId xmlns:a16="http://schemas.microsoft.com/office/drawing/2014/main" id="{76E30269-FFBE-22F6-E744-0A9F54128689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4" name="이등변 삼각형 378">
                <a:extLst>
                  <a:ext uri="{FF2B5EF4-FFF2-40B4-BE49-F238E27FC236}">
                    <a16:creationId xmlns:a16="http://schemas.microsoft.com/office/drawing/2014/main" id="{DCC1E674-6AF1-D10D-B68C-552D91A73856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5" name="이등변 삼각형 379">
                <a:extLst>
                  <a:ext uri="{FF2B5EF4-FFF2-40B4-BE49-F238E27FC236}">
                    <a16:creationId xmlns:a16="http://schemas.microsoft.com/office/drawing/2014/main" id="{B4C25FD6-0643-E8C2-BF3D-AA07F1EBE340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6" name="이등변 삼각형 380">
                <a:extLst>
                  <a:ext uri="{FF2B5EF4-FFF2-40B4-BE49-F238E27FC236}">
                    <a16:creationId xmlns:a16="http://schemas.microsoft.com/office/drawing/2014/main" id="{651BF3D5-762E-A432-A459-C4AAE4D3CAC5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7" name="이등변 삼각형 381">
                <a:extLst>
                  <a:ext uri="{FF2B5EF4-FFF2-40B4-BE49-F238E27FC236}">
                    <a16:creationId xmlns:a16="http://schemas.microsoft.com/office/drawing/2014/main" id="{EBECD134-A742-265E-ADF6-B280A95E33E9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8" name="이등변 삼각형 382">
                <a:extLst>
                  <a:ext uri="{FF2B5EF4-FFF2-40B4-BE49-F238E27FC236}">
                    <a16:creationId xmlns:a16="http://schemas.microsoft.com/office/drawing/2014/main" id="{980F4A0F-2DB9-B7DC-724E-C95504469ABF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9" name="이등변 삼각형 383">
                <a:extLst>
                  <a:ext uri="{FF2B5EF4-FFF2-40B4-BE49-F238E27FC236}">
                    <a16:creationId xmlns:a16="http://schemas.microsoft.com/office/drawing/2014/main" id="{493B9A43-F628-4811-49EE-85877CA8D2D2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0" name="이등변 삼각형 384">
                <a:extLst>
                  <a:ext uri="{FF2B5EF4-FFF2-40B4-BE49-F238E27FC236}">
                    <a16:creationId xmlns:a16="http://schemas.microsoft.com/office/drawing/2014/main" id="{DDC44889-B9E4-28AF-1242-A733EC722F48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1" name="이등변 삼각형 385">
                <a:extLst>
                  <a:ext uri="{FF2B5EF4-FFF2-40B4-BE49-F238E27FC236}">
                    <a16:creationId xmlns:a16="http://schemas.microsoft.com/office/drawing/2014/main" id="{5D0B5EDD-ED16-9DB9-6669-87025BB38A4A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2" name="이등변 삼각형 386">
                <a:extLst>
                  <a:ext uri="{FF2B5EF4-FFF2-40B4-BE49-F238E27FC236}">
                    <a16:creationId xmlns:a16="http://schemas.microsoft.com/office/drawing/2014/main" id="{FDD2E8A6-0716-A949-9FE6-146C9573D9E8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3" name="이등변 삼각형 387">
                <a:extLst>
                  <a:ext uri="{FF2B5EF4-FFF2-40B4-BE49-F238E27FC236}">
                    <a16:creationId xmlns:a16="http://schemas.microsoft.com/office/drawing/2014/main" id="{F166B3D5-3B8F-5CE9-1EBA-740EE8D047FA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4" name="이등변 삼각형 388">
                <a:extLst>
                  <a:ext uri="{FF2B5EF4-FFF2-40B4-BE49-F238E27FC236}">
                    <a16:creationId xmlns:a16="http://schemas.microsoft.com/office/drawing/2014/main" id="{DDFB229C-4E99-FB92-B99F-FB94E63D99BF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C311F7EE-F814-D1D4-FA66-E442BF0291A5}"/>
                </a:ext>
              </a:extLst>
            </p:cNvPr>
            <p:cNvGrpSpPr/>
            <p:nvPr/>
          </p:nvGrpSpPr>
          <p:grpSpPr>
            <a:xfrm>
              <a:off x="956504" y="5763617"/>
              <a:ext cx="3672177" cy="144794"/>
              <a:chOff x="1148297" y="2401982"/>
              <a:chExt cx="4110210" cy="144000"/>
            </a:xfrm>
          </p:grpSpPr>
          <p:sp>
            <p:nvSpPr>
              <p:cNvPr id="316" name="이등변 삼각형 390">
                <a:extLst>
                  <a:ext uri="{FF2B5EF4-FFF2-40B4-BE49-F238E27FC236}">
                    <a16:creationId xmlns:a16="http://schemas.microsoft.com/office/drawing/2014/main" id="{C4961487-1939-2ADA-EB17-785B669C3A0D}"/>
                  </a:ext>
                </a:extLst>
              </p:cNvPr>
              <p:cNvSpPr/>
              <p:nvPr/>
            </p:nvSpPr>
            <p:spPr>
              <a:xfrm>
                <a:off x="114829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7" name="이등변 삼각형 391">
                <a:extLst>
                  <a:ext uri="{FF2B5EF4-FFF2-40B4-BE49-F238E27FC236}">
                    <a16:creationId xmlns:a16="http://schemas.microsoft.com/office/drawing/2014/main" id="{6C52C196-C3E1-CE05-9647-D5377B4149CC}"/>
                  </a:ext>
                </a:extLst>
              </p:cNvPr>
              <p:cNvSpPr/>
              <p:nvPr/>
            </p:nvSpPr>
            <p:spPr>
              <a:xfrm>
                <a:off x="134660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8" name="이등변 삼각형 392">
                <a:extLst>
                  <a:ext uri="{FF2B5EF4-FFF2-40B4-BE49-F238E27FC236}">
                    <a16:creationId xmlns:a16="http://schemas.microsoft.com/office/drawing/2014/main" id="{9D79652C-01E3-F2DF-F773-ABFF58C8AAFC}"/>
                  </a:ext>
                </a:extLst>
              </p:cNvPr>
              <p:cNvSpPr/>
              <p:nvPr/>
            </p:nvSpPr>
            <p:spPr>
              <a:xfrm>
                <a:off x="154491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19" name="이등변 삼각형 393">
                <a:extLst>
                  <a:ext uri="{FF2B5EF4-FFF2-40B4-BE49-F238E27FC236}">
                    <a16:creationId xmlns:a16="http://schemas.microsoft.com/office/drawing/2014/main" id="{F115CDFA-7E15-EAA8-78D6-1040178D636D}"/>
                  </a:ext>
                </a:extLst>
              </p:cNvPr>
              <p:cNvSpPr/>
              <p:nvPr/>
            </p:nvSpPr>
            <p:spPr>
              <a:xfrm>
                <a:off x="174323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0" name="이등변 삼각형 394">
                <a:extLst>
                  <a:ext uri="{FF2B5EF4-FFF2-40B4-BE49-F238E27FC236}">
                    <a16:creationId xmlns:a16="http://schemas.microsoft.com/office/drawing/2014/main" id="{AEEF3192-E940-A043-34D3-112FDEA46629}"/>
                  </a:ext>
                </a:extLst>
              </p:cNvPr>
              <p:cNvSpPr/>
              <p:nvPr/>
            </p:nvSpPr>
            <p:spPr>
              <a:xfrm>
                <a:off x="194154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1" name="이등변 삼각형 395">
                <a:extLst>
                  <a:ext uri="{FF2B5EF4-FFF2-40B4-BE49-F238E27FC236}">
                    <a16:creationId xmlns:a16="http://schemas.microsoft.com/office/drawing/2014/main" id="{083A6B29-0022-4DC2-3B6D-9439F169D640}"/>
                  </a:ext>
                </a:extLst>
              </p:cNvPr>
              <p:cNvSpPr/>
              <p:nvPr/>
            </p:nvSpPr>
            <p:spPr>
              <a:xfrm>
                <a:off x="213985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2" name="이등변 삼각형 396">
                <a:extLst>
                  <a:ext uri="{FF2B5EF4-FFF2-40B4-BE49-F238E27FC236}">
                    <a16:creationId xmlns:a16="http://schemas.microsoft.com/office/drawing/2014/main" id="{78D15557-A938-E7CA-CFE8-250AFFF4E004}"/>
                  </a:ext>
                </a:extLst>
              </p:cNvPr>
              <p:cNvSpPr/>
              <p:nvPr/>
            </p:nvSpPr>
            <p:spPr>
              <a:xfrm>
                <a:off x="233816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3" name="이등변 삼각형 397">
                <a:extLst>
                  <a:ext uri="{FF2B5EF4-FFF2-40B4-BE49-F238E27FC236}">
                    <a16:creationId xmlns:a16="http://schemas.microsoft.com/office/drawing/2014/main" id="{7BD3B1FF-9053-019A-3028-0A2E68DBDDBE}"/>
                  </a:ext>
                </a:extLst>
              </p:cNvPr>
              <p:cNvSpPr/>
              <p:nvPr/>
            </p:nvSpPr>
            <p:spPr>
              <a:xfrm>
                <a:off x="253647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4" name="이등변 삼각형 398">
                <a:extLst>
                  <a:ext uri="{FF2B5EF4-FFF2-40B4-BE49-F238E27FC236}">
                    <a16:creationId xmlns:a16="http://schemas.microsoft.com/office/drawing/2014/main" id="{8D8A62D5-413C-B843-33C8-2F9F9180A847}"/>
                  </a:ext>
                </a:extLst>
              </p:cNvPr>
              <p:cNvSpPr/>
              <p:nvPr/>
            </p:nvSpPr>
            <p:spPr>
              <a:xfrm>
                <a:off x="273478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5" name="이등변 삼각형 399">
                <a:extLst>
                  <a:ext uri="{FF2B5EF4-FFF2-40B4-BE49-F238E27FC236}">
                    <a16:creationId xmlns:a16="http://schemas.microsoft.com/office/drawing/2014/main" id="{82B0D260-ABBC-D0C1-0360-8C884AB8DFE2}"/>
                  </a:ext>
                </a:extLst>
              </p:cNvPr>
              <p:cNvSpPr/>
              <p:nvPr/>
            </p:nvSpPr>
            <p:spPr>
              <a:xfrm>
                <a:off x="293309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6" name="이등변 삼각형 400">
                <a:extLst>
                  <a:ext uri="{FF2B5EF4-FFF2-40B4-BE49-F238E27FC236}">
                    <a16:creationId xmlns:a16="http://schemas.microsoft.com/office/drawing/2014/main" id="{DF30C1A0-2E95-65EC-3D1F-8CAF7CA793A5}"/>
                  </a:ext>
                </a:extLst>
              </p:cNvPr>
              <p:cNvSpPr/>
              <p:nvPr/>
            </p:nvSpPr>
            <p:spPr>
              <a:xfrm>
                <a:off x="31314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7" name="이등변 삼각형 401">
                <a:extLst>
                  <a:ext uri="{FF2B5EF4-FFF2-40B4-BE49-F238E27FC236}">
                    <a16:creationId xmlns:a16="http://schemas.microsoft.com/office/drawing/2014/main" id="{9D3766CA-1622-252A-BF9A-326BC65E0234}"/>
                  </a:ext>
                </a:extLst>
              </p:cNvPr>
              <p:cNvSpPr/>
              <p:nvPr/>
            </p:nvSpPr>
            <p:spPr>
              <a:xfrm>
                <a:off x="3329718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8" name="이등변 삼각형 402">
                <a:extLst>
                  <a:ext uri="{FF2B5EF4-FFF2-40B4-BE49-F238E27FC236}">
                    <a16:creationId xmlns:a16="http://schemas.microsoft.com/office/drawing/2014/main" id="{151E31DD-59D5-D467-D711-C77417D64ACA}"/>
                  </a:ext>
                </a:extLst>
              </p:cNvPr>
              <p:cNvSpPr/>
              <p:nvPr/>
            </p:nvSpPr>
            <p:spPr>
              <a:xfrm>
                <a:off x="3528029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29" name="이등변 삼각형 403">
                <a:extLst>
                  <a:ext uri="{FF2B5EF4-FFF2-40B4-BE49-F238E27FC236}">
                    <a16:creationId xmlns:a16="http://schemas.microsoft.com/office/drawing/2014/main" id="{A7A49C3D-C335-4D51-1F5A-DCA4F9B8FF1A}"/>
                  </a:ext>
                </a:extLst>
              </p:cNvPr>
              <p:cNvSpPr/>
              <p:nvPr/>
            </p:nvSpPr>
            <p:spPr>
              <a:xfrm>
                <a:off x="3726340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0" name="이등변 삼각형 404">
                <a:extLst>
                  <a:ext uri="{FF2B5EF4-FFF2-40B4-BE49-F238E27FC236}">
                    <a16:creationId xmlns:a16="http://schemas.microsoft.com/office/drawing/2014/main" id="{FF3D0452-102A-655A-03B8-E3C730366054}"/>
                  </a:ext>
                </a:extLst>
              </p:cNvPr>
              <p:cNvSpPr/>
              <p:nvPr/>
            </p:nvSpPr>
            <p:spPr>
              <a:xfrm>
                <a:off x="3924651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1" name="이등변 삼각형 405">
                <a:extLst>
                  <a:ext uri="{FF2B5EF4-FFF2-40B4-BE49-F238E27FC236}">
                    <a16:creationId xmlns:a16="http://schemas.microsoft.com/office/drawing/2014/main" id="{E11E2403-CF3C-3C09-2D74-D2ACC594443D}"/>
                  </a:ext>
                </a:extLst>
              </p:cNvPr>
              <p:cNvSpPr/>
              <p:nvPr/>
            </p:nvSpPr>
            <p:spPr>
              <a:xfrm>
                <a:off x="4122962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2" name="이등변 삼각형 406">
                <a:extLst>
                  <a:ext uri="{FF2B5EF4-FFF2-40B4-BE49-F238E27FC236}">
                    <a16:creationId xmlns:a16="http://schemas.microsoft.com/office/drawing/2014/main" id="{3EC83319-7ADD-EBDF-12E6-36088E2606DA}"/>
                  </a:ext>
                </a:extLst>
              </p:cNvPr>
              <p:cNvSpPr/>
              <p:nvPr/>
            </p:nvSpPr>
            <p:spPr>
              <a:xfrm>
                <a:off x="4321273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3" name="이등변 삼각형 407">
                <a:extLst>
                  <a:ext uri="{FF2B5EF4-FFF2-40B4-BE49-F238E27FC236}">
                    <a16:creationId xmlns:a16="http://schemas.microsoft.com/office/drawing/2014/main" id="{C1D725D4-CA2B-AA70-7EA9-6F52F88D61D2}"/>
                  </a:ext>
                </a:extLst>
              </p:cNvPr>
              <p:cNvSpPr/>
              <p:nvPr/>
            </p:nvSpPr>
            <p:spPr>
              <a:xfrm>
                <a:off x="4519584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4" name="이등변 삼각형 408">
                <a:extLst>
                  <a:ext uri="{FF2B5EF4-FFF2-40B4-BE49-F238E27FC236}">
                    <a16:creationId xmlns:a16="http://schemas.microsoft.com/office/drawing/2014/main" id="{99D57D23-27A3-5C81-7FCE-5DA415AD45C6}"/>
                  </a:ext>
                </a:extLst>
              </p:cNvPr>
              <p:cNvSpPr/>
              <p:nvPr/>
            </p:nvSpPr>
            <p:spPr>
              <a:xfrm>
                <a:off x="4717895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5" name="이등변 삼각형 409">
                <a:extLst>
                  <a:ext uri="{FF2B5EF4-FFF2-40B4-BE49-F238E27FC236}">
                    <a16:creationId xmlns:a16="http://schemas.microsoft.com/office/drawing/2014/main" id="{1C78484B-C038-AEAB-44B2-A6247264D725}"/>
                  </a:ext>
                </a:extLst>
              </p:cNvPr>
              <p:cNvSpPr/>
              <p:nvPr/>
            </p:nvSpPr>
            <p:spPr>
              <a:xfrm>
                <a:off x="4916206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36" name="이등변 삼각형 410">
                <a:extLst>
                  <a:ext uri="{FF2B5EF4-FFF2-40B4-BE49-F238E27FC236}">
                    <a16:creationId xmlns:a16="http://schemas.microsoft.com/office/drawing/2014/main" id="{89BF27F8-39D5-7315-96E9-A531AC369626}"/>
                  </a:ext>
                </a:extLst>
              </p:cNvPr>
              <p:cNvSpPr/>
              <p:nvPr/>
            </p:nvSpPr>
            <p:spPr>
              <a:xfrm>
                <a:off x="5114507" y="2401982"/>
                <a:ext cx="144000" cy="144000"/>
              </a:xfrm>
              <a:prstGeom prst="triangle">
                <a:avLst/>
              </a:prstGeom>
              <a:solidFill>
                <a:schemeClr val="accent1">
                  <a:lumMod val="40000"/>
                  <a:lumOff val="60000"/>
                  <a:alpha val="5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</p:grpSp>
        <p:sp>
          <p:nvSpPr>
            <p:cNvPr id="337" name="타원 336">
              <a:extLst>
                <a:ext uri="{FF2B5EF4-FFF2-40B4-BE49-F238E27FC236}">
                  <a16:creationId xmlns:a16="http://schemas.microsoft.com/office/drawing/2014/main" id="{D88FD3CD-EC0A-E4FD-5BD4-E6ED3048B7B8}"/>
                </a:ext>
              </a:extLst>
            </p:cNvPr>
            <p:cNvSpPr/>
            <p:nvPr/>
          </p:nvSpPr>
          <p:spPr>
            <a:xfrm>
              <a:off x="1347324" y="2689978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38" name="타원 337">
              <a:extLst>
                <a:ext uri="{FF2B5EF4-FFF2-40B4-BE49-F238E27FC236}">
                  <a16:creationId xmlns:a16="http://schemas.microsoft.com/office/drawing/2014/main" id="{C857D478-3375-E6AD-3F45-639DF5F81043}"/>
                </a:ext>
              </a:extLst>
            </p:cNvPr>
            <p:cNvSpPr/>
            <p:nvPr/>
          </p:nvSpPr>
          <p:spPr>
            <a:xfrm>
              <a:off x="1343289" y="3057157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39" name="타원 338">
              <a:extLst>
                <a:ext uri="{FF2B5EF4-FFF2-40B4-BE49-F238E27FC236}">
                  <a16:creationId xmlns:a16="http://schemas.microsoft.com/office/drawing/2014/main" id="{1213D562-BF32-1139-CDDF-F375BF98CB05}"/>
                </a:ext>
              </a:extLst>
            </p:cNvPr>
            <p:cNvSpPr/>
            <p:nvPr/>
          </p:nvSpPr>
          <p:spPr>
            <a:xfrm>
              <a:off x="1781526" y="2913155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0" name="타원 339">
              <a:extLst>
                <a:ext uri="{FF2B5EF4-FFF2-40B4-BE49-F238E27FC236}">
                  <a16:creationId xmlns:a16="http://schemas.microsoft.com/office/drawing/2014/main" id="{4E71295D-5E69-1FFF-AAA6-BCD6ACB98CB5}"/>
                </a:ext>
              </a:extLst>
            </p:cNvPr>
            <p:cNvSpPr/>
            <p:nvPr/>
          </p:nvSpPr>
          <p:spPr>
            <a:xfrm>
              <a:off x="1056990" y="2827051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1" name="타원 340">
              <a:extLst>
                <a:ext uri="{FF2B5EF4-FFF2-40B4-BE49-F238E27FC236}">
                  <a16:creationId xmlns:a16="http://schemas.microsoft.com/office/drawing/2014/main" id="{418E9831-E9B8-58A0-8653-9CE066A2FF71}"/>
                </a:ext>
              </a:extLst>
            </p:cNvPr>
            <p:cNvSpPr/>
            <p:nvPr/>
          </p:nvSpPr>
          <p:spPr>
            <a:xfrm>
              <a:off x="1546999" y="2881895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2" name="타원 341">
              <a:extLst>
                <a:ext uri="{FF2B5EF4-FFF2-40B4-BE49-F238E27FC236}">
                  <a16:creationId xmlns:a16="http://schemas.microsoft.com/office/drawing/2014/main" id="{26E49E25-6C6F-78E8-C8DE-8690D3749943}"/>
                </a:ext>
              </a:extLst>
            </p:cNvPr>
            <p:cNvSpPr/>
            <p:nvPr/>
          </p:nvSpPr>
          <p:spPr>
            <a:xfrm>
              <a:off x="3605666" y="4919423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3" name="타원 342">
              <a:extLst>
                <a:ext uri="{FF2B5EF4-FFF2-40B4-BE49-F238E27FC236}">
                  <a16:creationId xmlns:a16="http://schemas.microsoft.com/office/drawing/2014/main" id="{6C4F3C82-29B2-861E-4ADB-4BD853DC46B2}"/>
                </a:ext>
              </a:extLst>
            </p:cNvPr>
            <p:cNvSpPr/>
            <p:nvPr/>
          </p:nvSpPr>
          <p:spPr>
            <a:xfrm>
              <a:off x="3601631" y="5286602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4" name="타원 343">
              <a:extLst>
                <a:ext uri="{FF2B5EF4-FFF2-40B4-BE49-F238E27FC236}">
                  <a16:creationId xmlns:a16="http://schemas.microsoft.com/office/drawing/2014/main" id="{EE17EA12-B20A-6BE3-84B6-D77E6867CD41}"/>
                </a:ext>
              </a:extLst>
            </p:cNvPr>
            <p:cNvSpPr/>
            <p:nvPr/>
          </p:nvSpPr>
          <p:spPr>
            <a:xfrm>
              <a:off x="4039953" y="5000557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5" name="타원 344">
              <a:extLst>
                <a:ext uri="{FF2B5EF4-FFF2-40B4-BE49-F238E27FC236}">
                  <a16:creationId xmlns:a16="http://schemas.microsoft.com/office/drawing/2014/main" id="{87CA97EA-8F7C-46C1-18C8-CF8DFC713437}"/>
                </a:ext>
              </a:extLst>
            </p:cNvPr>
            <p:cNvSpPr/>
            <p:nvPr/>
          </p:nvSpPr>
          <p:spPr>
            <a:xfrm>
              <a:off x="3936343" y="4803369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6" name="타원 345">
              <a:extLst>
                <a:ext uri="{FF2B5EF4-FFF2-40B4-BE49-F238E27FC236}">
                  <a16:creationId xmlns:a16="http://schemas.microsoft.com/office/drawing/2014/main" id="{C17789CC-11F5-41FB-05E3-268C4010BE2D}"/>
                </a:ext>
              </a:extLst>
            </p:cNvPr>
            <p:cNvSpPr/>
            <p:nvPr/>
          </p:nvSpPr>
          <p:spPr>
            <a:xfrm>
              <a:off x="3805341" y="5111340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7" name="타원 346">
              <a:extLst>
                <a:ext uri="{FF2B5EF4-FFF2-40B4-BE49-F238E27FC236}">
                  <a16:creationId xmlns:a16="http://schemas.microsoft.com/office/drawing/2014/main" id="{2F6ECF01-A899-5DD2-BD67-6D9B69F35F21}"/>
                </a:ext>
              </a:extLst>
            </p:cNvPr>
            <p:cNvSpPr/>
            <p:nvPr/>
          </p:nvSpPr>
          <p:spPr>
            <a:xfrm>
              <a:off x="3984141" y="3219651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8" name="타원 347">
              <a:extLst>
                <a:ext uri="{FF2B5EF4-FFF2-40B4-BE49-F238E27FC236}">
                  <a16:creationId xmlns:a16="http://schemas.microsoft.com/office/drawing/2014/main" id="{4E9B7431-F42E-138E-F85C-37C1E12D9F07}"/>
                </a:ext>
              </a:extLst>
            </p:cNvPr>
            <p:cNvSpPr/>
            <p:nvPr/>
          </p:nvSpPr>
          <p:spPr>
            <a:xfrm>
              <a:off x="4233450" y="3164926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49" name="타원 348">
              <a:extLst>
                <a:ext uri="{FF2B5EF4-FFF2-40B4-BE49-F238E27FC236}">
                  <a16:creationId xmlns:a16="http://schemas.microsoft.com/office/drawing/2014/main" id="{0A778D0A-23EC-0EDC-9BBC-AAC0BC4A661A}"/>
                </a:ext>
              </a:extLst>
            </p:cNvPr>
            <p:cNvSpPr/>
            <p:nvPr/>
          </p:nvSpPr>
          <p:spPr>
            <a:xfrm>
              <a:off x="3850495" y="3008044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50" name="타원 349">
              <a:extLst>
                <a:ext uri="{FF2B5EF4-FFF2-40B4-BE49-F238E27FC236}">
                  <a16:creationId xmlns:a16="http://schemas.microsoft.com/office/drawing/2014/main" id="{4A4E5967-A330-55A8-5266-FAFFFCC4D3FF}"/>
                </a:ext>
              </a:extLst>
            </p:cNvPr>
            <p:cNvSpPr/>
            <p:nvPr/>
          </p:nvSpPr>
          <p:spPr>
            <a:xfrm>
              <a:off x="1281121" y="5330676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51" name="타원 350">
              <a:extLst>
                <a:ext uri="{FF2B5EF4-FFF2-40B4-BE49-F238E27FC236}">
                  <a16:creationId xmlns:a16="http://schemas.microsoft.com/office/drawing/2014/main" id="{56BB96B9-3372-D15B-0DA6-00CEE7204FD2}"/>
                </a:ext>
              </a:extLst>
            </p:cNvPr>
            <p:cNvSpPr/>
            <p:nvPr/>
          </p:nvSpPr>
          <p:spPr>
            <a:xfrm>
              <a:off x="1417280" y="5483917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52" name="타원 351">
              <a:extLst>
                <a:ext uri="{FF2B5EF4-FFF2-40B4-BE49-F238E27FC236}">
                  <a16:creationId xmlns:a16="http://schemas.microsoft.com/office/drawing/2014/main" id="{2BE27F4C-92E7-91DC-D26A-9DC5A815ECA2}"/>
                </a:ext>
              </a:extLst>
            </p:cNvPr>
            <p:cNvSpPr/>
            <p:nvPr/>
          </p:nvSpPr>
          <p:spPr>
            <a:xfrm>
              <a:off x="1498218" y="5201605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53" name="타원 352">
              <a:extLst>
                <a:ext uri="{FF2B5EF4-FFF2-40B4-BE49-F238E27FC236}">
                  <a16:creationId xmlns:a16="http://schemas.microsoft.com/office/drawing/2014/main" id="{5E0746B8-4BA4-6665-61A4-0355BF5DACF1}"/>
                </a:ext>
              </a:extLst>
            </p:cNvPr>
            <p:cNvSpPr/>
            <p:nvPr/>
          </p:nvSpPr>
          <p:spPr>
            <a:xfrm>
              <a:off x="1307198" y="5038690"/>
              <a:ext cx="160817" cy="18099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354" name="그룹 353">
              <a:extLst>
                <a:ext uri="{FF2B5EF4-FFF2-40B4-BE49-F238E27FC236}">
                  <a16:creationId xmlns:a16="http://schemas.microsoft.com/office/drawing/2014/main" id="{93D91952-2222-20F1-D3A1-6BD7994B7155}"/>
                </a:ext>
              </a:extLst>
            </p:cNvPr>
            <p:cNvGrpSpPr/>
            <p:nvPr/>
          </p:nvGrpSpPr>
          <p:grpSpPr>
            <a:xfrm>
              <a:off x="1101055" y="2687991"/>
              <a:ext cx="3320866" cy="3003409"/>
              <a:chOff x="1353120" y="2564023"/>
              <a:chExt cx="3716993" cy="2986930"/>
            </a:xfrm>
          </p:grpSpPr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AA884EFB-B975-4891-674F-74B5373D0898}"/>
                  </a:ext>
                </a:extLst>
              </p:cNvPr>
              <p:cNvGrpSpPr/>
              <p:nvPr/>
            </p:nvGrpSpPr>
            <p:grpSpPr>
              <a:xfrm>
                <a:off x="1353120" y="2564023"/>
                <a:ext cx="3716993" cy="180000"/>
                <a:chOff x="1407482" y="2564023"/>
                <a:chExt cx="3716993" cy="180000"/>
              </a:xfrm>
            </p:grpSpPr>
            <p:sp>
              <p:nvSpPr>
                <p:cNvPr id="376" name="직사각형 375">
                  <a:extLst>
                    <a:ext uri="{FF2B5EF4-FFF2-40B4-BE49-F238E27FC236}">
                      <a16:creationId xmlns:a16="http://schemas.microsoft.com/office/drawing/2014/main" id="{84E9D659-10AB-6A6B-3925-80F03C2DD2A2}"/>
                    </a:ext>
                  </a:extLst>
                </p:cNvPr>
                <p:cNvSpPr/>
                <p:nvPr/>
              </p:nvSpPr>
              <p:spPr>
                <a:xfrm>
                  <a:off x="1407482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7" name="직사각형 376">
                  <a:extLst>
                    <a:ext uri="{FF2B5EF4-FFF2-40B4-BE49-F238E27FC236}">
                      <a16:creationId xmlns:a16="http://schemas.microsoft.com/office/drawing/2014/main" id="{A0578E81-1512-29FE-AB83-4C6F88DD323B}"/>
                    </a:ext>
                  </a:extLst>
                </p:cNvPr>
                <p:cNvSpPr/>
                <p:nvPr/>
              </p:nvSpPr>
              <p:spPr>
                <a:xfrm>
                  <a:off x="2586480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8" name="직사각형 377">
                  <a:extLst>
                    <a:ext uri="{FF2B5EF4-FFF2-40B4-BE49-F238E27FC236}">
                      <a16:creationId xmlns:a16="http://schemas.microsoft.com/office/drawing/2014/main" id="{D5AC767C-EFE1-4B36-AFC3-08250FA0DCB5}"/>
                    </a:ext>
                  </a:extLst>
                </p:cNvPr>
                <p:cNvSpPr/>
                <p:nvPr/>
              </p:nvSpPr>
              <p:spPr>
                <a:xfrm>
                  <a:off x="3765478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9" name="직사각형 378">
                  <a:extLst>
                    <a:ext uri="{FF2B5EF4-FFF2-40B4-BE49-F238E27FC236}">
                      <a16:creationId xmlns:a16="http://schemas.microsoft.com/office/drawing/2014/main" id="{719CD612-5AE9-8F5A-1569-1E25D0CFA0ED}"/>
                    </a:ext>
                  </a:extLst>
                </p:cNvPr>
                <p:cNvSpPr/>
                <p:nvPr/>
              </p:nvSpPr>
              <p:spPr>
                <a:xfrm>
                  <a:off x="4944475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436A245F-5A64-6022-1C4C-4C5BFFF04108}"/>
                  </a:ext>
                </a:extLst>
              </p:cNvPr>
              <p:cNvGrpSpPr/>
              <p:nvPr/>
            </p:nvGrpSpPr>
            <p:grpSpPr>
              <a:xfrm>
                <a:off x="1353120" y="3265756"/>
                <a:ext cx="3716993" cy="180000"/>
                <a:chOff x="1407482" y="2564023"/>
                <a:chExt cx="3716993" cy="180000"/>
              </a:xfrm>
            </p:grpSpPr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833F5D50-D8FB-0704-D0FC-0352BBC5DB54}"/>
                    </a:ext>
                  </a:extLst>
                </p:cNvPr>
                <p:cNvSpPr/>
                <p:nvPr/>
              </p:nvSpPr>
              <p:spPr>
                <a:xfrm>
                  <a:off x="1407482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8E475293-05D8-2534-C0EE-10245B387C9B}"/>
                    </a:ext>
                  </a:extLst>
                </p:cNvPr>
                <p:cNvSpPr/>
                <p:nvPr/>
              </p:nvSpPr>
              <p:spPr>
                <a:xfrm>
                  <a:off x="2586480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4" name="직사각형 373">
                  <a:extLst>
                    <a:ext uri="{FF2B5EF4-FFF2-40B4-BE49-F238E27FC236}">
                      <a16:creationId xmlns:a16="http://schemas.microsoft.com/office/drawing/2014/main" id="{E9F23C2F-28C5-D7D0-B598-A87336616EAC}"/>
                    </a:ext>
                  </a:extLst>
                </p:cNvPr>
                <p:cNvSpPr/>
                <p:nvPr/>
              </p:nvSpPr>
              <p:spPr>
                <a:xfrm>
                  <a:off x="3765478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5" name="직사각형 374">
                  <a:extLst>
                    <a:ext uri="{FF2B5EF4-FFF2-40B4-BE49-F238E27FC236}">
                      <a16:creationId xmlns:a16="http://schemas.microsoft.com/office/drawing/2014/main" id="{2B6CC855-4EF4-79D9-5AA3-3EE1552B9065}"/>
                    </a:ext>
                  </a:extLst>
                </p:cNvPr>
                <p:cNvSpPr/>
                <p:nvPr/>
              </p:nvSpPr>
              <p:spPr>
                <a:xfrm>
                  <a:off x="4944475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</p:grpSp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9788492D-A2B7-45B7-9DAA-1D840D8F0FB3}"/>
                  </a:ext>
                </a:extLst>
              </p:cNvPr>
              <p:cNvGrpSpPr/>
              <p:nvPr/>
            </p:nvGrpSpPr>
            <p:grpSpPr>
              <a:xfrm>
                <a:off x="1353120" y="3967489"/>
                <a:ext cx="3716993" cy="180000"/>
                <a:chOff x="1407482" y="2564023"/>
                <a:chExt cx="3716993" cy="180000"/>
              </a:xfrm>
            </p:grpSpPr>
            <p:sp>
              <p:nvSpPr>
                <p:cNvPr id="368" name="직사각형 367">
                  <a:extLst>
                    <a:ext uri="{FF2B5EF4-FFF2-40B4-BE49-F238E27FC236}">
                      <a16:creationId xmlns:a16="http://schemas.microsoft.com/office/drawing/2014/main" id="{41B076EB-0A0C-0B97-5057-1F58BC9CD3E9}"/>
                    </a:ext>
                  </a:extLst>
                </p:cNvPr>
                <p:cNvSpPr/>
                <p:nvPr/>
              </p:nvSpPr>
              <p:spPr>
                <a:xfrm>
                  <a:off x="1407482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9" name="직사각형 368">
                  <a:extLst>
                    <a:ext uri="{FF2B5EF4-FFF2-40B4-BE49-F238E27FC236}">
                      <a16:creationId xmlns:a16="http://schemas.microsoft.com/office/drawing/2014/main" id="{A2020999-CC25-2A43-8065-DBBC0EB88400}"/>
                    </a:ext>
                  </a:extLst>
                </p:cNvPr>
                <p:cNvSpPr/>
                <p:nvPr/>
              </p:nvSpPr>
              <p:spPr>
                <a:xfrm>
                  <a:off x="2586480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0" name="직사각형 369">
                  <a:extLst>
                    <a:ext uri="{FF2B5EF4-FFF2-40B4-BE49-F238E27FC236}">
                      <a16:creationId xmlns:a16="http://schemas.microsoft.com/office/drawing/2014/main" id="{FE37A2FB-4871-23AA-A630-685A7091B1CC}"/>
                    </a:ext>
                  </a:extLst>
                </p:cNvPr>
                <p:cNvSpPr/>
                <p:nvPr/>
              </p:nvSpPr>
              <p:spPr>
                <a:xfrm>
                  <a:off x="3765478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71" name="직사각형 370">
                  <a:extLst>
                    <a:ext uri="{FF2B5EF4-FFF2-40B4-BE49-F238E27FC236}">
                      <a16:creationId xmlns:a16="http://schemas.microsoft.com/office/drawing/2014/main" id="{A39841F0-BE2F-AAD3-0AA9-7E3338F2EB17}"/>
                    </a:ext>
                  </a:extLst>
                </p:cNvPr>
                <p:cNvSpPr/>
                <p:nvPr/>
              </p:nvSpPr>
              <p:spPr>
                <a:xfrm>
                  <a:off x="4944475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</p:grpSp>
          <p:grpSp>
            <p:nvGrpSpPr>
              <p:cNvPr id="358" name="그룹 357">
                <a:extLst>
                  <a:ext uri="{FF2B5EF4-FFF2-40B4-BE49-F238E27FC236}">
                    <a16:creationId xmlns:a16="http://schemas.microsoft.com/office/drawing/2014/main" id="{DA53807A-27EB-FF7E-1ACF-6439CB9C0A1A}"/>
                  </a:ext>
                </a:extLst>
              </p:cNvPr>
              <p:cNvGrpSpPr/>
              <p:nvPr/>
            </p:nvGrpSpPr>
            <p:grpSpPr>
              <a:xfrm>
                <a:off x="1353120" y="4669222"/>
                <a:ext cx="3716993" cy="180000"/>
                <a:chOff x="1407482" y="2564023"/>
                <a:chExt cx="3716993" cy="180000"/>
              </a:xfrm>
            </p:grpSpPr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11D4C7BA-20ED-BB29-D87E-06E282025CAE}"/>
                    </a:ext>
                  </a:extLst>
                </p:cNvPr>
                <p:cNvSpPr/>
                <p:nvPr/>
              </p:nvSpPr>
              <p:spPr>
                <a:xfrm>
                  <a:off x="1407482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5" name="직사각형 364">
                  <a:extLst>
                    <a:ext uri="{FF2B5EF4-FFF2-40B4-BE49-F238E27FC236}">
                      <a16:creationId xmlns:a16="http://schemas.microsoft.com/office/drawing/2014/main" id="{F238176D-B8A1-5951-B6EF-530FF262C938}"/>
                    </a:ext>
                  </a:extLst>
                </p:cNvPr>
                <p:cNvSpPr/>
                <p:nvPr/>
              </p:nvSpPr>
              <p:spPr>
                <a:xfrm>
                  <a:off x="2586480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6" name="직사각형 365">
                  <a:extLst>
                    <a:ext uri="{FF2B5EF4-FFF2-40B4-BE49-F238E27FC236}">
                      <a16:creationId xmlns:a16="http://schemas.microsoft.com/office/drawing/2014/main" id="{38310114-3822-DCF5-D4E6-FC68849E1BE2}"/>
                    </a:ext>
                  </a:extLst>
                </p:cNvPr>
                <p:cNvSpPr/>
                <p:nvPr/>
              </p:nvSpPr>
              <p:spPr>
                <a:xfrm>
                  <a:off x="3765478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C31FCE6-AF74-7958-9DF1-D8FE9C2BCABA}"/>
                    </a:ext>
                  </a:extLst>
                </p:cNvPr>
                <p:cNvSpPr/>
                <p:nvPr/>
              </p:nvSpPr>
              <p:spPr>
                <a:xfrm>
                  <a:off x="4944475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</p:grpSp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B1BCB63B-B501-6AA9-99A1-63E8A7DE5AAA}"/>
                  </a:ext>
                </a:extLst>
              </p:cNvPr>
              <p:cNvGrpSpPr/>
              <p:nvPr/>
            </p:nvGrpSpPr>
            <p:grpSpPr>
              <a:xfrm>
                <a:off x="1353120" y="5370953"/>
                <a:ext cx="3716993" cy="180000"/>
                <a:chOff x="1407482" y="2564023"/>
                <a:chExt cx="3716993" cy="180000"/>
              </a:xfrm>
            </p:grpSpPr>
            <p:sp>
              <p:nvSpPr>
                <p:cNvPr id="360" name="직사각형 359">
                  <a:extLst>
                    <a:ext uri="{FF2B5EF4-FFF2-40B4-BE49-F238E27FC236}">
                      <a16:creationId xmlns:a16="http://schemas.microsoft.com/office/drawing/2014/main" id="{39E67B70-2796-8255-040A-5101CF8F72CE}"/>
                    </a:ext>
                  </a:extLst>
                </p:cNvPr>
                <p:cNvSpPr/>
                <p:nvPr/>
              </p:nvSpPr>
              <p:spPr>
                <a:xfrm>
                  <a:off x="1407482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A70A1EB9-4D73-9180-9C13-E0688CA09311}"/>
                    </a:ext>
                  </a:extLst>
                </p:cNvPr>
                <p:cNvSpPr/>
                <p:nvPr/>
              </p:nvSpPr>
              <p:spPr>
                <a:xfrm>
                  <a:off x="2586480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2" name="직사각형 361">
                  <a:extLst>
                    <a:ext uri="{FF2B5EF4-FFF2-40B4-BE49-F238E27FC236}">
                      <a16:creationId xmlns:a16="http://schemas.microsoft.com/office/drawing/2014/main" id="{6E6DA6F0-4C04-2BFE-C9EE-7B7E7F48735A}"/>
                    </a:ext>
                  </a:extLst>
                </p:cNvPr>
                <p:cNvSpPr/>
                <p:nvPr/>
              </p:nvSpPr>
              <p:spPr>
                <a:xfrm>
                  <a:off x="3765478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  <p:sp>
              <p:nvSpPr>
                <p:cNvPr id="363" name="직사각형 362">
                  <a:extLst>
                    <a:ext uri="{FF2B5EF4-FFF2-40B4-BE49-F238E27FC236}">
                      <a16:creationId xmlns:a16="http://schemas.microsoft.com/office/drawing/2014/main" id="{C04300AC-CBFF-59ED-3F41-14662D826607}"/>
                    </a:ext>
                  </a:extLst>
                </p:cNvPr>
                <p:cNvSpPr/>
                <p:nvPr/>
              </p:nvSpPr>
              <p:spPr>
                <a:xfrm>
                  <a:off x="4944475" y="2564023"/>
                  <a:ext cx="180000" cy="180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 dirty="0"/>
                </a:p>
              </p:txBody>
            </p:sp>
          </p:grpSp>
        </p:grpSp>
        <p:sp>
          <p:nvSpPr>
            <p:cNvPr id="380" name="이등변 삼각형 572">
              <a:extLst>
                <a:ext uri="{FF2B5EF4-FFF2-40B4-BE49-F238E27FC236}">
                  <a16:creationId xmlns:a16="http://schemas.microsoft.com/office/drawing/2014/main" id="{573E0B57-BC9E-D4BE-0183-00ADE869DE84}"/>
                </a:ext>
              </a:extLst>
            </p:cNvPr>
            <p:cNvSpPr/>
            <p:nvPr/>
          </p:nvSpPr>
          <p:spPr>
            <a:xfrm>
              <a:off x="786966" y="6317727"/>
              <a:ext cx="192981" cy="217192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81" name="타원 380">
              <a:extLst>
                <a:ext uri="{FF2B5EF4-FFF2-40B4-BE49-F238E27FC236}">
                  <a16:creationId xmlns:a16="http://schemas.microsoft.com/office/drawing/2014/main" id="{DBC3C68A-7556-B7DE-8DFF-D407A4C4E96C}"/>
                </a:ext>
              </a:extLst>
            </p:cNvPr>
            <p:cNvSpPr/>
            <p:nvPr/>
          </p:nvSpPr>
          <p:spPr>
            <a:xfrm>
              <a:off x="2027110" y="6317728"/>
              <a:ext cx="225144" cy="25339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F9D400E8-FBCB-D540-CC23-EA492BFBC342}"/>
                </a:ext>
              </a:extLst>
            </p:cNvPr>
            <p:cNvSpPr txBox="1"/>
            <p:nvPr/>
          </p:nvSpPr>
          <p:spPr>
            <a:xfrm>
              <a:off x="968284" y="6317727"/>
              <a:ext cx="1031617" cy="469061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계산 </a:t>
              </a:r>
              <a:b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데이터</a:t>
              </a:r>
            </a:p>
          </p:txBody>
        </p:sp>
        <p:sp>
          <p:nvSpPr>
            <p:cNvPr id="383" name="직사각형 382">
              <a:extLst>
                <a:ext uri="{FF2B5EF4-FFF2-40B4-BE49-F238E27FC236}">
                  <a16:creationId xmlns:a16="http://schemas.microsoft.com/office/drawing/2014/main" id="{B08B5BD8-DEF9-E445-08A8-616AEDF52965}"/>
                </a:ext>
              </a:extLst>
            </p:cNvPr>
            <p:cNvSpPr/>
            <p:nvPr/>
          </p:nvSpPr>
          <p:spPr>
            <a:xfrm>
              <a:off x="3203019" y="6317728"/>
              <a:ext cx="225144" cy="25339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BB7D7199-CAFB-846F-4985-38EF5A17AF03}"/>
                </a:ext>
              </a:extLst>
            </p:cNvPr>
            <p:cNvSpPr txBox="1"/>
            <p:nvPr/>
          </p:nvSpPr>
          <p:spPr>
            <a:xfrm>
              <a:off x="3382898" y="6317727"/>
              <a:ext cx="1850522" cy="469061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: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자동화 실험</a:t>
              </a:r>
              <a:b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 데이터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E877760-B4B1-0716-23BC-7F10F792EC98}"/>
                </a:ext>
              </a:extLst>
            </p:cNvPr>
            <p:cNvSpPr txBox="1"/>
            <p:nvPr/>
          </p:nvSpPr>
          <p:spPr>
            <a:xfrm>
              <a:off x="2220007" y="6317727"/>
              <a:ext cx="1031617" cy="469061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  <a:t>: </a:t>
              </a: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문헌 </a:t>
              </a:r>
              <a:br>
                <a:rPr lang="en-US" altLang="ko-KR" sz="1000" dirty="0"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000" dirty="0">
                  <a:latin typeface="페이퍼로지 5 Medium" pitchFamily="2" charset="-127"/>
                  <a:ea typeface="페이퍼로지 5 Medium" pitchFamily="2" charset="-127"/>
                </a:rPr>
                <a:t>데이터</a:t>
              </a:r>
            </a:p>
          </p:txBody>
        </p:sp>
        <p:grpSp>
          <p:nvGrpSpPr>
            <p:cNvPr id="386" name="그룹 385">
              <a:extLst>
                <a:ext uri="{FF2B5EF4-FFF2-40B4-BE49-F238E27FC236}">
                  <a16:creationId xmlns:a16="http://schemas.microsoft.com/office/drawing/2014/main" id="{FFEEE89D-54BA-C719-BC60-51BA18001BC5}"/>
                </a:ext>
              </a:extLst>
            </p:cNvPr>
            <p:cNvGrpSpPr/>
            <p:nvPr/>
          </p:nvGrpSpPr>
          <p:grpSpPr>
            <a:xfrm>
              <a:off x="4893469" y="1723902"/>
              <a:ext cx="4391329" cy="4871938"/>
              <a:chOff x="4893469" y="1723902"/>
              <a:chExt cx="4691639" cy="4871938"/>
            </a:xfrm>
          </p:grpSpPr>
          <p:sp>
            <p:nvSpPr>
              <p:cNvPr id="387" name="모서리가 둥근 직사각형 11">
                <a:extLst>
                  <a:ext uri="{FF2B5EF4-FFF2-40B4-BE49-F238E27FC236}">
                    <a16:creationId xmlns:a16="http://schemas.microsoft.com/office/drawing/2014/main" id="{55C685FB-92CE-405E-116C-720667DDD684}"/>
                  </a:ext>
                </a:extLst>
              </p:cNvPr>
              <p:cNvSpPr/>
              <p:nvPr/>
            </p:nvSpPr>
            <p:spPr>
              <a:xfrm>
                <a:off x="4893469" y="1723902"/>
                <a:ext cx="4411411" cy="392891"/>
              </a:xfrm>
              <a:prstGeom prst="roundRect">
                <a:avLst>
                  <a:gd name="adj" fmla="val 50000"/>
                </a:avLst>
              </a:prstGeom>
              <a:solidFill>
                <a:srgbClr val="177DFA"/>
              </a:solidFill>
              <a:ln>
                <a:noFill/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64" rIns="180064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ko-KR" altLang="en-US" sz="1200" spc="-70" dirty="0">
                    <a:latin typeface="Paperlogy 6 SemiBold" pitchFamily="2" charset="-127"/>
                    <a:ea typeface="Paperlogy 6 SemiBold" pitchFamily="2" charset="-127"/>
                  </a:rPr>
                  <a:t>데이터 신뢰성 확보</a:t>
                </a:r>
                <a:endParaRPr kumimoji="1" lang="en-US" altLang="ko-KR" sz="1200" spc="-70" dirty="0">
                  <a:latin typeface="Paperlogy 6 SemiBold" pitchFamily="2" charset="-127"/>
                  <a:ea typeface="Paperlogy 6 SemiBold" pitchFamily="2" charset="-127"/>
                </a:endParaRPr>
              </a:p>
            </p:txBody>
          </p:sp>
          <p:sp>
            <p:nvSpPr>
              <p:cNvPr id="388" name="모서리가 둥근 직사각형 11">
                <a:extLst>
                  <a:ext uri="{FF2B5EF4-FFF2-40B4-BE49-F238E27FC236}">
                    <a16:creationId xmlns:a16="http://schemas.microsoft.com/office/drawing/2014/main" id="{A9C2989D-07C6-2FA0-B625-3288E0C49AE5}"/>
                  </a:ext>
                </a:extLst>
              </p:cNvPr>
              <p:cNvSpPr/>
              <p:nvPr/>
            </p:nvSpPr>
            <p:spPr>
              <a:xfrm>
                <a:off x="4914187" y="4387612"/>
                <a:ext cx="4411411" cy="392891"/>
              </a:xfrm>
              <a:prstGeom prst="roundRect">
                <a:avLst>
                  <a:gd name="adj" fmla="val 50000"/>
                </a:avLst>
              </a:prstGeom>
              <a:solidFill>
                <a:srgbClr val="177DFA"/>
              </a:solidFill>
              <a:ln>
                <a:noFill/>
              </a:ln>
              <a:effectLst>
                <a:outerShdw blurRad="254000" dist="38100" dir="5400000" algn="t" rotWithShape="0">
                  <a:schemeClr val="tx1">
                    <a:lumMod val="65000"/>
                    <a:lumOff val="3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64" rIns="180064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ko-KR" altLang="en-US" sz="1200" spc="-70" dirty="0">
                    <a:latin typeface="Paperlogy 6 SemiBold" pitchFamily="2" charset="-127"/>
                    <a:ea typeface="Paperlogy 6 SemiBold" pitchFamily="2" charset="-127"/>
                  </a:rPr>
                  <a:t>데이터 일관성 확보</a:t>
                </a:r>
                <a:endParaRPr kumimoji="1" lang="en-US" altLang="ko-KR" sz="1200" spc="-70" dirty="0">
                  <a:latin typeface="Paperlogy 6 SemiBold" pitchFamily="2" charset="-127"/>
                  <a:ea typeface="Paperlogy 6 SemiBold" pitchFamily="2" charset="-127"/>
                </a:endParaRPr>
              </a:p>
            </p:txBody>
          </p:sp>
          <p:pic>
            <p:nvPicPr>
              <p:cNvPr id="389" name="Picture 6" descr="2742052271">
                <a:extLst>
                  <a:ext uri="{FF2B5EF4-FFF2-40B4-BE49-F238E27FC236}">
                    <a16:creationId xmlns:a16="http://schemas.microsoft.com/office/drawing/2014/main" id="{8329E187-840B-878B-F8FA-C8A1866A1C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927" t="5819" r="13038" b="55946"/>
              <a:stretch/>
            </p:blipFill>
            <p:spPr bwMode="auto">
              <a:xfrm>
                <a:off x="8066812" y="4900661"/>
                <a:ext cx="1304267" cy="12980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0" name="Picture 6" descr="2742052271">
                <a:extLst>
                  <a:ext uri="{FF2B5EF4-FFF2-40B4-BE49-F238E27FC236}">
                    <a16:creationId xmlns:a16="http://schemas.microsoft.com/office/drawing/2014/main" id="{36692D4E-2A3B-2D41-6669-3B052EA9D0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15" t="55445" r="12936" b="6320"/>
              <a:stretch/>
            </p:blipFill>
            <p:spPr bwMode="auto">
              <a:xfrm>
                <a:off x="6530824" y="4900659"/>
                <a:ext cx="1300519" cy="1298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1" name="화살표: 오른쪽 151">
                <a:extLst>
                  <a:ext uri="{FF2B5EF4-FFF2-40B4-BE49-F238E27FC236}">
                    <a16:creationId xmlns:a16="http://schemas.microsoft.com/office/drawing/2014/main" id="{137FAD06-4862-E262-F969-EEAAC1EC9C40}"/>
                  </a:ext>
                </a:extLst>
              </p:cNvPr>
              <p:cNvSpPr/>
              <p:nvPr/>
            </p:nvSpPr>
            <p:spPr>
              <a:xfrm>
                <a:off x="7781730" y="5304548"/>
                <a:ext cx="285082" cy="325829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pic>
            <p:nvPicPr>
              <p:cNvPr id="392" name="Picture 4" descr="The rise of self-driving labs in chemical and materials sciences | Nature  Synthesis">
                <a:extLst>
                  <a:ext uri="{FF2B5EF4-FFF2-40B4-BE49-F238E27FC236}">
                    <a16:creationId xmlns:a16="http://schemas.microsoft.com/office/drawing/2014/main" id="{1BACF76B-8AF9-95B2-5C38-D3A5B23D28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4F2EA"/>
                  </a:clrFrom>
                  <a:clrTo>
                    <a:srgbClr val="F4F2E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150" r="34871"/>
              <a:stretch/>
            </p:blipFill>
            <p:spPr bwMode="auto">
              <a:xfrm flipH="1">
                <a:off x="5000600" y="5048256"/>
                <a:ext cx="1275671" cy="9721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C42E8129-118F-BBB9-CD8C-B9C55C880B36}"/>
                  </a:ext>
                </a:extLst>
              </p:cNvPr>
              <p:cNvSpPr txBox="1"/>
              <p:nvPr/>
            </p:nvSpPr>
            <p:spPr>
              <a:xfrm>
                <a:off x="4946063" y="6269537"/>
                <a:ext cx="4616253" cy="326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>
                    <a:latin typeface="페이퍼로지 5 Medium" pitchFamily="2" charset="-127"/>
                    <a:ea typeface="페이퍼로지 5 Medium" pitchFamily="2" charset="-127"/>
                  </a:rPr>
                  <a:t>로봇 및 자동화 시스템 기반 일관성 있는 데이터 확보</a:t>
                </a:r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6382ED34-55F7-08ED-9D43-C278CDF51CBB}"/>
                  </a:ext>
                </a:extLst>
              </p:cNvPr>
              <p:cNvSpPr txBox="1"/>
              <p:nvPr/>
            </p:nvSpPr>
            <p:spPr>
              <a:xfrm>
                <a:off x="5024998" y="4018060"/>
                <a:ext cx="4560110" cy="326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>
                    <a:latin typeface="페이퍼로지 5 Medium" pitchFamily="2" charset="-127"/>
                    <a:ea typeface="페이퍼로지 5 Medium" pitchFamily="2" charset="-127"/>
                  </a:rPr>
                  <a:t>실험데이터 기반 계산 데이터 검증 및 모델 </a:t>
                </a:r>
                <a:r>
                  <a:rPr lang="ko-KR" altLang="en-US" sz="1000" dirty="0" err="1">
                    <a:latin typeface="페이퍼로지 5 Medium" pitchFamily="2" charset="-127"/>
                    <a:ea typeface="페이퍼로지 5 Medium" pitchFamily="2" charset="-127"/>
                  </a:rPr>
                  <a:t>파인튜닝</a:t>
                </a:r>
                <a:endParaRPr lang="ko-KR" altLang="en-US" sz="10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B4A12D6D-A2E0-3256-945F-3E5C3A3CE230}"/>
                  </a:ext>
                </a:extLst>
              </p:cNvPr>
              <p:cNvGrpSpPr/>
              <p:nvPr/>
            </p:nvGrpSpPr>
            <p:grpSpPr>
              <a:xfrm>
                <a:off x="4973005" y="2221593"/>
                <a:ext cx="1525830" cy="1811034"/>
                <a:chOff x="7662820" y="2189909"/>
                <a:chExt cx="1707838" cy="1801097"/>
              </a:xfrm>
            </p:grpSpPr>
            <p:pic>
              <p:nvPicPr>
                <p:cNvPr id="397" name="그림 396">
                  <a:extLst>
                    <a:ext uri="{FF2B5EF4-FFF2-40B4-BE49-F238E27FC236}">
                      <a16:creationId xmlns:a16="http://schemas.microsoft.com/office/drawing/2014/main" id="{EF369B24-F056-2D57-3814-D3DF3187CB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0012" b="6751"/>
                <a:stretch/>
              </p:blipFill>
              <p:spPr>
                <a:xfrm>
                  <a:off x="7662820" y="2189909"/>
                  <a:ext cx="1707838" cy="1801097"/>
                </a:xfrm>
                <a:prstGeom prst="rect">
                  <a:avLst/>
                </a:prstGeom>
              </p:spPr>
            </p:pic>
            <p:sp>
              <p:nvSpPr>
                <p:cNvPr id="398" name="TextBox 397">
                  <a:extLst>
                    <a:ext uri="{FF2B5EF4-FFF2-40B4-BE49-F238E27FC236}">
                      <a16:creationId xmlns:a16="http://schemas.microsoft.com/office/drawing/2014/main" id="{92992E14-DCC5-EDBE-0595-961887BCC8D7}"/>
                    </a:ext>
                  </a:extLst>
                </p:cNvPr>
                <p:cNvSpPr txBox="1"/>
                <p:nvPr/>
              </p:nvSpPr>
              <p:spPr>
                <a:xfrm>
                  <a:off x="8329551" y="2387683"/>
                  <a:ext cx="387218" cy="765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500" dirty="0"/>
                    <a:t>Experiment</a:t>
                  </a:r>
                  <a:endParaRPr lang="ko-KR" altLang="en-US" sz="500" dirty="0"/>
                </a:p>
              </p:txBody>
            </p:sp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B641866D-76E9-C88C-AED4-C88E7A08AC44}"/>
                    </a:ext>
                  </a:extLst>
                </p:cNvPr>
                <p:cNvSpPr txBox="1"/>
                <p:nvPr/>
              </p:nvSpPr>
              <p:spPr>
                <a:xfrm>
                  <a:off x="8340133" y="2266582"/>
                  <a:ext cx="368049" cy="765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500" dirty="0"/>
                    <a:t>Simulation</a:t>
                  </a:r>
                  <a:endParaRPr lang="ko-KR" altLang="en-US" sz="500" dirty="0"/>
                </a:p>
              </p:txBody>
            </p:sp>
          </p:grpSp>
          <p:pic>
            <p:nvPicPr>
              <p:cNvPr id="396" name="그림 395">
                <a:extLst>
                  <a:ext uri="{FF2B5EF4-FFF2-40B4-BE49-F238E27FC236}">
                    <a16:creationId xmlns:a16="http://schemas.microsoft.com/office/drawing/2014/main" id="{760EC4D8-515A-55C6-4C4D-8DACC6CB2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8874" y="2197330"/>
                <a:ext cx="2686006" cy="1785509"/>
              </a:xfrm>
              <a:prstGeom prst="rect">
                <a:avLst/>
              </a:prstGeom>
            </p:spPr>
          </p:pic>
        </p:grpSp>
        <p:sp>
          <p:nvSpPr>
            <p:cNvPr id="400" name="사각형: 둥근 모서리 34">
              <a:extLst>
                <a:ext uri="{FF2B5EF4-FFF2-40B4-BE49-F238E27FC236}">
                  <a16:creationId xmlns:a16="http://schemas.microsoft.com/office/drawing/2014/main" id="{C2032533-8A13-D0EC-82A0-669AC981A94B}"/>
                </a:ext>
              </a:extLst>
            </p:cNvPr>
            <p:cNvSpPr/>
            <p:nvPr/>
          </p:nvSpPr>
          <p:spPr>
            <a:xfrm>
              <a:off x="9815983" y="2379735"/>
              <a:ext cx="2833399" cy="1066840"/>
            </a:xfrm>
            <a:prstGeom prst="roundRect">
              <a:avLst>
                <a:gd name="adj" fmla="val 6771"/>
              </a:avLst>
            </a:prstGeom>
            <a:solidFill>
              <a:srgbClr val="617694">
                <a:alpha val="12000"/>
              </a:srgbClr>
            </a:solidFill>
            <a:ln w="6350">
              <a:solidFill>
                <a:srgbClr val="647B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프리젠테이션 4 Regular" pitchFamily="2" charset="-127"/>
                <a:ea typeface="NanumGothic" panose="020D0604000000000000" pitchFamily="34" charset="-127"/>
              </a:endParaRP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657BA26-94CF-8B5F-A191-B92734B58086}"/>
                </a:ext>
              </a:extLst>
            </p:cNvPr>
            <p:cNvSpPr txBox="1"/>
            <p:nvPr/>
          </p:nvSpPr>
          <p:spPr>
            <a:xfrm>
              <a:off x="10484588" y="2609608"/>
              <a:ext cx="16321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algn="ctr" defTabSz="457200" rtl="0"/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전산재료과학 모델 </a:t>
              </a:r>
              <a:br>
                <a:rPr lang="en-US" altLang="ko-KR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검증용 실험 데이터 확보</a:t>
              </a:r>
            </a:p>
          </p:txBody>
        </p:sp>
        <p:sp>
          <p:nvSpPr>
            <p:cNvPr id="402" name="화살표: 오른쪽 36">
              <a:extLst>
                <a:ext uri="{FF2B5EF4-FFF2-40B4-BE49-F238E27FC236}">
                  <a16:creationId xmlns:a16="http://schemas.microsoft.com/office/drawing/2014/main" id="{0858EAEC-FD6A-7357-135F-CC30495B8519}"/>
                </a:ext>
              </a:extLst>
            </p:cNvPr>
            <p:cNvSpPr/>
            <p:nvPr/>
          </p:nvSpPr>
          <p:spPr>
            <a:xfrm rot="10800000" flipH="1">
              <a:off x="9541669" y="2689977"/>
              <a:ext cx="498164" cy="367179"/>
            </a:xfrm>
            <a:prstGeom prst="rightArrow">
              <a:avLst/>
            </a:prstGeom>
            <a:gradFill>
              <a:gsLst>
                <a:gs pos="44000">
                  <a:sysClr val="window" lastClr="FFFFFF"/>
                </a:gs>
                <a:gs pos="100000">
                  <a:sysClr val="window" lastClr="FFFFFF">
                    <a:lumMod val="65000"/>
                    <a:lumOff val="35000"/>
                  </a:sysClr>
                </a:gs>
              </a:gsLst>
              <a:lin ang="10800000" scaled="0"/>
            </a:gradFill>
            <a:ln w="6350" cap="flat" cmpd="sng" algn="ctr">
              <a:gradFill>
                <a:gsLst>
                  <a:gs pos="70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alpha val="0"/>
                      <a:lumMod val="65000"/>
                      <a:lumOff val="35000"/>
                    </a:sysClr>
                  </a:gs>
                </a:gsLst>
                <a:lin ang="10800000" scaled="0"/>
              </a:gradFill>
              <a:prstDash val="solid"/>
            </a:ln>
            <a:effectLst>
              <a:outerShdw blurRad="127000" dist="127000" dir="2700000" algn="ctr" rotWithShape="0">
                <a:srgbClr val="000000">
                  <a:alpha val="5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403" name="사각형: 둥근 모서리 34">
              <a:extLst>
                <a:ext uri="{FF2B5EF4-FFF2-40B4-BE49-F238E27FC236}">
                  <a16:creationId xmlns:a16="http://schemas.microsoft.com/office/drawing/2014/main" id="{F39A9A0C-18AF-A1D6-B3E1-225E9FA3C702}"/>
                </a:ext>
              </a:extLst>
            </p:cNvPr>
            <p:cNvSpPr/>
            <p:nvPr/>
          </p:nvSpPr>
          <p:spPr>
            <a:xfrm>
              <a:off x="9809524" y="3790148"/>
              <a:ext cx="2833399" cy="1066840"/>
            </a:xfrm>
            <a:prstGeom prst="roundRect">
              <a:avLst>
                <a:gd name="adj" fmla="val 6771"/>
              </a:avLst>
            </a:prstGeom>
            <a:solidFill>
              <a:srgbClr val="617694">
                <a:alpha val="12000"/>
              </a:srgbClr>
            </a:solidFill>
            <a:ln w="6350">
              <a:solidFill>
                <a:srgbClr val="647B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프리젠테이션 4 Regular" pitchFamily="2" charset="-127"/>
                <a:ea typeface="NanumGothic" panose="020D0604000000000000" pitchFamily="34" charset="-127"/>
              </a:endParaRP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2CD2AFC5-CF41-C5F2-A125-53393A3DD2F9}"/>
                </a:ext>
              </a:extLst>
            </p:cNvPr>
            <p:cNvSpPr txBox="1"/>
            <p:nvPr/>
          </p:nvSpPr>
          <p:spPr>
            <a:xfrm>
              <a:off x="10486018" y="4000402"/>
              <a:ext cx="16321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algn="ctr" defTabSz="457200" rtl="0"/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소재 파운데이션 모델</a:t>
              </a:r>
              <a:br>
                <a:rPr lang="en-US" altLang="ko-KR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학습용 실험 데이터 확보</a:t>
              </a:r>
            </a:p>
          </p:txBody>
        </p:sp>
        <p:sp>
          <p:nvSpPr>
            <p:cNvPr id="405" name="화살표: 오른쪽 36">
              <a:extLst>
                <a:ext uri="{FF2B5EF4-FFF2-40B4-BE49-F238E27FC236}">
                  <a16:creationId xmlns:a16="http://schemas.microsoft.com/office/drawing/2014/main" id="{64ACA677-45B5-2BF4-0722-A8202F5A2173}"/>
                </a:ext>
              </a:extLst>
            </p:cNvPr>
            <p:cNvSpPr/>
            <p:nvPr/>
          </p:nvSpPr>
          <p:spPr>
            <a:xfrm rot="10800000" flipH="1">
              <a:off x="9535210" y="4100390"/>
              <a:ext cx="498164" cy="367179"/>
            </a:xfrm>
            <a:prstGeom prst="rightArrow">
              <a:avLst/>
            </a:prstGeom>
            <a:gradFill>
              <a:gsLst>
                <a:gs pos="44000">
                  <a:sysClr val="window" lastClr="FFFFFF"/>
                </a:gs>
                <a:gs pos="100000">
                  <a:sysClr val="window" lastClr="FFFFFF">
                    <a:lumMod val="65000"/>
                    <a:lumOff val="35000"/>
                  </a:sysClr>
                </a:gs>
              </a:gsLst>
              <a:lin ang="10800000" scaled="0"/>
            </a:gradFill>
            <a:ln w="6350" cap="flat" cmpd="sng" algn="ctr">
              <a:gradFill>
                <a:gsLst>
                  <a:gs pos="70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alpha val="0"/>
                      <a:lumMod val="65000"/>
                      <a:lumOff val="35000"/>
                    </a:sysClr>
                  </a:gs>
                </a:gsLst>
                <a:lin ang="10800000" scaled="0"/>
              </a:gradFill>
              <a:prstDash val="solid"/>
            </a:ln>
            <a:effectLst>
              <a:outerShdw blurRad="127000" dist="127000" dir="2700000" algn="ctr" rotWithShape="0">
                <a:srgbClr val="000000">
                  <a:alpha val="5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406" name="사각형: 둥근 모서리 34">
              <a:extLst>
                <a:ext uri="{FF2B5EF4-FFF2-40B4-BE49-F238E27FC236}">
                  <a16:creationId xmlns:a16="http://schemas.microsoft.com/office/drawing/2014/main" id="{8C10FEAB-78C3-67A0-1458-1CB83227F065}"/>
                </a:ext>
              </a:extLst>
            </p:cNvPr>
            <p:cNvSpPr/>
            <p:nvPr/>
          </p:nvSpPr>
          <p:spPr>
            <a:xfrm>
              <a:off x="9806934" y="5200561"/>
              <a:ext cx="2833399" cy="1066840"/>
            </a:xfrm>
            <a:prstGeom prst="roundRect">
              <a:avLst>
                <a:gd name="adj" fmla="val 6771"/>
              </a:avLst>
            </a:prstGeom>
            <a:solidFill>
              <a:srgbClr val="617694">
                <a:alpha val="12000"/>
              </a:srgbClr>
            </a:solidFill>
            <a:ln w="6350">
              <a:solidFill>
                <a:srgbClr val="647B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프리젠테이션 4 Regular" pitchFamily="2" charset="-127"/>
                <a:ea typeface="NanumGothic" panose="020D0604000000000000" pitchFamily="34" charset="-127"/>
              </a:endParaRP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B077EE8A-1BBF-AD25-1E3C-1E73346D0CA2}"/>
                </a:ext>
              </a:extLst>
            </p:cNvPr>
            <p:cNvSpPr txBox="1"/>
            <p:nvPr/>
          </p:nvSpPr>
          <p:spPr>
            <a:xfrm>
              <a:off x="10401879" y="5445186"/>
              <a:ext cx="16321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algn="ctr" defTabSz="457200" rtl="0"/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소재 탐색 모델 결과</a:t>
              </a:r>
              <a:br>
                <a:rPr lang="en-US" altLang="ko-KR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</a:br>
              <a:r>
                <a:rPr lang="ko-KR" altLang="en-US" sz="1200" kern="1200" dirty="0">
                  <a:solidFill>
                    <a:srgbClr val="555B6A"/>
                  </a:solidFill>
                  <a:latin typeface="페이퍼로지 7 Bold" pitchFamily="2" charset="-127"/>
                  <a:ea typeface="페이퍼로지 7 Bold" pitchFamily="2" charset="-127"/>
                </a:rPr>
                <a:t>신소재 검증 실험 플랫폼</a:t>
              </a:r>
            </a:p>
          </p:txBody>
        </p:sp>
        <p:sp>
          <p:nvSpPr>
            <p:cNvPr id="408" name="화살표: 오른쪽 36">
              <a:extLst>
                <a:ext uri="{FF2B5EF4-FFF2-40B4-BE49-F238E27FC236}">
                  <a16:creationId xmlns:a16="http://schemas.microsoft.com/office/drawing/2014/main" id="{91269AB7-C72C-6754-6C5C-5280AFDD2855}"/>
                </a:ext>
              </a:extLst>
            </p:cNvPr>
            <p:cNvSpPr/>
            <p:nvPr/>
          </p:nvSpPr>
          <p:spPr>
            <a:xfrm rot="10800000" flipH="1">
              <a:off x="9532620" y="5510803"/>
              <a:ext cx="498164" cy="367179"/>
            </a:xfrm>
            <a:prstGeom prst="rightArrow">
              <a:avLst/>
            </a:prstGeom>
            <a:gradFill>
              <a:gsLst>
                <a:gs pos="44000">
                  <a:sysClr val="window" lastClr="FFFFFF"/>
                </a:gs>
                <a:gs pos="100000">
                  <a:sysClr val="window" lastClr="FFFFFF">
                    <a:lumMod val="65000"/>
                    <a:lumOff val="35000"/>
                  </a:sysClr>
                </a:gs>
              </a:gsLst>
              <a:lin ang="10800000" scaled="0"/>
            </a:gradFill>
            <a:ln w="6350" cap="flat" cmpd="sng" algn="ctr">
              <a:gradFill>
                <a:gsLst>
                  <a:gs pos="70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alpha val="0"/>
                      <a:lumMod val="65000"/>
                      <a:lumOff val="35000"/>
                    </a:sysClr>
                  </a:gs>
                </a:gsLst>
                <a:lin ang="10800000" scaled="0"/>
              </a:gradFill>
              <a:prstDash val="solid"/>
            </a:ln>
            <a:effectLst>
              <a:outerShdw blurRad="127000" dist="127000" dir="2700000" algn="ctr" rotWithShape="0">
                <a:srgbClr val="000000">
                  <a:alpha val="5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</p:grpSp>
      <p:sp>
        <p:nvSpPr>
          <p:cNvPr id="410" name="사각형: 둥근 모서리 76">
            <a:extLst>
              <a:ext uri="{FF2B5EF4-FFF2-40B4-BE49-F238E27FC236}">
                <a16:creationId xmlns:a16="http://schemas.microsoft.com/office/drawing/2014/main" id="{3B7DA54B-B30B-C85D-9642-C5C6A85C4297}"/>
              </a:ext>
            </a:extLst>
          </p:cNvPr>
          <p:cNvSpPr/>
          <p:nvPr/>
        </p:nvSpPr>
        <p:spPr>
          <a:xfrm>
            <a:off x="478138" y="998224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200" latinLnBrk="0">
              <a:lnSpc>
                <a:spcPct val="150000"/>
              </a:lnSpc>
              <a:defRPr/>
            </a:pP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자동화 실험실 필요성</a:t>
            </a:r>
          </a:p>
        </p:txBody>
      </p:sp>
    </p:spTree>
    <p:extLst>
      <p:ext uri="{BB962C8B-B14F-4D97-AF65-F5344CB8AC3E}">
        <p14:creationId xmlns:p14="http://schemas.microsoft.com/office/powerpoint/2010/main" val="236087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D4E1-7117-CBEE-E124-E94B5C51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>
            <a:extLst>
              <a:ext uri="{FF2B5EF4-FFF2-40B4-BE49-F238E27FC236}">
                <a16:creationId xmlns:a16="http://schemas.microsoft.com/office/drawing/2014/main" id="{AF5D2F1A-028E-DDFA-6FF1-3D9C2F201648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>
              <a:extLst>
                <a:ext uri="{FF2B5EF4-FFF2-40B4-BE49-F238E27FC236}">
                  <a16:creationId xmlns:a16="http://schemas.microsoft.com/office/drawing/2014/main" id="{3749E370-2060-E6A6-C037-8F131DEE1EE8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>
                <a:extLst>
                  <a:ext uri="{FF2B5EF4-FFF2-40B4-BE49-F238E27FC236}">
                    <a16:creationId xmlns:a16="http://schemas.microsoft.com/office/drawing/2014/main" id="{18D8083E-20A8-E673-CB28-5127AFF693EC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9D92C69B-B1D6-E606-E9E3-F7783386641D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6A8418D4-3D90-1E02-4791-48DB6B7F0C86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>
                <a:extLst>
                  <a:ext uri="{FF2B5EF4-FFF2-40B4-BE49-F238E27FC236}">
                    <a16:creationId xmlns:a16="http://schemas.microsoft.com/office/drawing/2014/main" id="{18DA22BB-81CE-9723-5192-88F6FCDCF668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46F53648-585E-74A4-875F-F55E81C3AE53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4E1A82EC-738E-9D5C-857C-2BE2DBBB6B1C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94F1827-4A46-8560-7DC5-E0C4413FEF2E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E8CC63BD-D935-3BB2-6B30-87D01983B5E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E2D350-CEBB-7A02-1249-B18D08F4467E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1" name="그룹 490">
            <a:extLst>
              <a:ext uri="{FF2B5EF4-FFF2-40B4-BE49-F238E27FC236}">
                <a16:creationId xmlns:a16="http://schemas.microsoft.com/office/drawing/2014/main" id="{CE775FF1-D43D-A22C-C31B-EBFACCCE1A4A}"/>
              </a:ext>
            </a:extLst>
          </p:cNvPr>
          <p:cNvGrpSpPr/>
          <p:nvPr/>
        </p:nvGrpSpPr>
        <p:grpSpPr>
          <a:xfrm>
            <a:off x="319075" y="1412776"/>
            <a:ext cx="8561071" cy="4593704"/>
            <a:chOff x="545284" y="1271645"/>
            <a:chExt cx="12222839" cy="5930037"/>
          </a:xfrm>
        </p:grpSpPr>
        <p:sp>
          <p:nvSpPr>
            <p:cNvPr id="8" name="사각형: 둥근 모서리 27">
              <a:extLst>
                <a:ext uri="{FF2B5EF4-FFF2-40B4-BE49-F238E27FC236}">
                  <a16:creationId xmlns:a16="http://schemas.microsoft.com/office/drawing/2014/main" id="{4C8FD90D-C69D-0C23-9F67-AA79A00831F4}"/>
                </a:ext>
              </a:extLst>
            </p:cNvPr>
            <p:cNvSpPr>
              <a:spLocks/>
            </p:cNvSpPr>
            <p:nvPr/>
          </p:nvSpPr>
          <p:spPr>
            <a:xfrm>
              <a:off x="8202109" y="1441681"/>
              <a:ext cx="4566014" cy="5744905"/>
            </a:xfrm>
            <a:prstGeom prst="roundRect">
              <a:avLst>
                <a:gd name="adj" fmla="val 3630"/>
              </a:avLst>
            </a:prstGeom>
            <a:solidFill>
              <a:schemeClr val="bg1">
                <a:alpha val="90000"/>
              </a:schemeClr>
            </a:solidFill>
            <a:ln w="6350" cap="rnd">
              <a:noFill/>
              <a:prstDash val="solid"/>
              <a:round/>
            </a:ln>
            <a:effectLst>
              <a:glow rad="38100">
                <a:srgbClr val="1F4E79">
                  <a:alpha val="1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>
                <a:solidFill>
                  <a:srgbClr val="4C5262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사각형: 둥근 모서리 27">
              <a:extLst>
                <a:ext uri="{FF2B5EF4-FFF2-40B4-BE49-F238E27FC236}">
                  <a16:creationId xmlns:a16="http://schemas.microsoft.com/office/drawing/2014/main" id="{CC6B39AB-5780-0556-483E-8C6E580C0F1E}"/>
                </a:ext>
              </a:extLst>
            </p:cNvPr>
            <p:cNvSpPr>
              <a:spLocks/>
            </p:cNvSpPr>
            <p:nvPr/>
          </p:nvSpPr>
          <p:spPr>
            <a:xfrm>
              <a:off x="545284" y="1441682"/>
              <a:ext cx="7396185" cy="5760000"/>
            </a:xfrm>
            <a:prstGeom prst="roundRect">
              <a:avLst>
                <a:gd name="adj" fmla="val 3630"/>
              </a:avLst>
            </a:prstGeom>
            <a:solidFill>
              <a:schemeClr val="bg1">
                <a:alpha val="90000"/>
              </a:schemeClr>
            </a:solidFill>
            <a:ln w="6350" cap="rnd">
              <a:noFill/>
              <a:prstDash val="solid"/>
              <a:round/>
            </a:ln>
            <a:effectLst>
              <a:glow rad="38100">
                <a:srgbClr val="1F4E79">
                  <a:alpha val="1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 dirty="0">
                <a:solidFill>
                  <a:srgbClr val="4C5262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CB57FA2-916F-01A6-550E-DDA410E60B36}"/>
                </a:ext>
              </a:extLst>
            </p:cNvPr>
            <p:cNvGrpSpPr/>
            <p:nvPr/>
          </p:nvGrpSpPr>
          <p:grpSpPr>
            <a:xfrm>
              <a:off x="567618" y="1952625"/>
              <a:ext cx="7253150" cy="4909549"/>
              <a:chOff x="1711527" y="647061"/>
              <a:chExt cx="8322453" cy="5354329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0B15CBBC-0693-9988-59A2-8CF331AEDF4F}"/>
                  </a:ext>
                </a:extLst>
              </p:cNvPr>
              <p:cNvGrpSpPr/>
              <p:nvPr/>
            </p:nvGrpSpPr>
            <p:grpSpPr>
              <a:xfrm>
                <a:off x="1711527" y="647061"/>
                <a:ext cx="8322453" cy="5354329"/>
                <a:chOff x="1448337" y="729542"/>
                <a:chExt cx="8322453" cy="5354329"/>
              </a:xfrm>
            </p:grpSpPr>
            <p:pic>
              <p:nvPicPr>
                <p:cNvPr id="40" name="그림 39">
                  <a:extLst>
                    <a:ext uri="{FF2B5EF4-FFF2-40B4-BE49-F238E27FC236}">
                      <a16:creationId xmlns:a16="http://schemas.microsoft.com/office/drawing/2014/main" id="{A34E303B-3D8C-07A5-789C-28D928644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r="16557"/>
                <a:stretch/>
              </p:blipFill>
              <p:spPr>
                <a:xfrm>
                  <a:off x="1698744" y="1350255"/>
                  <a:ext cx="1485429" cy="557484"/>
                </a:xfrm>
                <a:prstGeom prst="rect">
                  <a:avLst/>
                </a:prstGeom>
              </p:spPr>
            </p:pic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0F133AF3-E295-E7F0-0B00-BD3A74E0B4B9}"/>
                    </a:ext>
                  </a:extLst>
                </p:cNvPr>
                <p:cNvSpPr/>
                <p:nvPr/>
              </p:nvSpPr>
              <p:spPr>
                <a:xfrm>
                  <a:off x="3478180" y="729542"/>
                  <a:ext cx="2027526" cy="1578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FF0000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다종 분말 </a:t>
                  </a:r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FF0000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3D </a:t>
                  </a:r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FF0000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프린터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rgbClr val="FF0000"/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및 </a:t>
                  </a:r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EDM </a:t>
                  </a:r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가공 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8BBF3ED5-CF27-6BA4-DE8E-0E1350CC9E0F}"/>
                    </a:ext>
                  </a:extLst>
                </p:cNvPr>
                <p:cNvSpPr/>
                <p:nvPr/>
              </p:nvSpPr>
              <p:spPr>
                <a:xfrm>
                  <a:off x="1988740" y="1061331"/>
                  <a:ext cx="987909" cy="153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 err="1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원소재</a:t>
                  </a:r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 </a:t>
                  </a:r>
                  <a:b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</a:br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분말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cxnSp>
              <p:nvCxnSpPr>
                <p:cNvPr id="111" name="직선 화살표 연결선 110">
                  <a:extLst>
                    <a:ext uri="{FF2B5EF4-FFF2-40B4-BE49-F238E27FC236}">
                      <a16:creationId xmlns:a16="http://schemas.microsoft.com/office/drawing/2014/main" id="{50244B86-293B-0E86-EFD6-F5B9FD734EFD}"/>
                    </a:ext>
                  </a:extLst>
                </p:cNvPr>
                <p:cNvCxnSpPr>
                  <a:cxnSpLocks/>
                  <a:stCxn id="40" idx="3"/>
                </p:cNvCxnSpPr>
                <p:nvPr/>
              </p:nvCxnSpPr>
              <p:spPr>
                <a:xfrm>
                  <a:off x="3184173" y="1628997"/>
                  <a:ext cx="518371" cy="1"/>
                </a:xfrm>
                <a:prstGeom prst="straightConnector1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solid"/>
                  <a:headEnd type="none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사각형: 둥근 모서리 1">
                  <a:extLst>
                    <a:ext uri="{FF2B5EF4-FFF2-40B4-BE49-F238E27FC236}">
                      <a16:creationId xmlns:a16="http://schemas.microsoft.com/office/drawing/2014/main" id="{CA68B243-E1C3-D568-3B16-8CE7687425EE}"/>
                    </a:ext>
                  </a:extLst>
                </p:cNvPr>
                <p:cNvSpPr/>
                <p:nvPr/>
              </p:nvSpPr>
              <p:spPr>
                <a:xfrm>
                  <a:off x="4491943" y="3248025"/>
                  <a:ext cx="2268000" cy="432000"/>
                </a:xfrm>
                <a:prstGeom prst="roundRect">
                  <a:avLst/>
                </a:prstGeom>
                <a:gradFill>
                  <a:gsLst>
                    <a:gs pos="0">
                      <a:srgbClr val="197DFA"/>
                    </a:gs>
                    <a:gs pos="100000">
                      <a:srgbClr val="5F2BE1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254000" dist="177800" dir="3780000" algn="t" rotWithShape="0">
                    <a:schemeClr val="tx1">
                      <a:lumMod val="65000"/>
                      <a:lumOff val="35000"/>
                      <a:alpha val="3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10000"/>
                    </a:lnSpc>
                  </a:pPr>
                  <a:r>
                    <a:rPr kumimoji="1" lang="ko-KR" altLang="en-US" sz="1000" dirty="0">
                      <a:latin typeface="Paperlogy 6 SemiBold" pitchFamily="2" charset="-127"/>
                      <a:ea typeface="Paperlogy 6 SemiBold" pitchFamily="2" charset="-127"/>
                    </a:rPr>
                    <a:t>금속 소재</a:t>
                  </a:r>
                  <a:br>
                    <a:rPr kumimoji="1" lang="en-US" altLang="ko-KR" sz="1000" dirty="0">
                      <a:latin typeface="Paperlogy 6 SemiBold" pitchFamily="2" charset="-127"/>
                      <a:ea typeface="Paperlogy 6 SemiBold" pitchFamily="2" charset="-127"/>
                    </a:rPr>
                  </a:br>
                  <a:r>
                    <a:rPr kumimoji="1" lang="ko-KR" altLang="en-US" sz="1000" dirty="0">
                      <a:latin typeface="Paperlogy 6 SemiBold" pitchFamily="2" charset="-127"/>
                      <a:ea typeface="Paperlogy 6 SemiBold" pitchFamily="2" charset="-127"/>
                    </a:rPr>
                    <a:t> 자동화 실험실</a:t>
                  </a:r>
                </a:p>
              </p:txBody>
            </p:sp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C609B390-DA39-A3CF-C579-6D1094798673}"/>
                    </a:ext>
                  </a:extLst>
                </p:cNvPr>
                <p:cNvSpPr/>
                <p:nvPr/>
              </p:nvSpPr>
              <p:spPr>
                <a:xfrm>
                  <a:off x="2888819" y="2384425"/>
                  <a:ext cx="1967868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power, speed</a:t>
                  </a:r>
                </a:p>
              </p:txBody>
            </p:sp>
            <p:pic>
              <p:nvPicPr>
                <p:cNvPr id="114" name="그림 113" descr="실내, 기계, 현미경이(가) 표시된 사진&#10;&#10;AI가 생성한 콘텐츠는 부정확할 수 있습니다.">
                  <a:extLst>
                    <a:ext uri="{FF2B5EF4-FFF2-40B4-BE49-F238E27FC236}">
                      <a16:creationId xmlns:a16="http://schemas.microsoft.com/office/drawing/2014/main" id="{186F518D-BC6A-6BF2-C901-185ABBCA89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7227" b="99707" l="9473" r="98340">
                              <a14:foregroundMark x1="49414" y1="48438" x2="46484" y2="50000"/>
                              <a14:foregroundMark x1="47266" y1="29785" x2="48633" y2="50879"/>
                              <a14:foregroundMark x1="51074" y1="44043" x2="51660" y2="52441"/>
                              <a14:foregroundMark x1="48926" y1="10352" x2="18945" y2="12012"/>
                              <a14:foregroundMark x1="18945" y1="12012" x2="17285" y2="83203"/>
                              <a14:foregroundMark x1="17285" y1="83203" x2="22949" y2="85938"/>
                              <a14:foregroundMark x1="16797" y1="8203" x2="50293" y2="11426"/>
                              <a14:foregroundMark x1="22168" y1="7324" x2="36523" y2="7324"/>
                              <a14:foregroundMark x1="42969" y1="7910" x2="52930" y2="20313"/>
                              <a14:foregroundMark x1="52148" y1="8984" x2="50781" y2="23828"/>
                              <a14:foregroundMark x1="54297" y1="8398" x2="52734" y2="21973"/>
                              <a14:foregroundMark x1="32715" y1="67578" x2="29785" y2="72754"/>
                              <a14:foregroundMark x1="24023" y1="95898" x2="24609" y2="85645"/>
                              <a14:foregroundMark x1="10547" y1="85645" x2="9473" y2="76758"/>
                              <a14:foregroundMark x1="53223" y1="90039" x2="52930" y2="81348"/>
                              <a14:foregroundMark x1="63184" y1="89746" x2="98047" y2="79883"/>
                              <a14:foregroundMark x1="98047" y1="79883" x2="98340" y2="80273"/>
                              <a14:foregroundMark x1="77832" y1="64063" x2="81348" y2="77344"/>
                              <a14:foregroundMark x1="78906" y1="57031" x2="87305" y2="28418"/>
                              <a14:foregroundMark x1="54590" y1="37891" x2="86426" y2="26563"/>
                              <a14:foregroundMark x1="94531" y1="77539" x2="87012" y2="78613"/>
                              <a14:foregroundMark x1="60254" y1="90527" x2="65430" y2="93262"/>
                              <a14:foregroundMark x1="56445" y1="91113" x2="56738" y2="98047"/>
                              <a14:foregroundMark x1="63184" y1="81934" x2="71289" y2="83496"/>
                              <a14:foregroundMark x1="73535" y1="30078" x2="80762" y2="27637"/>
                              <a14:foregroundMark x1="52148" y1="43555" x2="52930" y2="47852"/>
                              <a14:foregroundMark x1="53223" y1="41406" x2="53809" y2="44043"/>
                              <a14:foregroundMark x1="54297" y1="41113" x2="54297" y2="46191"/>
                              <a14:foregroundMark x1="65430" y1="94824" x2="68945" y2="96484"/>
                              <a14:foregroundMark x1="69727" y1="98633" x2="70215" y2="99707"/>
                              <a14:foregroundMark x1="94824" y1="92188" x2="94824" y2="94629"/>
                              <a14:foregroundMark x1="94336" y1="76465" x2="97266" y2="78613"/>
                              <a14:foregroundMark x1="78320" y1="79688" x2="83496" y2="82715"/>
                              <a14:foregroundMark x1="79980" y1="80762" x2="81641" y2="81348"/>
                              <a14:foregroundMark x1="73242" y1="64844" x2="76465" y2="77344"/>
                              <a14:foregroundMark x1="78125" y1="47559" x2="77246" y2="62207"/>
                              <a14:foregroundMark x1="83496" y1="35156" x2="75391" y2="54590"/>
                              <a14:foregroundMark x1="12988" y1="23047" x2="11914" y2="53516"/>
                              <a14:foregroundMark x1="10254" y1="22168" x2="11621" y2="79980"/>
                              <a14:foregroundMark x1="79980" y1="78906" x2="74023" y2="79980"/>
                              <a14:backgroundMark x1="34863" y1="96484" x2="47070" y2="97266"/>
                              <a14:backgroundMark x1="10254" y1="93262" x2="15430" y2="96777"/>
                              <a14:backgroundMark x1="62109" y1="96973" x2="62695" y2="99219"/>
                              <a14:backgroundMark x1="93457" y1="56250" x2="93164" y2="60059"/>
                              <a14:backgroundMark x1="85059" y1="98340" x2="87305" y2="98340"/>
                              <a14:backgroundMark x1="88574" y1="48926" x2="92383" y2="49707"/>
                              <a14:backgroundMark x1="92090" y1="48438" x2="95898" y2="49219"/>
                              <a14:backgroundMark x1="89160" y1="50879" x2="91309" y2="52441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09756" y="978045"/>
                  <a:ext cx="1301905" cy="1301905"/>
                </a:xfrm>
                <a:prstGeom prst="rect">
                  <a:avLst/>
                </a:prstGeom>
              </p:spPr>
            </p:pic>
            <p:sp>
              <p:nvSpPr>
                <p:cNvPr id="410" name="직사각형 409">
                  <a:extLst>
                    <a:ext uri="{FF2B5EF4-FFF2-40B4-BE49-F238E27FC236}">
                      <a16:creationId xmlns:a16="http://schemas.microsoft.com/office/drawing/2014/main" id="{F1FDD1CC-558D-CFD7-0505-6D759DEC88C4}"/>
                    </a:ext>
                  </a:extLst>
                </p:cNvPr>
                <p:cNvSpPr/>
                <p:nvPr/>
              </p:nvSpPr>
              <p:spPr>
                <a:xfrm>
                  <a:off x="5416555" y="784447"/>
                  <a:ext cx="1754291" cy="1935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멀티 채널 열처리로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E46195B9-A6E3-AA16-543B-51B8B871597C}"/>
                    </a:ext>
                  </a:extLst>
                </p:cNvPr>
                <p:cNvSpPr/>
                <p:nvPr/>
              </p:nvSpPr>
              <p:spPr>
                <a:xfrm>
                  <a:off x="4813272" y="2384425"/>
                  <a:ext cx="1967868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temp., time</a:t>
                  </a:r>
                </a:p>
              </p:txBody>
            </p:sp>
            <p:sp>
              <p:nvSpPr>
                <p:cNvPr id="412" name="직사각형 411">
                  <a:extLst>
                    <a:ext uri="{FF2B5EF4-FFF2-40B4-BE49-F238E27FC236}">
                      <a16:creationId xmlns:a16="http://schemas.microsoft.com/office/drawing/2014/main" id="{0EC909ED-DFC8-3CBE-8884-EE0A690158D8}"/>
                    </a:ext>
                  </a:extLst>
                </p:cNvPr>
                <p:cNvSpPr/>
                <p:nvPr/>
              </p:nvSpPr>
              <p:spPr>
                <a:xfrm>
                  <a:off x="1448337" y="2384425"/>
                  <a:ext cx="1141729" cy="1707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composition</a:t>
                  </a:r>
                </a:p>
              </p:txBody>
            </p:sp>
            <p:pic>
              <p:nvPicPr>
                <p:cNvPr id="413" name="Picture 2" descr="Hardness test on control arms in the automotive field using the DuraVision universal hardness tester - detailed view">
                  <a:extLst>
                    <a:ext uri="{FF2B5EF4-FFF2-40B4-BE49-F238E27FC236}">
                      <a16:creationId xmlns:a16="http://schemas.microsoft.com/office/drawing/2014/main" id="{70AF8A6E-CF2D-98F9-5500-529600DE38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2162" b="90000" l="2703" r="96757">
                              <a14:foregroundMark x1="14324" y1="4865" x2="72973" y2="7297"/>
                              <a14:foregroundMark x1="72973" y1="7297" x2="84054" y2="6486"/>
                              <a14:foregroundMark x1="5676" y1="26216" x2="45676" y2="57297"/>
                              <a14:foregroundMark x1="45676" y1="57297" x2="78649" y2="53784"/>
                              <a14:foregroundMark x1="78649" y1="53784" x2="97297" y2="41081"/>
                              <a14:foregroundMark x1="20000" y1="62162" x2="7838" y2="70270"/>
                              <a14:foregroundMark x1="16216" y1="12432" x2="29189" y2="13514"/>
                              <a14:foregroundMark x1="16216" y1="6216" x2="61892" y2="3784"/>
                              <a14:foregroundMark x1="78108" y1="2432" x2="80541" y2="3243"/>
                              <a14:foregroundMark x1="83784" y1="2703" x2="37027" y2="6486"/>
                              <a14:foregroundMark x1="37027" y1="6486" x2="32703" y2="11351"/>
                              <a14:foregroundMark x1="15405" y1="22973" x2="56486" y2="27297"/>
                              <a14:foregroundMark x1="2703" y1="24595" x2="12703" y2="38919"/>
                              <a14:foregroundMark x1="12703" y1="38919" x2="29730" y2="52162"/>
                              <a14:foregroundMark x1="29730" y1="52162" x2="57027" y2="56216"/>
                              <a14:foregroundMark x1="57027" y1="56216" x2="58378" y2="55676"/>
                              <a14:foregroundMark x1="2973" y1="26216" x2="4865" y2="29189"/>
                              <a14:foregroundMark x1="93514" y1="54595" x2="93514" y2="54595"/>
                              <a14:foregroundMark x1="47838" y1="88378" x2="66216" y2="90000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59648" y="2577882"/>
                  <a:ext cx="1031476" cy="12703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14" name="그림 413">
                  <a:extLst>
                    <a:ext uri="{FF2B5EF4-FFF2-40B4-BE49-F238E27FC236}">
                      <a16:creationId xmlns:a16="http://schemas.microsoft.com/office/drawing/2014/main" id="{7446DFF1-3333-FF85-B8ED-A93EA3B4A4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9949" b="89880" l="3645" r="95563">
                              <a14:foregroundMark x1="87956" y1="29503" x2="86371" y2="68954"/>
                              <a14:foregroundMark x1="86371" y1="68954" x2="87005" y2="71870"/>
                              <a14:foregroundMark x1="88114" y1="32590" x2="90333" y2="61063"/>
                              <a14:foregroundMark x1="90333" y1="61063" x2="89382" y2="64151"/>
                              <a14:foregroundMark x1="91601" y1="30017" x2="84152" y2="30360"/>
                              <a14:foregroundMark x1="94612" y1="29160" x2="95721" y2="55918"/>
                              <a14:foregroundMark x1="94770" y1="71870" x2="94136" y2="77015"/>
                              <a14:foregroundMark x1="9033" y1="48027" x2="9033" y2="37050"/>
                              <a14:foregroundMark x1="5864" y1="14408" x2="6339" y2="28302"/>
                              <a14:foregroundMark x1="8558" y1="23842" x2="8558" y2="23842"/>
                              <a14:foregroundMark x1="3645" y1="69983" x2="3645" y2="69983"/>
                              <a14:foregroundMark x1="3645" y1="68782" x2="3803" y2="67925"/>
                              <a14:foregroundMark x1="3803" y1="66724" x2="3803" y2="66724"/>
                              <a14:foregroundMark x1="4120" y1="63979" x2="4120" y2="63979"/>
                              <a14:foregroundMark x1="4120" y1="63293" x2="4120" y2="62950"/>
                              <a14:foregroundMark x1="4120" y1="63636" x2="4120" y2="63293"/>
                              <a14:foregroundMark x1="4437" y1="60377" x2="4437" y2="60377"/>
                              <a14:foregroundMark x1="4437" y1="58834" x2="4437" y2="58834"/>
                              <a14:foregroundMark x1="4596" y1="45798" x2="4596" y2="45798"/>
                              <a14:foregroundMark x1="4596" y1="42882" x2="4596" y2="42882"/>
                              <a14:foregroundMark x1="4596" y1="41681" x2="4596" y2="41681"/>
                              <a14:foregroundMark x1="4596" y1="39108" x2="4596" y2="39108"/>
                              <a14:backgroundMark x1="475" y1="48199" x2="475" y2="48199"/>
                              <a14:backgroundMark x1="951" y1="63293" x2="951" y2="63293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30032" y="958723"/>
                  <a:ext cx="1450920" cy="1340549"/>
                </a:xfrm>
                <a:prstGeom prst="rect">
                  <a:avLst/>
                </a:prstGeom>
              </p:spPr>
            </p:pic>
            <p:sp>
              <p:nvSpPr>
                <p:cNvPr id="415" name="직사각형 414">
                  <a:extLst>
                    <a:ext uri="{FF2B5EF4-FFF2-40B4-BE49-F238E27FC236}">
                      <a16:creationId xmlns:a16="http://schemas.microsoft.com/office/drawing/2014/main" id="{BAD53818-3653-6595-4028-15A250FE4C18}"/>
                    </a:ext>
                  </a:extLst>
                </p:cNvPr>
                <p:cNvSpPr/>
                <p:nvPr/>
              </p:nvSpPr>
              <p:spPr>
                <a:xfrm>
                  <a:off x="7287737" y="826746"/>
                  <a:ext cx="1754291" cy="1935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자동 인장 시험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416" name="직사각형 415">
                  <a:extLst>
                    <a:ext uri="{FF2B5EF4-FFF2-40B4-BE49-F238E27FC236}">
                      <a16:creationId xmlns:a16="http://schemas.microsoft.com/office/drawing/2014/main" id="{90FDD5C1-34EA-6B11-D0B9-0DCC8CC5A19E}"/>
                    </a:ext>
                  </a:extLst>
                </p:cNvPr>
                <p:cNvSpPr/>
                <p:nvPr/>
              </p:nvSpPr>
              <p:spPr>
                <a:xfrm>
                  <a:off x="8609188" y="3892854"/>
                  <a:ext cx="1161602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자동 경도 측정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cxnSp>
              <p:nvCxnSpPr>
                <p:cNvPr id="417" name="직선 화살표 연결선 416">
                  <a:extLst>
                    <a:ext uri="{FF2B5EF4-FFF2-40B4-BE49-F238E27FC236}">
                      <a16:creationId xmlns:a16="http://schemas.microsoft.com/office/drawing/2014/main" id="{2A07B892-CE80-9837-7884-27D102836DA8}"/>
                    </a:ext>
                  </a:extLst>
                </p:cNvPr>
                <p:cNvCxnSpPr>
                  <a:cxnSpLocks/>
                  <a:endCxn id="114" idx="1"/>
                </p:cNvCxnSpPr>
                <p:nvPr/>
              </p:nvCxnSpPr>
              <p:spPr>
                <a:xfrm>
                  <a:off x="5091385" y="1628998"/>
                  <a:ext cx="518371" cy="0"/>
                </a:xfrm>
                <a:prstGeom prst="straightConnector1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solid"/>
                  <a:headEnd type="none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18" name="Picture 2" descr="장비이미지">
                  <a:extLst>
                    <a:ext uri="{FF2B5EF4-FFF2-40B4-BE49-F238E27FC236}">
                      <a16:creationId xmlns:a16="http://schemas.microsoft.com/office/drawing/2014/main" id="{24986DD4-76A1-A691-0195-5658246ABFD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9" cstate="print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9067" r="81603">
                              <a14:foregroundMark x1="27852" y1="10516" x2="39707" y2="11243"/>
                              <a14:foregroundMark x1="39707" y1="11243" x2="67808" y2="10053"/>
                              <a14:foregroundMark x1="67808" y1="10053" x2="71602" y2="16865"/>
                              <a14:foregroundMark x1="71602" y1="16865" x2="68502" y2="45866"/>
                              <a14:foregroundMark x1="68502" y1="45866" x2="63269" y2="56878"/>
                              <a14:foregroundMark x1="41468" y1="30919" x2="56895" y2="29894"/>
                              <a14:foregroundMark x1="56895" y1="29894" x2="57143" y2="29894"/>
                              <a14:foregroundMark x1="64137" y1="24107" x2="28919" y2="53770"/>
                              <a14:foregroundMark x1="26091" y1="11012" x2="27232" y2="31746"/>
                              <a14:foregroundMark x1="72718" y1="18816" x2="70188" y2="57540"/>
                              <a14:foregroundMark x1="34598" y1="18651" x2="47346" y2="17659"/>
                              <a14:foregroundMark x1="47346" y1="17659" x2="59102" y2="17989"/>
                              <a14:foregroundMark x1="63641" y1="24934" x2="42436" y2="42361"/>
                              <a14:foregroundMark x1="42436" y1="42361" x2="40848" y2="44279"/>
                              <a14:foregroundMark x1="59474" y1="42493" x2="58606" y2="65939"/>
                              <a14:foregroundMark x1="58606" y1="65939" x2="58606" y2="65939"/>
                              <a14:foregroundMark x1="53993" y1="76190" x2="52431" y2="85351"/>
                              <a14:foregroundMark x1="52431" y1="85351" x2="52431" y2="85351"/>
                              <a14:foregroundMark x1="34797" y1="77778" x2="37624" y2="87202"/>
                              <a14:foregroundMark x1="50843" y1="87864" x2="66567" y2="85582"/>
                              <a14:foregroundMark x1="66567" y1="85582" x2="69444" y2="73347"/>
                              <a14:foregroundMark x1="69444" y1="73347" x2="69444" y2="72817"/>
                              <a14:foregroundMark x1="44816" y1="23942" x2="28423" y2="46958"/>
                              <a14:foregroundMark x1="50422" y1="89947" x2="66022" y2="89253"/>
                              <a14:foregroundMark x1="66022" y1="89253" x2="69221" y2="82176"/>
                              <a14:foregroundMark x1="69221" y1="82176" x2="68998" y2="80456"/>
                              <a14:foregroundMark x1="69370" y1="86938" x2="68676" y2="89616"/>
                              <a14:foregroundMark x1="26339" y1="31581" x2="28447" y2="58234"/>
                              <a14:foregroundMark x1="28447" y1="58234" x2="31895" y2="62831"/>
                              <a14:foregroundMark x1="28373" y1="65013" x2="27679" y2="66270"/>
                              <a14:backgroundMark x1="15079" y1="32771" x2="18849" y2="59821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870" r="24174"/>
                <a:stretch/>
              </p:blipFill>
              <p:spPr bwMode="auto">
                <a:xfrm>
                  <a:off x="3000803" y="4415562"/>
                  <a:ext cx="936466" cy="14589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19" name="Picture 40">
                  <a:extLst>
                    <a:ext uri="{FF2B5EF4-FFF2-40B4-BE49-F238E27FC236}">
                      <a16:creationId xmlns:a16="http://schemas.microsoft.com/office/drawing/2014/main" id="{135D95CE-0FD4-30FE-E574-0E535139D1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5397066" y="4458633"/>
                  <a:ext cx="993367" cy="13727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pic>
              <p:nvPicPr>
                <p:cNvPr id="420" name="Picture 6" descr="장비이미지">
                  <a:extLst>
                    <a:ext uri="{FF2B5EF4-FFF2-40B4-BE49-F238E27FC236}">
                      <a16:creationId xmlns:a16="http://schemas.microsoft.com/office/drawing/2014/main" id="{9D3C9E26-05E0-FB31-A3DB-18B4AD160D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8750" b="99219" l="6286" r="94786">
                              <a14:foregroundMark x1="26857" y1="9010" x2="23607" y2="78281"/>
                              <a14:foregroundMark x1="23607" y1="78281" x2="17464" y2="85833"/>
                              <a14:foregroundMark x1="38179" y1="74531" x2="90071" y2="82969"/>
                              <a14:foregroundMark x1="78107" y1="57188" x2="94857" y2="56771"/>
                              <a14:foregroundMark x1="38536" y1="51927" x2="31786" y2="80156"/>
                              <a14:foregroundMark x1="23393" y1="7708" x2="28821" y2="7292"/>
                              <a14:foregroundMark x1="28821" y1="7292" x2="33357" y2="8750"/>
                              <a14:foregroundMark x1="33357" y1="8750" x2="33571" y2="29323"/>
                              <a14:foregroundMark x1="18679" y1="59375" x2="14464" y2="69375"/>
                              <a14:foregroundMark x1="14464" y1="69375" x2="14214" y2="91042"/>
                              <a14:foregroundMark x1="14214" y1="91042" x2="20643" y2="96094"/>
                              <a14:foregroundMark x1="20643" y1="96094" x2="25000" y2="88490"/>
                              <a14:foregroundMark x1="25000" y1="88490" x2="25071" y2="85000"/>
                              <a14:foregroundMark x1="26500" y1="90990" x2="40500" y2="79896"/>
                              <a14:foregroundMark x1="40500" y1="79896" x2="43143" y2="79115"/>
                              <a14:foregroundMark x1="47500" y1="83906" x2="83036" y2="89219"/>
                              <a14:foregroundMark x1="33393" y1="44844" x2="15036" y2="78385"/>
                              <a14:foregroundMark x1="10250" y1="65365" x2="12679" y2="99219"/>
                              <a14:foregroundMark x1="6286" y1="64167" x2="6929" y2="98021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42814"/>
                <a:stretch/>
              </p:blipFill>
              <p:spPr bwMode="auto">
                <a:xfrm>
                  <a:off x="1745560" y="4494917"/>
                  <a:ext cx="949997" cy="130021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21" name="그림 420">
                  <a:extLst>
                    <a:ext uri="{FF2B5EF4-FFF2-40B4-BE49-F238E27FC236}">
                      <a16:creationId xmlns:a16="http://schemas.microsoft.com/office/drawing/2014/main" id="{F8B2CD00-7355-BA38-6075-B273D6A214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18997" y="4623325"/>
                  <a:ext cx="872991" cy="1208092"/>
                </a:xfrm>
                <a:prstGeom prst="rect">
                  <a:avLst/>
                </a:prstGeom>
              </p:spPr>
            </p:pic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025830FD-46A0-923C-55D5-967C2424A1D5}"/>
                    </a:ext>
                  </a:extLst>
                </p:cNvPr>
                <p:cNvSpPr/>
                <p:nvPr/>
              </p:nvSpPr>
              <p:spPr>
                <a:xfrm>
                  <a:off x="7430032" y="5858879"/>
                  <a:ext cx="1512180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자동 연마기</a:t>
                  </a:r>
                  <a:endParaRPr lang="en-US" altLang="ko-KR" sz="900" b="1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7A5901CF-17C6-128E-CD14-63759C46826B}"/>
                    </a:ext>
                  </a:extLst>
                </p:cNvPr>
                <p:cNvSpPr/>
                <p:nvPr/>
              </p:nvSpPr>
              <p:spPr>
                <a:xfrm>
                  <a:off x="5205969" y="5858879"/>
                  <a:ext cx="1512180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OM</a:t>
                  </a:r>
                </a:p>
              </p:txBody>
            </p:sp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49D0166C-0624-9239-AF46-353E09FE9730}"/>
                    </a:ext>
                  </a:extLst>
                </p:cNvPr>
                <p:cNvSpPr/>
                <p:nvPr/>
              </p:nvSpPr>
              <p:spPr>
                <a:xfrm>
                  <a:off x="1464469" y="5858879"/>
                  <a:ext cx="1512180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SEM+EBSD</a:t>
                  </a:r>
                </a:p>
              </p:txBody>
            </p:sp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86DA4253-5F20-C0E7-EB91-E4504C1B51E5}"/>
                    </a:ext>
                  </a:extLst>
                </p:cNvPr>
                <p:cNvSpPr/>
                <p:nvPr/>
              </p:nvSpPr>
              <p:spPr>
                <a:xfrm>
                  <a:off x="2767569" y="5858879"/>
                  <a:ext cx="1512180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XRD</a:t>
                  </a:r>
                </a:p>
              </p:txBody>
            </p:sp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9EEB816E-AFD3-6F03-F2AF-347EE53ACCD1}"/>
                    </a:ext>
                  </a:extLst>
                </p:cNvPr>
                <p:cNvSpPr/>
                <p:nvPr/>
              </p:nvSpPr>
              <p:spPr>
                <a:xfrm>
                  <a:off x="3986769" y="5858879"/>
                  <a:ext cx="1512180" cy="2249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900" b="1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EDS</a:t>
                  </a:r>
                </a:p>
              </p:txBody>
            </p:sp>
            <p:cxnSp>
              <p:nvCxnSpPr>
                <p:cNvPr id="427" name="직선 화살표 연결선 426">
                  <a:extLst>
                    <a:ext uri="{FF2B5EF4-FFF2-40B4-BE49-F238E27FC236}">
                      <a16:creationId xmlns:a16="http://schemas.microsoft.com/office/drawing/2014/main" id="{F845185C-CC08-F37F-939F-D5A8AC937F93}"/>
                    </a:ext>
                  </a:extLst>
                </p:cNvPr>
                <p:cNvCxnSpPr>
                  <a:cxnSpLocks/>
                  <a:stCxn id="114" idx="3"/>
                  <a:endCxn id="414" idx="1"/>
                </p:cNvCxnSpPr>
                <p:nvPr/>
              </p:nvCxnSpPr>
              <p:spPr>
                <a:xfrm>
                  <a:off x="6911661" y="1628998"/>
                  <a:ext cx="518371" cy="0"/>
                </a:xfrm>
                <a:prstGeom prst="straightConnector1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solid"/>
                  <a:headEnd type="none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8" name="사각형: 둥근 모서리 50">
                  <a:extLst>
                    <a:ext uri="{FF2B5EF4-FFF2-40B4-BE49-F238E27FC236}">
                      <a16:creationId xmlns:a16="http://schemas.microsoft.com/office/drawing/2014/main" id="{061B70E6-1DCE-B466-9742-6AB44CC0DB29}"/>
                    </a:ext>
                  </a:extLst>
                </p:cNvPr>
                <p:cNvSpPr/>
                <p:nvPr/>
              </p:nvSpPr>
              <p:spPr>
                <a:xfrm>
                  <a:off x="1587342" y="3248025"/>
                  <a:ext cx="1557667" cy="432000"/>
                </a:xfrm>
                <a:prstGeom prst="roundRect">
                  <a:avLst/>
                </a:prstGeom>
                <a:gradFill>
                  <a:gsLst>
                    <a:gs pos="100000">
                      <a:srgbClr val="A44BE7"/>
                    </a:gs>
                    <a:gs pos="29000">
                      <a:srgbClr val="5F2BE1"/>
                    </a:gs>
                  </a:gsLst>
                  <a:lin ang="0" scaled="1"/>
                </a:gradFill>
                <a:ln>
                  <a:noFill/>
                </a:ln>
                <a:effectLst>
                  <a:outerShdw blurRad="254000" dist="177800" dir="3780000" algn="t" rotWithShape="0">
                    <a:schemeClr val="tx1">
                      <a:lumMod val="65000"/>
                      <a:lumOff val="35000"/>
                      <a:alpha val="3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10000"/>
                    </a:lnSpc>
                  </a:pPr>
                  <a:r>
                    <a:rPr kumimoji="1" lang="ko-KR" altLang="en-US" sz="1000" dirty="0">
                      <a:latin typeface="Paperlogy 6 SemiBold" pitchFamily="2" charset="-127"/>
                      <a:ea typeface="Paperlogy 6 SemiBold" pitchFamily="2" charset="-127"/>
                    </a:rPr>
                    <a:t>인공지능 </a:t>
                  </a:r>
                  <a:br>
                    <a:rPr kumimoji="1" lang="en-US" altLang="ko-KR" sz="1000" dirty="0">
                      <a:latin typeface="Paperlogy 6 SemiBold" pitchFamily="2" charset="-127"/>
                      <a:ea typeface="Paperlogy 6 SemiBold" pitchFamily="2" charset="-127"/>
                    </a:rPr>
                  </a:br>
                  <a:r>
                    <a:rPr kumimoji="1" lang="en-US" altLang="ko-KR" sz="1000" dirty="0">
                      <a:latin typeface="Paperlogy 6 SemiBold" pitchFamily="2" charset="-127"/>
                      <a:ea typeface="Paperlogy 6 SemiBold" pitchFamily="2" charset="-127"/>
                    </a:rPr>
                    <a:t>(</a:t>
                  </a:r>
                  <a:r>
                    <a:rPr kumimoji="1" lang="ko-KR" altLang="en-US" sz="1000" dirty="0">
                      <a:latin typeface="Paperlogy 6 SemiBold" pitchFamily="2" charset="-127"/>
                      <a:ea typeface="Paperlogy 6 SemiBold" pitchFamily="2" charset="-127"/>
                    </a:rPr>
                    <a:t>세부</a:t>
                  </a:r>
                  <a:r>
                    <a:rPr kumimoji="1" lang="en-US" altLang="ko-KR" sz="1000" dirty="0">
                      <a:latin typeface="Paperlogy 6 SemiBold" pitchFamily="2" charset="-127"/>
                      <a:ea typeface="Paperlogy 6 SemiBold" pitchFamily="2" charset="-127"/>
                    </a:rPr>
                    <a:t>1)</a:t>
                  </a:r>
                  <a:endParaRPr kumimoji="1" lang="ko-KR" altLang="en-US" sz="1000" dirty="0">
                    <a:latin typeface="Paperlogy 6 SemiBold" pitchFamily="2" charset="-127"/>
                    <a:ea typeface="Paperlogy 6 SemiBold" pitchFamily="2" charset="-127"/>
                  </a:endParaRPr>
                </a:p>
              </p:txBody>
            </p:sp>
            <p:cxnSp>
              <p:nvCxnSpPr>
                <p:cNvPr id="429" name="직선 화살표 연결선 428">
                  <a:extLst>
                    <a:ext uri="{FF2B5EF4-FFF2-40B4-BE49-F238E27FC236}">
                      <a16:creationId xmlns:a16="http://schemas.microsoft.com/office/drawing/2014/main" id="{7FD4C207-2729-42B3-F2AF-EBF804C34A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45009" y="3405851"/>
                  <a:ext cx="1346934" cy="0"/>
                </a:xfrm>
                <a:prstGeom prst="straightConnector1">
                  <a:avLst/>
                </a:prstGeom>
                <a:ln w="9525">
                  <a:solidFill>
                    <a:srgbClr val="6B3CE3"/>
                  </a:solidFill>
                  <a:prstDash val="lgDash"/>
                  <a:headEnd type="stealt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0" name="직사각형 429">
                  <a:extLst>
                    <a:ext uri="{FF2B5EF4-FFF2-40B4-BE49-F238E27FC236}">
                      <a16:creationId xmlns:a16="http://schemas.microsoft.com/office/drawing/2014/main" id="{E8008C0D-5970-E663-AFE3-2F8FA6A019B9}"/>
                    </a:ext>
                  </a:extLst>
                </p:cNvPr>
                <p:cNvSpPr/>
                <p:nvPr/>
              </p:nvSpPr>
              <p:spPr>
                <a:xfrm>
                  <a:off x="6873646" y="2384425"/>
                  <a:ext cx="1450920" cy="2031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force, speed, size</a:t>
                  </a:r>
                </a:p>
              </p:txBody>
            </p:sp>
            <p:sp>
              <p:nvSpPr>
                <p:cNvPr id="431" name="직사각형 430">
                  <a:extLst>
                    <a:ext uri="{FF2B5EF4-FFF2-40B4-BE49-F238E27FC236}">
                      <a16:creationId xmlns:a16="http://schemas.microsoft.com/office/drawing/2014/main" id="{D5159E81-12A7-5D8F-2179-B8DFC909B5A7}"/>
                    </a:ext>
                  </a:extLst>
                </p:cNvPr>
                <p:cNvSpPr/>
                <p:nvPr/>
              </p:nvSpPr>
              <p:spPr>
                <a:xfrm>
                  <a:off x="7954621" y="4182846"/>
                  <a:ext cx="1239499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force, time</a:t>
                  </a:r>
                </a:p>
              </p:txBody>
            </p:sp>
            <p:cxnSp>
              <p:nvCxnSpPr>
                <p:cNvPr id="432" name="연결선: 꺾임 100">
                  <a:extLst>
                    <a:ext uri="{FF2B5EF4-FFF2-40B4-BE49-F238E27FC236}">
                      <a16:creationId xmlns:a16="http://schemas.microsoft.com/office/drawing/2014/main" id="{2CC523D1-B2DF-61A1-0FDD-95A0D67C9E24}"/>
                    </a:ext>
                  </a:extLst>
                </p:cNvPr>
                <p:cNvCxnSpPr>
                  <a:cxnSpLocks/>
                  <a:stCxn id="112" idx="0"/>
                  <a:endCxn id="40" idx="2"/>
                </p:cNvCxnSpPr>
                <p:nvPr/>
              </p:nvCxnSpPr>
              <p:spPr>
                <a:xfrm rot="16200000" flipV="1">
                  <a:off x="3363558" y="985640"/>
                  <a:ext cx="1340286" cy="3184484"/>
                </a:xfrm>
                <a:prstGeom prst="bentConnector3">
                  <a:avLst>
                    <a:gd name="adj1" fmla="val 35597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연결선: 꺾임 103">
                  <a:extLst>
                    <a:ext uri="{FF2B5EF4-FFF2-40B4-BE49-F238E27FC236}">
                      <a16:creationId xmlns:a16="http://schemas.microsoft.com/office/drawing/2014/main" id="{B468FEEC-897A-BEB4-EA88-6A58405EC713}"/>
                    </a:ext>
                  </a:extLst>
                </p:cNvPr>
                <p:cNvCxnSpPr>
                  <a:cxnSpLocks/>
                  <a:stCxn id="112" idx="0"/>
                </p:cNvCxnSpPr>
                <p:nvPr/>
              </p:nvCxnSpPr>
              <p:spPr>
                <a:xfrm rot="16200000" flipV="1">
                  <a:off x="4511087" y="2133169"/>
                  <a:ext cx="1000735" cy="1228978"/>
                </a:xfrm>
                <a:prstGeom prst="bentConnector3">
                  <a:avLst>
                    <a:gd name="adj1" fmla="val 48477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연결선: 꺾임 107">
                  <a:extLst>
                    <a:ext uri="{FF2B5EF4-FFF2-40B4-BE49-F238E27FC236}">
                      <a16:creationId xmlns:a16="http://schemas.microsoft.com/office/drawing/2014/main" id="{E6C22858-435D-BE19-19C3-2AE058278C66}"/>
                    </a:ext>
                  </a:extLst>
                </p:cNvPr>
                <p:cNvCxnSpPr>
                  <a:cxnSpLocks/>
                  <a:stCxn id="112" idx="0"/>
                  <a:endCxn id="114" idx="2"/>
                </p:cNvCxnSpPr>
                <p:nvPr/>
              </p:nvCxnSpPr>
              <p:spPr>
                <a:xfrm rot="5400000" flipH="1" flipV="1">
                  <a:off x="5459289" y="2446605"/>
                  <a:ext cx="968075" cy="634766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연결선: 꺾임 136">
                  <a:extLst>
                    <a:ext uri="{FF2B5EF4-FFF2-40B4-BE49-F238E27FC236}">
                      <a16:creationId xmlns:a16="http://schemas.microsoft.com/office/drawing/2014/main" id="{06EEEAEE-5B70-8822-F022-60EF3FCFCF94}"/>
                    </a:ext>
                  </a:extLst>
                </p:cNvPr>
                <p:cNvCxnSpPr>
                  <a:cxnSpLocks/>
                  <a:stCxn id="112" idx="0"/>
                  <a:endCxn id="414" idx="2"/>
                </p:cNvCxnSpPr>
                <p:nvPr/>
              </p:nvCxnSpPr>
              <p:spPr>
                <a:xfrm rot="5400000" flipH="1" flipV="1">
                  <a:off x="6416341" y="1508875"/>
                  <a:ext cx="948753" cy="2529549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연결선: 꺾임 139">
                  <a:extLst>
                    <a:ext uri="{FF2B5EF4-FFF2-40B4-BE49-F238E27FC236}">
                      <a16:creationId xmlns:a16="http://schemas.microsoft.com/office/drawing/2014/main" id="{338241BE-76A6-5468-5CA3-3BB5A35DDF36}"/>
                    </a:ext>
                  </a:extLst>
                </p:cNvPr>
                <p:cNvCxnSpPr>
                  <a:cxnSpLocks/>
                  <a:stCxn id="112" idx="0"/>
                </p:cNvCxnSpPr>
                <p:nvPr/>
              </p:nvCxnSpPr>
              <p:spPr>
                <a:xfrm rot="5400000" flipH="1" flipV="1">
                  <a:off x="7142513" y="1254701"/>
                  <a:ext cx="476754" cy="3509895"/>
                </a:xfrm>
                <a:prstGeom prst="bentConnector2">
                  <a:avLst/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연결선: 꺾임 144">
                  <a:extLst>
                    <a:ext uri="{FF2B5EF4-FFF2-40B4-BE49-F238E27FC236}">
                      <a16:creationId xmlns:a16="http://schemas.microsoft.com/office/drawing/2014/main" id="{8B6B40B5-2914-D26A-ECAB-D986DD941745}"/>
                    </a:ext>
                  </a:extLst>
                </p:cNvPr>
                <p:cNvCxnSpPr>
                  <a:cxnSpLocks/>
                  <a:stCxn id="112" idx="2"/>
                </p:cNvCxnSpPr>
                <p:nvPr/>
              </p:nvCxnSpPr>
              <p:spPr>
                <a:xfrm rot="16200000" flipH="1">
                  <a:off x="7192568" y="2113400"/>
                  <a:ext cx="376642" cy="3509892"/>
                </a:xfrm>
                <a:prstGeom prst="bentConnector2">
                  <a:avLst/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직선 화살표 연결선 437">
                  <a:extLst>
                    <a:ext uri="{FF2B5EF4-FFF2-40B4-BE49-F238E27FC236}">
                      <a16:creationId xmlns:a16="http://schemas.microsoft.com/office/drawing/2014/main" id="{43B027A4-90D0-EC02-24BB-5A1AF89B2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5009" y="3512968"/>
                  <a:ext cx="1346934" cy="0"/>
                </a:xfrm>
                <a:prstGeom prst="straightConnector1">
                  <a:avLst/>
                </a:prstGeom>
                <a:ln w="9525">
                  <a:solidFill>
                    <a:srgbClr val="6B3CE3"/>
                  </a:solidFill>
                  <a:prstDash val="lgDash"/>
                  <a:headEnd type="stealt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9" name="직사각형 438">
                  <a:extLst>
                    <a:ext uri="{FF2B5EF4-FFF2-40B4-BE49-F238E27FC236}">
                      <a16:creationId xmlns:a16="http://schemas.microsoft.com/office/drawing/2014/main" id="{D5F942BE-13EA-4B72-43C4-0B1BF5F21911}"/>
                    </a:ext>
                  </a:extLst>
                </p:cNvPr>
                <p:cNvSpPr/>
                <p:nvPr/>
              </p:nvSpPr>
              <p:spPr>
                <a:xfrm>
                  <a:off x="2836069" y="3149651"/>
                  <a:ext cx="1967868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ko-KR" altLang="en-US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5F2EE2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조성</a:t>
                  </a:r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5F2EE2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, </a:t>
                  </a:r>
                  <a:r>
                    <a:rPr lang="ko-KR" altLang="en-US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5F2EE2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실험 조건 등</a:t>
                  </a:r>
                  <a:endParaRPr lang="en-US" altLang="ko-KR" sz="600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rgbClr val="5F2EE2"/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440" name="직사각형 439">
                  <a:extLst>
                    <a:ext uri="{FF2B5EF4-FFF2-40B4-BE49-F238E27FC236}">
                      <a16:creationId xmlns:a16="http://schemas.microsoft.com/office/drawing/2014/main" id="{4E932BE8-7019-59B0-3938-4E61007E32E9}"/>
                    </a:ext>
                  </a:extLst>
                </p:cNvPr>
                <p:cNvSpPr/>
                <p:nvPr/>
              </p:nvSpPr>
              <p:spPr>
                <a:xfrm>
                  <a:off x="2836069" y="3536544"/>
                  <a:ext cx="1967868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5F2EE2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Data</a:t>
                  </a:r>
                </a:p>
              </p:txBody>
            </p:sp>
            <p:cxnSp>
              <p:nvCxnSpPr>
                <p:cNvPr id="441" name="연결선: 꺾임 163">
                  <a:extLst>
                    <a:ext uri="{FF2B5EF4-FFF2-40B4-BE49-F238E27FC236}">
                      <a16:creationId xmlns:a16="http://schemas.microsoft.com/office/drawing/2014/main" id="{481CBF6E-FA8F-4770-A648-0ADCD90B7090}"/>
                    </a:ext>
                  </a:extLst>
                </p:cNvPr>
                <p:cNvCxnSpPr>
                  <a:cxnSpLocks/>
                  <a:stCxn id="416" idx="2"/>
                  <a:endCxn id="421" idx="3"/>
                </p:cNvCxnSpPr>
                <p:nvPr/>
              </p:nvCxnSpPr>
              <p:spPr>
                <a:xfrm rot="5400000">
                  <a:off x="8336227" y="4373609"/>
                  <a:ext cx="1109525" cy="598001"/>
                </a:xfrm>
                <a:prstGeom prst="bentConnector2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solid"/>
                  <a:headEnd type="none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직선 화살표 연결선 441">
                  <a:extLst>
                    <a:ext uri="{FF2B5EF4-FFF2-40B4-BE49-F238E27FC236}">
                      <a16:creationId xmlns:a16="http://schemas.microsoft.com/office/drawing/2014/main" id="{2638E1D9-FF5E-BB0C-D20D-C11BC88FF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86324" y="5321571"/>
                  <a:ext cx="1039599" cy="1"/>
                </a:xfrm>
                <a:prstGeom prst="straightConnector1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solid"/>
                  <a:headEnd type="none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직사각형 442">
                  <a:extLst>
                    <a:ext uri="{FF2B5EF4-FFF2-40B4-BE49-F238E27FC236}">
                      <a16:creationId xmlns:a16="http://schemas.microsoft.com/office/drawing/2014/main" id="{98A88E26-ACEF-5455-4683-058852D0B334}"/>
                    </a:ext>
                  </a:extLst>
                </p:cNvPr>
                <p:cNvSpPr/>
                <p:nvPr/>
              </p:nvSpPr>
              <p:spPr>
                <a:xfrm>
                  <a:off x="7271476" y="4211020"/>
                  <a:ext cx="1239499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recipe</a:t>
                  </a:r>
                </a:p>
              </p:txBody>
            </p:sp>
            <p:sp>
              <p:nvSpPr>
                <p:cNvPr id="444" name="직사각형 443">
                  <a:extLst>
                    <a:ext uri="{FF2B5EF4-FFF2-40B4-BE49-F238E27FC236}">
                      <a16:creationId xmlns:a16="http://schemas.microsoft.com/office/drawing/2014/main" id="{F04074BB-C169-DAC2-6C1D-DEF3090F7A50}"/>
                    </a:ext>
                  </a:extLst>
                </p:cNvPr>
                <p:cNvSpPr/>
                <p:nvPr/>
              </p:nvSpPr>
              <p:spPr>
                <a:xfrm>
                  <a:off x="3943429" y="4080507"/>
                  <a:ext cx="1822073" cy="3506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ko-KR" sz="600" spc="-20" dirty="0">
                      <a:ln>
                        <a:solidFill>
                          <a:prstClr val="black">
                            <a:lumMod val="75000"/>
                            <a:lumOff val="25000"/>
                            <a:alpha val="0"/>
                          </a:prstClr>
                        </a:solidFill>
                      </a:ln>
                      <a:solidFill>
                        <a:srgbClr val="157DFB">
                          <a:alpha val="70000"/>
                        </a:srgbClr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analysis cond.</a:t>
                  </a:r>
                </a:p>
              </p:txBody>
            </p:sp>
            <p:cxnSp>
              <p:nvCxnSpPr>
                <p:cNvPr id="445" name="연결선: 구부러짐 223">
                  <a:extLst>
                    <a:ext uri="{FF2B5EF4-FFF2-40B4-BE49-F238E27FC236}">
                      <a16:creationId xmlns:a16="http://schemas.microsoft.com/office/drawing/2014/main" id="{D8084AD8-EBB8-1DFE-0B14-12CA43114E52}"/>
                    </a:ext>
                  </a:extLst>
                </p:cNvPr>
                <p:cNvCxnSpPr>
                  <a:cxnSpLocks/>
                  <a:stCxn id="112" idx="2"/>
                  <a:endCxn id="447" idx="0"/>
                </p:cNvCxnSpPr>
                <p:nvPr/>
              </p:nvCxnSpPr>
              <p:spPr>
                <a:xfrm rot="5400000">
                  <a:off x="4445698" y="3317316"/>
                  <a:ext cx="817536" cy="1542955"/>
                </a:xfrm>
                <a:prstGeom prst="curvedConnector3">
                  <a:avLst>
                    <a:gd name="adj1" fmla="val 50000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연결선: 꺾임 230">
                  <a:extLst>
                    <a:ext uri="{FF2B5EF4-FFF2-40B4-BE49-F238E27FC236}">
                      <a16:creationId xmlns:a16="http://schemas.microsoft.com/office/drawing/2014/main" id="{5D952191-7ADA-FCF5-FDB9-FF04C726C11E}"/>
                    </a:ext>
                  </a:extLst>
                </p:cNvPr>
                <p:cNvCxnSpPr>
                  <a:cxnSpLocks/>
                  <a:stCxn id="112" idx="2"/>
                  <a:endCxn id="421" idx="0"/>
                </p:cNvCxnSpPr>
                <p:nvPr/>
              </p:nvCxnSpPr>
              <p:spPr>
                <a:xfrm rot="16200000" flipH="1">
                  <a:off x="6419068" y="2886900"/>
                  <a:ext cx="943300" cy="2529550"/>
                </a:xfrm>
                <a:prstGeom prst="bentConnector3">
                  <a:avLst>
                    <a:gd name="adj1" fmla="val 39768"/>
                  </a:avLst>
                </a:prstGeom>
                <a:ln w="38100">
                  <a:solidFill>
                    <a:srgbClr val="187DFB">
                      <a:alpha val="15000"/>
                    </a:srgbClr>
                  </a:solidFill>
                  <a:headEnd type="none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7" name="직사각형 446">
                  <a:extLst>
                    <a:ext uri="{FF2B5EF4-FFF2-40B4-BE49-F238E27FC236}">
                      <a16:creationId xmlns:a16="http://schemas.microsoft.com/office/drawing/2014/main" id="{F0B64A34-7B22-CB00-3197-A0430F072124}"/>
                    </a:ext>
                  </a:extLst>
                </p:cNvPr>
                <p:cNvSpPr/>
                <p:nvPr/>
              </p:nvSpPr>
              <p:spPr>
                <a:xfrm>
                  <a:off x="3171951" y="4497561"/>
                  <a:ext cx="1822073" cy="3506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/>
                  <a:lightRig rig="balanced" dir="t">
                    <a:rot lat="0" lon="0" rev="18000000"/>
                  </a:lightRig>
                </a:scene3d>
                <a:sp3d prstMaterial="metal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ko-KR" sz="600" spc="-20" dirty="0">
                    <a:ln>
                      <a:solidFill>
                        <a:prstClr val="black">
                          <a:lumMod val="75000"/>
                          <a:lumOff val="25000"/>
                          <a:alpha val="0"/>
                        </a:prstClr>
                      </a:solidFill>
                    </a:ln>
                    <a:solidFill>
                      <a:srgbClr val="157DFB">
                        <a:alpha val="70000"/>
                      </a:srgbClr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pic>
              <p:nvPicPr>
                <p:cNvPr id="448" name="그림 447">
                  <a:extLst>
                    <a:ext uri="{FF2B5EF4-FFF2-40B4-BE49-F238E27FC236}">
                      <a16:creationId xmlns:a16="http://schemas.microsoft.com/office/drawing/2014/main" id="{98CF7D0F-80AB-D7E1-E04D-83C5A24849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3160" y="4697554"/>
                  <a:ext cx="1361268" cy="869156"/>
                </a:xfrm>
                <a:prstGeom prst="rect">
                  <a:avLst/>
                </a:prstGeom>
              </p:spPr>
            </p:pic>
          </p:grpSp>
          <p:cxnSp>
            <p:nvCxnSpPr>
              <p:cNvPr id="13" name="연결선: 꺾임 163">
                <a:extLst>
                  <a:ext uri="{FF2B5EF4-FFF2-40B4-BE49-F238E27FC236}">
                    <a16:creationId xmlns:a16="http://schemas.microsoft.com/office/drawing/2014/main" id="{EFEEC10B-388A-F580-3598-DDEB8B0825CA}"/>
                  </a:ext>
                </a:extLst>
              </p:cNvPr>
              <p:cNvCxnSpPr>
                <a:cxnSpLocks/>
                <a:stCxn id="414" idx="3"/>
                <a:endCxn id="413" idx="0"/>
              </p:cNvCxnSpPr>
              <p:nvPr/>
            </p:nvCxnSpPr>
            <p:spPr>
              <a:xfrm>
                <a:off x="9144142" y="1546517"/>
                <a:ext cx="294434" cy="948884"/>
              </a:xfrm>
              <a:prstGeom prst="bentConnector2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  <a:prstDash val="solid"/>
                <a:headEnd type="none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A2B4E1F7-ABA6-185F-F7F9-6045CADAC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69552" y="903931"/>
                <a:ext cx="1300642" cy="1437129"/>
              </a:xfrm>
              <a:prstGeom prst="rect">
                <a:avLst/>
              </a:prstGeom>
            </p:spPr>
          </p:pic>
        </p:grpSp>
        <p:grpSp>
          <p:nvGrpSpPr>
            <p:cNvPr id="449" name="그룹 448">
              <a:extLst>
                <a:ext uri="{FF2B5EF4-FFF2-40B4-BE49-F238E27FC236}">
                  <a16:creationId xmlns:a16="http://schemas.microsoft.com/office/drawing/2014/main" id="{F3B01688-F791-B868-F4B7-7614D29025CE}"/>
                </a:ext>
              </a:extLst>
            </p:cNvPr>
            <p:cNvGrpSpPr/>
            <p:nvPr/>
          </p:nvGrpSpPr>
          <p:grpSpPr>
            <a:xfrm>
              <a:off x="8442583" y="1952624"/>
              <a:ext cx="4225392" cy="5137299"/>
              <a:chOff x="767625" y="1446403"/>
              <a:chExt cx="5191890" cy="5563613"/>
            </a:xfrm>
          </p:grpSpPr>
          <p:grpSp>
            <p:nvGrpSpPr>
              <p:cNvPr id="450" name="그룹 449">
                <a:extLst>
                  <a:ext uri="{FF2B5EF4-FFF2-40B4-BE49-F238E27FC236}">
                    <a16:creationId xmlns:a16="http://schemas.microsoft.com/office/drawing/2014/main" id="{F2546F26-60EA-5BCB-0B17-6A18111AE5E8}"/>
                  </a:ext>
                </a:extLst>
              </p:cNvPr>
              <p:cNvGrpSpPr/>
              <p:nvPr/>
            </p:nvGrpSpPr>
            <p:grpSpPr>
              <a:xfrm>
                <a:off x="767625" y="1446403"/>
                <a:ext cx="751936" cy="5563613"/>
                <a:chOff x="3293269" y="1641619"/>
                <a:chExt cx="751936" cy="5943600"/>
              </a:xfrm>
            </p:grpSpPr>
            <p:cxnSp>
              <p:nvCxnSpPr>
                <p:cNvPr id="473" name="직선 화살표 연결선 472">
                  <a:extLst>
                    <a:ext uri="{FF2B5EF4-FFF2-40B4-BE49-F238E27FC236}">
                      <a16:creationId xmlns:a16="http://schemas.microsoft.com/office/drawing/2014/main" id="{268CB886-9899-38AA-F133-63CF6612A1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8637" y="1641619"/>
                  <a:ext cx="0" cy="5943600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74" name="그룹 473">
                  <a:extLst>
                    <a:ext uri="{FF2B5EF4-FFF2-40B4-BE49-F238E27FC236}">
                      <a16:creationId xmlns:a16="http://schemas.microsoft.com/office/drawing/2014/main" id="{BC03677C-D7FB-C589-D3FE-8400F6F39222}"/>
                    </a:ext>
                  </a:extLst>
                </p:cNvPr>
                <p:cNvGrpSpPr/>
                <p:nvPr/>
              </p:nvGrpSpPr>
              <p:grpSpPr>
                <a:xfrm>
                  <a:off x="3293269" y="1667979"/>
                  <a:ext cx="751936" cy="298785"/>
                  <a:chOff x="8254615" y="4765373"/>
                  <a:chExt cx="751936" cy="298785"/>
                </a:xfrm>
              </p:grpSpPr>
              <p:sp>
                <p:nvSpPr>
                  <p:cNvPr id="487" name="타원 486">
                    <a:extLst>
                      <a:ext uri="{FF2B5EF4-FFF2-40B4-BE49-F238E27FC236}">
                        <a16:creationId xmlns:a16="http://schemas.microsoft.com/office/drawing/2014/main" id="{7A854923-344C-E11D-8959-42D8D3552265}"/>
                      </a:ext>
                    </a:extLst>
                  </p:cNvPr>
                  <p:cNvSpPr/>
                  <p:nvPr/>
                </p:nvSpPr>
                <p:spPr>
                  <a:xfrm>
                    <a:off x="8254615" y="4851121"/>
                    <a:ext cx="130737" cy="108302"/>
                  </a:xfrm>
                  <a:prstGeom prst="ellipse">
                    <a:avLst/>
                  </a:prstGeom>
                  <a:solidFill>
                    <a:schemeClr val="bg1"/>
                  </a:solidFill>
                  <a:ln w="34925"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14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  <p:sp>
                <p:nvSpPr>
                  <p:cNvPr id="488" name="TextBox 487">
                    <a:extLst>
                      <a:ext uri="{FF2B5EF4-FFF2-40B4-BE49-F238E27FC236}">
                        <a16:creationId xmlns:a16="http://schemas.microsoft.com/office/drawing/2014/main" id="{A69C350E-E648-0DB7-657A-04244C60591A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615" y="4765373"/>
                    <a:ext cx="751936" cy="2987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Paperlogy 6 SemiBold" pitchFamily="2" charset="-127"/>
                        <a:ea typeface="Paperlogy 6 SemiBold" pitchFamily="2" charset="-127"/>
                      </a:rPr>
                      <a:t>2026</a:t>
                    </a:r>
                    <a:endParaRPr lang="ko-KR" altLang="en-US" sz="700" b="1" dirty="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</p:grpSp>
            <p:grpSp>
              <p:nvGrpSpPr>
                <p:cNvPr id="475" name="그룹 474">
                  <a:extLst>
                    <a:ext uri="{FF2B5EF4-FFF2-40B4-BE49-F238E27FC236}">
                      <a16:creationId xmlns:a16="http://schemas.microsoft.com/office/drawing/2014/main" id="{54601310-44FA-454A-4BA8-2328469C8C5A}"/>
                    </a:ext>
                  </a:extLst>
                </p:cNvPr>
                <p:cNvGrpSpPr/>
                <p:nvPr/>
              </p:nvGrpSpPr>
              <p:grpSpPr>
                <a:xfrm>
                  <a:off x="3293269" y="2954855"/>
                  <a:ext cx="751936" cy="298785"/>
                  <a:chOff x="8254615" y="4765373"/>
                  <a:chExt cx="751936" cy="298785"/>
                </a:xfrm>
              </p:grpSpPr>
              <p:sp>
                <p:nvSpPr>
                  <p:cNvPr id="485" name="타원 484">
                    <a:extLst>
                      <a:ext uri="{FF2B5EF4-FFF2-40B4-BE49-F238E27FC236}">
                        <a16:creationId xmlns:a16="http://schemas.microsoft.com/office/drawing/2014/main" id="{3DB55EE4-E539-0717-0B4F-5E7301541BCE}"/>
                      </a:ext>
                    </a:extLst>
                  </p:cNvPr>
                  <p:cNvSpPr/>
                  <p:nvPr/>
                </p:nvSpPr>
                <p:spPr>
                  <a:xfrm>
                    <a:off x="8254615" y="4851121"/>
                    <a:ext cx="130737" cy="108302"/>
                  </a:xfrm>
                  <a:prstGeom prst="ellipse">
                    <a:avLst/>
                  </a:prstGeom>
                  <a:solidFill>
                    <a:schemeClr val="bg1"/>
                  </a:solidFill>
                  <a:ln w="34925"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14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  <p:sp>
                <p:nvSpPr>
                  <p:cNvPr id="486" name="TextBox 485">
                    <a:extLst>
                      <a:ext uri="{FF2B5EF4-FFF2-40B4-BE49-F238E27FC236}">
                        <a16:creationId xmlns:a16="http://schemas.microsoft.com/office/drawing/2014/main" id="{954E033E-A8EC-E445-B5F1-4D65C50F6323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615" y="4765373"/>
                    <a:ext cx="751936" cy="2987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Paperlogy 6 SemiBold" pitchFamily="2" charset="-127"/>
                        <a:ea typeface="Paperlogy 6 SemiBold" pitchFamily="2" charset="-127"/>
                      </a:rPr>
                      <a:t>2027</a:t>
                    </a:r>
                    <a:endParaRPr lang="ko-KR" altLang="en-US" sz="700" b="1" dirty="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</p:grpSp>
            <p:grpSp>
              <p:nvGrpSpPr>
                <p:cNvPr id="476" name="그룹 475">
                  <a:extLst>
                    <a:ext uri="{FF2B5EF4-FFF2-40B4-BE49-F238E27FC236}">
                      <a16:creationId xmlns:a16="http://schemas.microsoft.com/office/drawing/2014/main" id="{3C57BFD7-3572-7ECF-46F9-0F48B03A2444}"/>
                    </a:ext>
                  </a:extLst>
                </p:cNvPr>
                <p:cNvGrpSpPr/>
                <p:nvPr/>
              </p:nvGrpSpPr>
              <p:grpSpPr>
                <a:xfrm>
                  <a:off x="3293269" y="4269710"/>
                  <a:ext cx="751936" cy="298785"/>
                  <a:chOff x="8254615" y="4765373"/>
                  <a:chExt cx="751936" cy="298785"/>
                </a:xfrm>
              </p:grpSpPr>
              <p:sp>
                <p:nvSpPr>
                  <p:cNvPr id="483" name="타원 482">
                    <a:extLst>
                      <a:ext uri="{FF2B5EF4-FFF2-40B4-BE49-F238E27FC236}">
                        <a16:creationId xmlns:a16="http://schemas.microsoft.com/office/drawing/2014/main" id="{8D9DAC5C-667F-419B-439C-D0F304F4F608}"/>
                      </a:ext>
                    </a:extLst>
                  </p:cNvPr>
                  <p:cNvSpPr/>
                  <p:nvPr/>
                </p:nvSpPr>
                <p:spPr>
                  <a:xfrm>
                    <a:off x="8254615" y="4851121"/>
                    <a:ext cx="130737" cy="108302"/>
                  </a:xfrm>
                  <a:prstGeom prst="ellipse">
                    <a:avLst/>
                  </a:prstGeom>
                  <a:solidFill>
                    <a:schemeClr val="bg1"/>
                  </a:solidFill>
                  <a:ln w="34925"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14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  <p:sp>
                <p:nvSpPr>
                  <p:cNvPr id="484" name="TextBox 483">
                    <a:extLst>
                      <a:ext uri="{FF2B5EF4-FFF2-40B4-BE49-F238E27FC236}">
                        <a16:creationId xmlns:a16="http://schemas.microsoft.com/office/drawing/2014/main" id="{CC252CD4-FD1E-BBB2-49B7-BD2837DAB29E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615" y="4765373"/>
                    <a:ext cx="751936" cy="2987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Paperlogy 6 SemiBold" pitchFamily="2" charset="-127"/>
                        <a:ea typeface="Paperlogy 6 SemiBold" pitchFamily="2" charset="-127"/>
                      </a:rPr>
                      <a:t>2028</a:t>
                    </a:r>
                    <a:endParaRPr lang="ko-KR" altLang="en-US" sz="700" b="1" dirty="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</p:grpSp>
            <p:grpSp>
              <p:nvGrpSpPr>
                <p:cNvPr id="477" name="그룹 476">
                  <a:extLst>
                    <a:ext uri="{FF2B5EF4-FFF2-40B4-BE49-F238E27FC236}">
                      <a16:creationId xmlns:a16="http://schemas.microsoft.com/office/drawing/2014/main" id="{94E176C1-6E58-33C7-54ED-3014BAD9DB94}"/>
                    </a:ext>
                  </a:extLst>
                </p:cNvPr>
                <p:cNvGrpSpPr/>
                <p:nvPr/>
              </p:nvGrpSpPr>
              <p:grpSpPr>
                <a:xfrm>
                  <a:off x="3293269" y="5584565"/>
                  <a:ext cx="751936" cy="298785"/>
                  <a:chOff x="8254615" y="4765373"/>
                  <a:chExt cx="751936" cy="298785"/>
                </a:xfrm>
              </p:grpSpPr>
              <p:sp>
                <p:nvSpPr>
                  <p:cNvPr id="481" name="타원 480">
                    <a:extLst>
                      <a:ext uri="{FF2B5EF4-FFF2-40B4-BE49-F238E27FC236}">
                        <a16:creationId xmlns:a16="http://schemas.microsoft.com/office/drawing/2014/main" id="{94B3DA6E-989C-F7D2-BD15-34B707E54F69}"/>
                      </a:ext>
                    </a:extLst>
                  </p:cNvPr>
                  <p:cNvSpPr/>
                  <p:nvPr/>
                </p:nvSpPr>
                <p:spPr>
                  <a:xfrm>
                    <a:off x="8254615" y="4851121"/>
                    <a:ext cx="130737" cy="108302"/>
                  </a:xfrm>
                  <a:prstGeom prst="ellipse">
                    <a:avLst/>
                  </a:prstGeom>
                  <a:solidFill>
                    <a:schemeClr val="bg1"/>
                  </a:solidFill>
                  <a:ln w="34925"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14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  <p:sp>
                <p:nvSpPr>
                  <p:cNvPr id="482" name="TextBox 481">
                    <a:extLst>
                      <a:ext uri="{FF2B5EF4-FFF2-40B4-BE49-F238E27FC236}">
                        <a16:creationId xmlns:a16="http://schemas.microsoft.com/office/drawing/2014/main" id="{687D0ADA-C079-79A5-EFBC-942703EC3D1B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615" y="4765373"/>
                    <a:ext cx="751936" cy="2987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Paperlogy 6 SemiBold" pitchFamily="2" charset="-127"/>
                        <a:ea typeface="Paperlogy 6 SemiBold" pitchFamily="2" charset="-127"/>
                      </a:rPr>
                      <a:t>2029</a:t>
                    </a:r>
                    <a:endParaRPr lang="ko-KR" altLang="en-US" sz="700" b="1" dirty="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</p:grpSp>
            <p:grpSp>
              <p:nvGrpSpPr>
                <p:cNvPr id="478" name="그룹 477">
                  <a:extLst>
                    <a:ext uri="{FF2B5EF4-FFF2-40B4-BE49-F238E27FC236}">
                      <a16:creationId xmlns:a16="http://schemas.microsoft.com/office/drawing/2014/main" id="{E7A1C91A-CBA7-F559-257A-7FD2816639F2}"/>
                    </a:ext>
                  </a:extLst>
                </p:cNvPr>
                <p:cNvGrpSpPr/>
                <p:nvPr/>
              </p:nvGrpSpPr>
              <p:grpSpPr>
                <a:xfrm>
                  <a:off x="3293269" y="6899419"/>
                  <a:ext cx="751936" cy="298785"/>
                  <a:chOff x="8254615" y="4765373"/>
                  <a:chExt cx="751936" cy="298785"/>
                </a:xfrm>
              </p:grpSpPr>
              <p:sp>
                <p:nvSpPr>
                  <p:cNvPr id="479" name="타원 478">
                    <a:extLst>
                      <a:ext uri="{FF2B5EF4-FFF2-40B4-BE49-F238E27FC236}">
                        <a16:creationId xmlns:a16="http://schemas.microsoft.com/office/drawing/2014/main" id="{A86C844C-AD70-841C-DCFC-3B9519D1E1CB}"/>
                      </a:ext>
                    </a:extLst>
                  </p:cNvPr>
                  <p:cNvSpPr/>
                  <p:nvPr/>
                </p:nvSpPr>
                <p:spPr>
                  <a:xfrm>
                    <a:off x="8254615" y="4851121"/>
                    <a:ext cx="130737" cy="108302"/>
                  </a:xfrm>
                  <a:prstGeom prst="ellipse">
                    <a:avLst/>
                  </a:prstGeom>
                  <a:solidFill>
                    <a:schemeClr val="bg1"/>
                  </a:solidFill>
                  <a:ln w="34925"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14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  <p:sp>
                <p:nvSpPr>
                  <p:cNvPr id="480" name="TextBox 479">
                    <a:extLst>
                      <a:ext uri="{FF2B5EF4-FFF2-40B4-BE49-F238E27FC236}">
                        <a16:creationId xmlns:a16="http://schemas.microsoft.com/office/drawing/2014/main" id="{D46BE91E-FFC6-06F1-BA44-7AB9719DD679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615" y="4765373"/>
                    <a:ext cx="751936" cy="2987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b="1" dirty="0">
                        <a:latin typeface="Paperlogy 6 SemiBold" pitchFamily="2" charset="-127"/>
                        <a:ea typeface="Paperlogy 6 SemiBold" pitchFamily="2" charset="-127"/>
                      </a:rPr>
                      <a:t>2030</a:t>
                    </a:r>
                    <a:endParaRPr lang="ko-KR" altLang="en-US" sz="700" b="1" dirty="0">
                      <a:latin typeface="Paperlogy 6 SemiBold" pitchFamily="2" charset="-127"/>
                      <a:ea typeface="Paperlogy 6 SemiBold" pitchFamily="2" charset="-127"/>
                    </a:endParaRPr>
                  </a:p>
                </p:txBody>
              </p:sp>
            </p:grpSp>
          </p:grp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10732462-7BA6-D764-B186-1AA0E9EC62A7}"/>
                  </a:ext>
                </a:extLst>
              </p:cNvPr>
              <p:cNvSpPr txBox="1"/>
              <p:nvPr/>
            </p:nvSpPr>
            <p:spPr>
              <a:xfrm>
                <a:off x="1645821" y="1456645"/>
                <a:ext cx="1540946" cy="322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sz="900" b="1" dirty="0">
                    <a:latin typeface="Paperlogy 4 Regular" pitchFamily="2" charset="-127"/>
                    <a:ea typeface="Paperlogy 4 Regular" pitchFamily="2" charset="-127"/>
                  </a:rPr>
                  <a:t>상반기</a:t>
                </a: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84015F1-AD7C-4FA7-8EA2-A2FFDD2B54D1}"/>
                  </a:ext>
                </a:extLst>
              </p:cNvPr>
              <p:cNvSpPr txBox="1"/>
              <p:nvPr/>
            </p:nvSpPr>
            <p:spPr>
              <a:xfrm>
                <a:off x="4101324" y="1458743"/>
                <a:ext cx="1540946" cy="322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sz="900" b="1" dirty="0">
                    <a:latin typeface="Paperlogy 4 Regular" pitchFamily="2" charset="-127"/>
                    <a:ea typeface="Paperlogy 4 Regular" pitchFamily="2" charset="-127"/>
                  </a:rPr>
                  <a:t>하반기</a:t>
                </a:r>
              </a:p>
            </p:txBody>
          </p:sp>
          <p:grpSp>
            <p:nvGrpSpPr>
              <p:cNvPr id="453" name="그룹 452">
                <a:extLst>
                  <a:ext uri="{FF2B5EF4-FFF2-40B4-BE49-F238E27FC236}">
                    <a16:creationId xmlns:a16="http://schemas.microsoft.com/office/drawing/2014/main" id="{6608FCF5-4F04-DF93-5152-94092C24B799}"/>
                  </a:ext>
                </a:extLst>
              </p:cNvPr>
              <p:cNvGrpSpPr/>
              <p:nvPr/>
            </p:nvGrpSpPr>
            <p:grpSpPr>
              <a:xfrm>
                <a:off x="1344668" y="1817791"/>
                <a:ext cx="4614847" cy="792000"/>
                <a:chOff x="519667" y="1970191"/>
                <a:chExt cx="4614847" cy="792000"/>
              </a:xfrm>
            </p:grpSpPr>
            <p:sp>
              <p:nvSpPr>
                <p:cNvPr id="471" name="사각형: 둥근 모서리 34">
                  <a:extLst>
                    <a:ext uri="{FF2B5EF4-FFF2-40B4-BE49-F238E27FC236}">
                      <a16:creationId xmlns:a16="http://schemas.microsoft.com/office/drawing/2014/main" id="{43A09747-5E14-A999-FF52-AD65C094BD8E}"/>
                    </a:ext>
                  </a:extLst>
                </p:cNvPr>
                <p:cNvSpPr/>
                <p:nvPr/>
              </p:nvSpPr>
              <p:spPr>
                <a:xfrm>
                  <a:off x="519667" y="1970191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공간 확보 및 기반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시설 공사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</a:b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(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항온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·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항습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·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가스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·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환기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)</a:t>
                  </a:r>
                </a:p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레이저마킹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,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</a:t>
                  </a:r>
                  <a:r>
                    <a:rPr lang="ko-KR" altLang="en-US" sz="800" err="1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홀더프린터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도입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</p:txBody>
            </p:sp>
            <p:sp>
              <p:nvSpPr>
                <p:cNvPr id="472" name="사각형: 둥근 모서리 34">
                  <a:extLst>
                    <a:ext uri="{FF2B5EF4-FFF2-40B4-BE49-F238E27FC236}">
                      <a16:creationId xmlns:a16="http://schemas.microsoft.com/office/drawing/2014/main" id="{7C1CE79B-415A-81A9-C387-632A290DD374}"/>
                    </a:ext>
                  </a:extLst>
                </p:cNvPr>
                <p:cNvSpPr/>
                <p:nvPr/>
              </p:nvSpPr>
              <p:spPr>
                <a:xfrm>
                  <a:off x="3010514" y="1970191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 algn="l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다중분말 금속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3D 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프린터 및 멀티 </a:t>
                  </a:r>
                  <a:r>
                    <a:rPr lang="ko-KR" altLang="en-US" sz="800" dirty="0" err="1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호퍼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도입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  <a:p>
                  <a:pPr marL="28525" indent="-64525" algn="l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와이어 </a:t>
                  </a:r>
                  <a:r>
                    <a:rPr lang="ko-KR" altLang="en-US" sz="800" dirty="0" err="1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가공기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및 서버 도입</a:t>
                  </a:r>
                </a:p>
              </p:txBody>
            </p:sp>
          </p:grpSp>
          <p:grpSp>
            <p:nvGrpSpPr>
              <p:cNvPr id="454" name="그룹 453">
                <a:extLst>
                  <a:ext uri="{FF2B5EF4-FFF2-40B4-BE49-F238E27FC236}">
                    <a16:creationId xmlns:a16="http://schemas.microsoft.com/office/drawing/2014/main" id="{E00F9A41-AA62-718A-2D49-D43879698E01}"/>
                  </a:ext>
                </a:extLst>
              </p:cNvPr>
              <p:cNvGrpSpPr/>
              <p:nvPr/>
            </p:nvGrpSpPr>
            <p:grpSpPr>
              <a:xfrm>
                <a:off x="1344668" y="3005736"/>
                <a:ext cx="4602882" cy="792000"/>
                <a:chOff x="526436" y="3116949"/>
                <a:chExt cx="4602882" cy="792000"/>
              </a:xfrm>
            </p:grpSpPr>
            <p:sp>
              <p:nvSpPr>
                <p:cNvPr id="469" name="사각형: 둥근 모서리 34">
                  <a:extLst>
                    <a:ext uri="{FF2B5EF4-FFF2-40B4-BE49-F238E27FC236}">
                      <a16:creationId xmlns:a16="http://schemas.microsoft.com/office/drawing/2014/main" id="{F179BB5A-0578-88C0-CDC6-75D5477B6DDD}"/>
                    </a:ext>
                  </a:extLst>
                </p:cNvPr>
                <p:cNvSpPr/>
                <p:nvPr/>
              </p:nvSpPr>
              <p:spPr>
                <a:xfrm>
                  <a:off x="526436" y="3116949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3D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프린터 조성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-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공정 조건 최적화 및 </a:t>
                  </a:r>
                  <a:r>
                    <a:rPr lang="ko-KR" altLang="en-US" sz="800" err="1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조건맵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개발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모니터링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시스템 도입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</p:txBody>
            </p:sp>
            <p:sp>
              <p:nvSpPr>
                <p:cNvPr id="470" name="사각형: 둥근 모서리 34">
                  <a:extLst>
                    <a:ext uri="{FF2B5EF4-FFF2-40B4-BE49-F238E27FC236}">
                      <a16:creationId xmlns:a16="http://schemas.microsoft.com/office/drawing/2014/main" id="{B4161FB0-98BB-23F4-9801-592D5E58CA11}"/>
                    </a:ext>
                  </a:extLst>
                </p:cNvPr>
                <p:cNvSpPr/>
                <p:nvPr/>
              </p:nvSpPr>
              <p:spPr>
                <a:xfrm>
                  <a:off x="3005318" y="3116949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제작 모듈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자동화 완성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</a:b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(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3DP-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열처리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-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가공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)</a:t>
                  </a:r>
                </a:p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경도측정기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,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열처리로 도입</a:t>
                  </a:r>
                </a:p>
              </p:txBody>
            </p:sp>
          </p:grpSp>
          <p:grpSp>
            <p:nvGrpSpPr>
              <p:cNvPr id="455" name="그룹 454">
                <a:extLst>
                  <a:ext uri="{FF2B5EF4-FFF2-40B4-BE49-F238E27FC236}">
                    <a16:creationId xmlns:a16="http://schemas.microsoft.com/office/drawing/2014/main" id="{660AD84C-F3BD-B5C7-49B3-08A81C0A1B8F}"/>
                  </a:ext>
                </a:extLst>
              </p:cNvPr>
              <p:cNvGrpSpPr/>
              <p:nvPr/>
            </p:nvGrpSpPr>
            <p:grpSpPr>
              <a:xfrm>
                <a:off x="1344668" y="4193681"/>
                <a:ext cx="4588454" cy="792000"/>
                <a:chOff x="540865" y="4356658"/>
                <a:chExt cx="4588454" cy="792000"/>
              </a:xfrm>
            </p:grpSpPr>
            <p:sp>
              <p:nvSpPr>
                <p:cNvPr id="467" name="사각형: 둥근 모서리 34">
                  <a:extLst>
                    <a:ext uri="{FF2B5EF4-FFF2-40B4-BE49-F238E27FC236}">
                      <a16:creationId xmlns:a16="http://schemas.microsoft.com/office/drawing/2014/main" id="{58C34320-4CE0-16CC-8611-AFD934095220}"/>
                    </a:ext>
                  </a:extLst>
                </p:cNvPr>
                <p:cNvSpPr/>
                <p:nvPr/>
              </p:nvSpPr>
              <p:spPr>
                <a:xfrm>
                  <a:off x="540865" y="4356658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조성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·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열처리 변화에 따른 자동 시편 제작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모듈 완성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제조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·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분석 통합 모니터링 구성</a:t>
                  </a:r>
                </a:p>
              </p:txBody>
            </p:sp>
            <p:sp>
              <p:nvSpPr>
                <p:cNvPr id="468" name="사각형: 둥근 모서리 34">
                  <a:extLst>
                    <a:ext uri="{FF2B5EF4-FFF2-40B4-BE49-F238E27FC236}">
                      <a16:creationId xmlns:a16="http://schemas.microsoft.com/office/drawing/2014/main" id="{38611F1E-6772-744E-7DB4-E5B98591CE4A}"/>
                    </a:ext>
                  </a:extLst>
                </p:cNvPr>
                <p:cNvSpPr/>
                <p:nvPr/>
              </p:nvSpPr>
              <p:spPr>
                <a:xfrm>
                  <a:off x="3005319" y="4356658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SEM, EBSD, EDS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,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XRD, </a:t>
                  </a:r>
                  <a:b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</a:br>
                  <a:r>
                    <a:rPr lang="ko-KR" altLang="en-US" sz="800" err="1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자동연마기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도입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기계적 분석 모듈 자동화 완료</a:t>
                  </a:r>
                </a:p>
              </p:txBody>
            </p:sp>
          </p:grpSp>
          <p:grpSp>
            <p:nvGrpSpPr>
              <p:cNvPr id="456" name="그룹 455">
                <a:extLst>
                  <a:ext uri="{FF2B5EF4-FFF2-40B4-BE49-F238E27FC236}">
                    <a16:creationId xmlns:a16="http://schemas.microsoft.com/office/drawing/2014/main" id="{080022EC-569D-03B7-B3CA-6DEF099379EC}"/>
                  </a:ext>
                </a:extLst>
              </p:cNvPr>
              <p:cNvGrpSpPr/>
              <p:nvPr/>
            </p:nvGrpSpPr>
            <p:grpSpPr>
              <a:xfrm>
                <a:off x="1344668" y="5381625"/>
                <a:ext cx="4585105" cy="794834"/>
                <a:chOff x="544213" y="5741081"/>
                <a:chExt cx="4585105" cy="794834"/>
              </a:xfrm>
            </p:grpSpPr>
            <p:sp>
              <p:nvSpPr>
                <p:cNvPr id="465" name="사각형: 둥근 모서리 34">
                  <a:extLst>
                    <a:ext uri="{FF2B5EF4-FFF2-40B4-BE49-F238E27FC236}">
                      <a16:creationId xmlns:a16="http://schemas.microsoft.com/office/drawing/2014/main" id="{4D1BE49C-0298-5534-0518-F1620893BBB4}"/>
                    </a:ext>
                  </a:extLst>
                </p:cNvPr>
                <p:cNvSpPr/>
                <p:nvPr/>
              </p:nvSpPr>
              <p:spPr>
                <a:xfrm>
                  <a:off x="544213" y="5741081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분석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모듈 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(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시편가공</a:t>
                  </a:r>
                  <a:r>
                    <a:rPr lang="en-US" altLang="ko-KR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-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분석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-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데이터 수집</a:t>
                  </a:r>
                  <a:r>
                    <a:rPr lang="en-US" altLang="ko-KR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)</a:t>
                  </a: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 </a:t>
                  </a:r>
                  <a:r>
                    <a:rPr lang="ko-KR" altLang="en-US" sz="80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자동화 완료</a:t>
                  </a:r>
                  <a:endParaRPr lang="en-US" altLang="ko-KR" sz="800" dirty="0">
                    <a:solidFill>
                      <a:schemeClr val="tx1"/>
                    </a:solidFill>
                    <a:latin typeface="Paperlogy 4 Regular" pitchFamily="2" charset="-127"/>
                    <a:ea typeface="Paperlogy 4 Regular" pitchFamily="2" charset="-127"/>
                  </a:endParaRPr>
                </a:p>
              </p:txBody>
            </p:sp>
            <p:sp>
              <p:nvSpPr>
                <p:cNvPr id="466" name="사각형: 둥근 모서리 34">
                  <a:extLst>
                    <a:ext uri="{FF2B5EF4-FFF2-40B4-BE49-F238E27FC236}">
                      <a16:creationId xmlns:a16="http://schemas.microsoft.com/office/drawing/2014/main" id="{12A687C3-3FDF-31BC-F2AE-E597BA87998C}"/>
                    </a:ext>
                  </a:extLst>
                </p:cNvPr>
                <p:cNvSpPr/>
                <p:nvPr/>
              </p:nvSpPr>
              <p:spPr>
                <a:xfrm>
                  <a:off x="3005318" y="5743915"/>
                  <a:ext cx="2124000" cy="792000"/>
                </a:xfrm>
                <a:prstGeom prst="roundRect">
                  <a:avLst>
                    <a:gd name="adj" fmla="val 6771"/>
                  </a:avLst>
                </a:prstGeom>
                <a:solidFill>
                  <a:srgbClr val="617694">
                    <a:alpha val="12000"/>
                  </a:srgbClr>
                </a:solidFill>
                <a:ln w="6350">
                  <a:solidFill>
                    <a:srgbClr val="647B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44450" indent="-44450">
                    <a:spcBef>
                      <a:spcPts val="100"/>
                    </a:spcBef>
                    <a:buFont typeface="Arial" panose="020B0604020202020204" pitchFamily="34" charset="0"/>
                    <a:buChar char="•"/>
                  </a:pPr>
                  <a:r>
                    <a:rPr lang="ko-KR" altLang="en-US" sz="800" dirty="0">
                      <a:solidFill>
                        <a:schemeClr val="tx1"/>
                      </a:solidFill>
                      <a:latin typeface="Paperlogy 4 Regular" pitchFamily="2" charset="-127"/>
                      <a:ea typeface="Paperlogy 4 Regular" pitchFamily="2" charset="-127"/>
                    </a:rPr>
                    <a:t>전체 모듈 통합 제어 시스템 구축 완료</a:t>
                  </a:r>
                </a:p>
              </p:txBody>
            </p:sp>
          </p:grpSp>
          <p:cxnSp>
            <p:nvCxnSpPr>
              <p:cNvPr id="457" name="꺾인 연결선[E] 456">
                <a:extLst>
                  <a:ext uri="{FF2B5EF4-FFF2-40B4-BE49-F238E27FC236}">
                    <a16:creationId xmlns:a16="http://schemas.microsoft.com/office/drawing/2014/main" id="{101AA071-AB71-00C1-EE7B-4B4736CDBC11}"/>
                  </a:ext>
                </a:extLst>
              </p:cNvPr>
              <p:cNvCxnSpPr>
                <a:stCxn id="472" idx="2"/>
                <a:endCxn id="469" idx="0"/>
              </p:cNvCxnSpPr>
              <p:nvPr/>
            </p:nvCxnSpPr>
            <p:spPr>
              <a:xfrm rot="5400000">
                <a:off x="3454120" y="1562340"/>
                <a:ext cx="395945" cy="2490847"/>
              </a:xfrm>
              <a:prstGeom prst="bentConnector3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꺾인 연결선[E] 457">
                <a:extLst>
                  <a:ext uri="{FF2B5EF4-FFF2-40B4-BE49-F238E27FC236}">
                    <a16:creationId xmlns:a16="http://schemas.microsoft.com/office/drawing/2014/main" id="{DA6BD017-5476-8BC3-9DE5-D13BE2F090D1}"/>
                  </a:ext>
                </a:extLst>
              </p:cNvPr>
              <p:cNvCxnSpPr>
                <a:cxnSpLocks/>
                <a:stCxn id="470" idx="2"/>
                <a:endCxn id="467" idx="0"/>
              </p:cNvCxnSpPr>
              <p:nvPr/>
            </p:nvCxnSpPr>
            <p:spPr>
              <a:xfrm rot="5400000">
                <a:off x="3448137" y="2756267"/>
                <a:ext cx="395945" cy="2478882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꺾인 연결선[E] 458">
                <a:extLst>
                  <a:ext uri="{FF2B5EF4-FFF2-40B4-BE49-F238E27FC236}">
                    <a16:creationId xmlns:a16="http://schemas.microsoft.com/office/drawing/2014/main" id="{D935E268-BAA1-0887-DE5C-32EF1D5ED02F}"/>
                  </a:ext>
                </a:extLst>
              </p:cNvPr>
              <p:cNvCxnSpPr>
                <a:cxnSpLocks/>
                <a:stCxn id="468" idx="2"/>
                <a:endCxn id="465" idx="0"/>
              </p:cNvCxnSpPr>
              <p:nvPr/>
            </p:nvCxnSpPr>
            <p:spPr>
              <a:xfrm rot="5400000">
                <a:off x="3440923" y="3951426"/>
                <a:ext cx="395944" cy="2464454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직선 화살표 연결선 459">
                <a:extLst>
                  <a:ext uri="{FF2B5EF4-FFF2-40B4-BE49-F238E27FC236}">
                    <a16:creationId xmlns:a16="http://schemas.microsoft.com/office/drawing/2014/main" id="{9C3B4AF2-F1E6-A466-A6BE-964087697330}"/>
                  </a:ext>
                </a:extLst>
              </p:cNvPr>
              <p:cNvCxnSpPr>
                <a:stCxn id="471" idx="3"/>
              </p:cNvCxnSpPr>
              <p:nvPr/>
            </p:nvCxnSpPr>
            <p:spPr>
              <a:xfrm>
                <a:off x="3468668" y="2213791"/>
                <a:ext cx="36165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직선 화살표 연결선 460">
                <a:extLst>
                  <a:ext uri="{FF2B5EF4-FFF2-40B4-BE49-F238E27FC236}">
                    <a16:creationId xmlns:a16="http://schemas.microsoft.com/office/drawing/2014/main" id="{7ACE90BC-653A-5F2B-A43C-C6990F4E0CAD}"/>
                  </a:ext>
                </a:extLst>
              </p:cNvPr>
              <p:cNvCxnSpPr>
                <a:cxnSpLocks/>
                <a:stCxn id="467" idx="3"/>
                <a:endCxn id="468" idx="1"/>
              </p:cNvCxnSpPr>
              <p:nvPr/>
            </p:nvCxnSpPr>
            <p:spPr>
              <a:xfrm>
                <a:off x="3468668" y="4589681"/>
                <a:ext cx="340454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직선 화살표 연결선 461">
                <a:extLst>
                  <a:ext uri="{FF2B5EF4-FFF2-40B4-BE49-F238E27FC236}">
                    <a16:creationId xmlns:a16="http://schemas.microsoft.com/office/drawing/2014/main" id="{FFEB3D38-9ACD-1614-8EC9-A7FF65AD4575}"/>
                  </a:ext>
                </a:extLst>
              </p:cNvPr>
              <p:cNvCxnSpPr>
                <a:cxnSpLocks/>
                <a:stCxn id="465" idx="3"/>
                <a:endCxn id="466" idx="1"/>
              </p:cNvCxnSpPr>
              <p:nvPr/>
            </p:nvCxnSpPr>
            <p:spPr>
              <a:xfrm>
                <a:off x="3468668" y="5777625"/>
                <a:ext cx="337105" cy="2834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3" name="사각형: 둥근 모서리 145">
                <a:extLst>
                  <a:ext uri="{FF2B5EF4-FFF2-40B4-BE49-F238E27FC236}">
                    <a16:creationId xmlns:a16="http://schemas.microsoft.com/office/drawing/2014/main" id="{DC3048F0-97EA-B76F-8693-902570F21841}"/>
                  </a:ext>
                </a:extLst>
              </p:cNvPr>
              <p:cNvSpPr/>
              <p:nvPr/>
            </p:nvSpPr>
            <p:spPr>
              <a:xfrm>
                <a:off x="1600425" y="6396796"/>
                <a:ext cx="4047804" cy="468000"/>
              </a:xfrm>
              <a:prstGeom prst="roundRect">
                <a:avLst>
                  <a:gd name="adj" fmla="val 3630"/>
                </a:avLst>
              </a:prstGeom>
              <a:solidFill>
                <a:schemeClr val="bg1">
                  <a:alpha val="90000"/>
                </a:schemeClr>
              </a:solidFill>
              <a:ln w="6350" cap="rnd">
                <a:solidFill>
                  <a:schemeClr val="bg1">
                    <a:lumMod val="50000"/>
                  </a:schemeClr>
                </a:solidFill>
                <a:prstDash val="solid"/>
                <a:round/>
              </a:ln>
              <a:effectLst>
                <a:glow rad="38100">
                  <a:srgbClr val="1F4E79">
                    <a:alpha val="17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" dirty="0">
                  <a:solidFill>
                    <a:srgbClr val="4C5262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B9E4542B-9B8E-9039-F75A-649AE2C99956}"/>
                  </a:ext>
                </a:extLst>
              </p:cNvPr>
              <p:cNvSpPr txBox="1"/>
              <p:nvPr/>
            </p:nvSpPr>
            <p:spPr>
              <a:xfrm>
                <a:off x="1645821" y="6478911"/>
                <a:ext cx="4002408" cy="322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defTabSz="457200" rtl="0"/>
                <a:r>
                  <a:rPr lang="ko-KR" altLang="en-US" sz="900" kern="1200" dirty="0">
                    <a:solidFill>
                      <a:schemeClr val="tx1"/>
                    </a:solidFill>
                    <a:latin typeface="Paperlogy 6 SemiBold" pitchFamily="2" charset="-127"/>
                    <a:ea typeface="Paperlogy 6 SemiBold" pitchFamily="2" charset="-127"/>
                    <a:cs typeface="KoPubWorld돋움체 Bold" panose="00000800000000000000" pitchFamily="2" charset="-127"/>
                  </a:rPr>
                  <a:t>인간 대비 실험속도 </a:t>
                </a:r>
                <a:r>
                  <a:rPr lang="en-US" altLang="ko-KR" sz="900" kern="1200" dirty="0">
                    <a:solidFill>
                      <a:schemeClr val="tx1"/>
                    </a:solidFill>
                    <a:latin typeface="Paperlogy 6 SemiBold" pitchFamily="2" charset="-127"/>
                    <a:ea typeface="Paperlogy 6 SemiBold" pitchFamily="2" charset="-127"/>
                    <a:cs typeface="KoPubWorld돋움체 Bold" panose="00000800000000000000" pitchFamily="2" charset="-127"/>
                  </a:rPr>
                  <a:t>300%</a:t>
                </a:r>
                <a:r>
                  <a:rPr lang="ko-KR" altLang="en-US" sz="900" kern="1200" dirty="0">
                    <a:solidFill>
                      <a:schemeClr val="tx1"/>
                    </a:solidFill>
                    <a:latin typeface="Paperlogy 6 SemiBold" pitchFamily="2" charset="-127"/>
                    <a:ea typeface="Paperlogy 6 SemiBold" pitchFamily="2" charset="-127"/>
                    <a:cs typeface="KoPubWorld돋움체 Bold" panose="00000800000000000000" pitchFamily="2" charset="-127"/>
                  </a:rPr>
                  <a:t> 향상된 자동화 모듈</a:t>
                </a:r>
                <a:endParaRPr lang="en-US" altLang="ko-KR" sz="900" kern="1200" dirty="0">
                  <a:solidFill>
                    <a:schemeClr val="tx1"/>
                  </a:solidFill>
                  <a:latin typeface="Paperlogy 6 SemiBold" pitchFamily="2" charset="-127"/>
                  <a:ea typeface="Paperlogy 6 SemiBold" pitchFamily="2" charset="-127"/>
                  <a:cs typeface="KoPubWorld돋움체 Bold" panose="00000800000000000000" pitchFamily="2" charset="-127"/>
                </a:endParaRPr>
              </a:p>
            </p:txBody>
          </p:sp>
        </p:grpSp>
        <p:sp>
          <p:nvSpPr>
            <p:cNvPr id="489" name="사각형: 둥근 모서리 29">
              <a:extLst>
                <a:ext uri="{FF2B5EF4-FFF2-40B4-BE49-F238E27FC236}">
                  <a16:creationId xmlns:a16="http://schemas.microsoft.com/office/drawing/2014/main" id="{396B01F6-EF69-1DC9-86B9-2328FBE4F59C}"/>
                </a:ext>
              </a:extLst>
            </p:cNvPr>
            <p:cNvSpPr/>
            <p:nvPr/>
          </p:nvSpPr>
          <p:spPr>
            <a:xfrm>
              <a:off x="2720598" y="1271645"/>
              <a:ext cx="3312000" cy="360000"/>
            </a:xfrm>
            <a:prstGeom prst="roundRect">
              <a:avLst>
                <a:gd name="adj" fmla="val 50000"/>
              </a:avLst>
            </a:prstGeom>
            <a:solidFill>
              <a:srgbClr val="546882"/>
            </a:solidFill>
            <a:ln w="15875" cap="rnd" cmpd="sng" algn="ctr">
              <a:noFill/>
              <a:prstDash val="sysDot"/>
              <a:round/>
            </a:ln>
            <a:effectLst/>
          </p:spPr>
          <p:txBody>
            <a:bodyPr tIns="0" rtlCol="0" anchor="ctr"/>
            <a:lstStyle/>
            <a:p>
              <a:pPr algn="ctr" defTabSz="457200" rtl="0">
                <a:lnSpc>
                  <a:spcPct val="150000"/>
                </a:lnSpc>
                <a:defRPr/>
              </a:pPr>
              <a:r>
                <a:rPr lang="ko-KR" altLang="en-US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자동화 제조</a:t>
              </a:r>
              <a:r>
                <a:rPr lang="en-US" altLang="ko-KR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·</a:t>
              </a:r>
              <a:r>
                <a:rPr lang="ko-KR" altLang="en-US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평가</a:t>
              </a:r>
              <a:r>
                <a:rPr lang="en-US" altLang="ko-KR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·</a:t>
              </a:r>
              <a:r>
                <a:rPr lang="ko-KR" altLang="en-US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분석 모듈 구축 </a:t>
              </a:r>
              <a:endParaRPr lang="en-US" altLang="ko-KR" sz="110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490" name="사각형: 둥근 모서리 29">
              <a:extLst>
                <a:ext uri="{FF2B5EF4-FFF2-40B4-BE49-F238E27FC236}">
                  <a16:creationId xmlns:a16="http://schemas.microsoft.com/office/drawing/2014/main" id="{61E2ACAB-AD5C-7D7E-FA25-B5726A2EC323}"/>
                </a:ext>
              </a:extLst>
            </p:cNvPr>
            <p:cNvSpPr/>
            <p:nvPr/>
          </p:nvSpPr>
          <p:spPr>
            <a:xfrm>
              <a:off x="9384037" y="1271645"/>
              <a:ext cx="2513549" cy="360000"/>
            </a:xfrm>
            <a:prstGeom prst="roundRect">
              <a:avLst>
                <a:gd name="adj" fmla="val 50000"/>
              </a:avLst>
            </a:prstGeom>
            <a:solidFill>
              <a:srgbClr val="546882"/>
            </a:solidFill>
            <a:ln w="15875" cap="rnd" cmpd="sng" algn="ctr">
              <a:noFill/>
              <a:prstDash val="sysDot"/>
              <a:round/>
            </a:ln>
            <a:effectLst/>
          </p:spPr>
          <p:txBody>
            <a:bodyPr tIns="0" rtlCol="0" anchor="ctr"/>
            <a:lstStyle/>
            <a:p>
              <a:pPr algn="ctr" defTabSz="457200" rtl="0">
                <a:lnSpc>
                  <a:spcPct val="150000"/>
                </a:lnSpc>
                <a:defRPr/>
              </a:pPr>
              <a:r>
                <a:rPr lang="ko-KR" altLang="en-US" sz="1100" dirty="0">
                  <a:solidFill>
                    <a:prstClr val="white"/>
                  </a:solidFill>
                  <a:latin typeface="페이퍼로지 6 SemiBold" pitchFamily="2" charset="-127"/>
                  <a:ea typeface="페이퍼로지 6 SemiBold" pitchFamily="2" charset="-127"/>
                  <a:cs typeface="+mn-cs"/>
                </a:rPr>
                <a:t>장비 도입 및 자동화 일정</a:t>
              </a:r>
              <a:endParaRPr lang="en-US" altLang="ko-KR" sz="110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</p:grpSp>
      <p:sp>
        <p:nvSpPr>
          <p:cNvPr id="492" name="사각형: 둥근 모서리 76">
            <a:extLst>
              <a:ext uri="{FF2B5EF4-FFF2-40B4-BE49-F238E27FC236}">
                <a16:creationId xmlns:a16="http://schemas.microsoft.com/office/drawing/2014/main" id="{29A6E279-38CB-2624-17CB-60B1DAE5386D}"/>
              </a:ext>
            </a:extLst>
          </p:cNvPr>
          <p:cNvSpPr/>
          <p:nvPr/>
        </p:nvSpPr>
        <p:spPr>
          <a:xfrm>
            <a:off x="352789" y="886225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200" latinLnBrk="0">
              <a:lnSpc>
                <a:spcPct val="150000"/>
              </a:lnSpc>
              <a:defRPr/>
            </a:pP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사업 장비 구축 계획 </a:t>
            </a:r>
            <a:r>
              <a:rPr lang="en-US" altLang="ko-KR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전체</a:t>
            </a:r>
            <a:r>
              <a:rPr lang="en-US" altLang="ko-KR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600" kern="0" dirty="0">
              <a:solidFill>
                <a:prstClr val="white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706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사각형: 둥근 모서리 75">
            <a:extLst>
              <a:ext uri="{FF2B5EF4-FFF2-40B4-BE49-F238E27FC236}">
                <a16:creationId xmlns:a16="http://schemas.microsoft.com/office/drawing/2014/main" id="{BF8E1E02-702C-B44D-6406-2AC80A3F3E67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1" y="6570020"/>
            <a:ext cx="2000333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05FA8C-3DE9-1712-C31B-29E3406C7450}"/>
              </a:ext>
            </a:extLst>
          </p:cNvPr>
          <p:cNvSpPr txBox="1"/>
          <p:nvPr/>
        </p:nvSpPr>
        <p:spPr>
          <a:xfrm>
            <a:off x="933591" y="1556792"/>
            <a:ext cx="2757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민간기업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진출의 구조적 한계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E12480-8C24-B44B-AC49-C82387648469}"/>
              </a:ext>
            </a:extLst>
          </p:cNvPr>
          <p:cNvSpPr txBox="1"/>
          <p:nvPr/>
        </p:nvSpPr>
        <p:spPr>
          <a:xfrm>
            <a:off x="943896" y="3140968"/>
            <a:ext cx="3661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설계 플랫폼 민간 독자 대응 어려움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F6EFA-455D-7850-6AF4-E07913F62E03}"/>
              </a:ext>
            </a:extLst>
          </p:cNvPr>
          <p:cNvSpPr txBox="1"/>
          <p:nvPr/>
        </p:nvSpPr>
        <p:spPr>
          <a:xfrm>
            <a:off x="930027" y="4757292"/>
            <a:ext cx="3435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공공 데이터 구축과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인프라 확립 필요</a:t>
            </a:r>
          </a:p>
        </p:txBody>
      </p:sp>
      <p:sp>
        <p:nvSpPr>
          <p:cNvPr id="64" name="사각형: 둥근 모서리 38">
            <a:extLst>
              <a:ext uri="{FF2B5EF4-FFF2-40B4-BE49-F238E27FC236}">
                <a16:creationId xmlns:a16="http://schemas.microsoft.com/office/drawing/2014/main" id="{9D655D82-6600-8F2E-65B4-6AAD6A799587}"/>
              </a:ext>
            </a:extLst>
          </p:cNvPr>
          <p:cNvSpPr/>
          <p:nvPr/>
        </p:nvSpPr>
        <p:spPr>
          <a:xfrm>
            <a:off x="5409714" y="3526381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5" name="사각형: 둥근 모서리 39">
            <a:extLst>
              <a:ext uri="{FF2B5EF4-FFF2-40B4-BE49-F238E27FC236}">
                <a16:creationId xmlns:a16="http://schemas.microsoft.com/office/drawing/2014/main" id="{3EBA08DA-E374-880C-1317-9EE8911F4AAE}"/>
              </a:ext>
            </a:extLst>
          </p:cNvPr>
          <p:cNvSpPr/>
          <p:nvPr/>
        </p:nvSpPr>
        <p:spPr>
          <a:xfrm>
            <a:off x="1181524" y="3526381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6" name="화살표: 오른쪽 40">
            <a:extLst>
              <a:ext uri="{FF2B5EF4-FFF2-40B4-BE49-F238E27FC236}">
                <a16:creationId xmlns:a16="http://schemas.microsoft.com/office/drawing/2014/main" id="{950FEA9E-37A2-5AD4-9455-2DD8398BE7F4}"/>
              </a:ext>
            </a:extLst>
          </p:cNvPr>
          <p:cNvSpPr/>
          <p:nvPr/>
        </p:nvSpPr>
        <p:spPr>
          <a:xfrm rot="10800000" flipH="1">
            <a:off x="4489400" y="3903701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9E4508-87C7-9E47-25CF-ED0724F9AFB4}"/>
              </a:ext>
            </a:extLst>
          </p:cNvPr>
          <p:cNvSpPr txBox="1"/>
          <p:nvPr/>
        </p:nvSpPr>
        <p:spPr>
          <a:xfrm>
            <a:off x="5409714" y="3674803"/>
            <a:ext cx="314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금속소재와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를 함께 이해하고 실증할 수 있는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출연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 주도 인프라 구축 필요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F52D2E-D528-9FE9-E02A-ABCD486497E0}"/>
              </a:ext>
            </a:extLst>
          </p:cNvPr>
          <p:cNvSpPr txBox="1"/>
          <p:nvPr/>
        </p:nvSpPr>
        <p:spPr>
          <a:xfrm>
            <a:off x="1403648" y="3693186"/>
            <a:ext cx="14558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 기업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기술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및  경험 부족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0B91F0-3FDD-C38C-E251-989F0403C709}"/>
              </a:ext>
            </a:extLst>
          </p:cNvPr>
          <p:cNvSpPr txBox="1"/>
          <p:nvPr/>
        </p:nvSpPr>
        <p:spPr>
          <a:xfrm>
            <a:off x="3289371" y="3693186"/>
            <a:ext cx="11689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전문기관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 소재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부족</a:t>
            </a:r>
          </a:p>
        </p:txBody>
      </p:sp>
      <p:sp>
        <p:nvSpPr>
          <p:cNvPr id="74" name="십자형 91">
            <a:extLst>
              <a:ext uri="{FF2B5EF4-FFF2-40B4-BE49-F238E27FC236}">
                <a16:creationId xmlns:a16="http://schemas.microsoft.com/office/drawing/2014/main" id="{17ECF7B8-B9EE-E58A-931C-24B6811E3B2D}"/>
              </a:ext>
            </a:extLst>
          </p:cNvPr>
          <p:cNvSpPr/>
          <p:nvPr/>
        </p:nvSpPr>
        <p:spPr>
          <a:xfrm>
            <a:off x="2928560" y="3858730"/>
            <a:ext cx="175827" cy="175827"/>
          </a:xfrm>
          <a:prstGeom prst="plus">
            <a:avLst>
              <a:gd name="adj" fmla="val 36443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0" name="사각형: 둥근 모서리 34">
            <a:extLst>
              <a:ext uri="{FF2B5EF4-FFF2-40B4-BE49-F238E27FC236}">
                <a16:creationId xmlns:a16="http://schemas.microsoft.com/office/drawing/2014/main" id="{5CDAE17F-A4A3-B403-97A0-6A62625C3160}"/>
              </a:ext>
            </a:extLst>
          </p:cNvPr>
          <p:cNvSpPr/>
          <p:nvPr/>
        </p:nvSpPr>
        <p:spPr>
          <a:xfrm>
            <a:off x="5409714" y="1938443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1" name="사각형: 둥근 모서리 35">
            <a:extLst>
              <a:ext uri="{FF2B5EF4-FFF2-40B4-BE49-F238E27FC236}">
                <a16:creationId xmlns:a16="http://schemas.microsoft.com/office/drawing/2014/main" id="{8C747147-F172-3289-34E6-E6C21E50E272}"/>
              </a:ext>
            </a:extLst>
          </p:cNvPr>
          <p:cNvSpPr/>
          <p:nvPr/>
        </p:nvSpPr>
        <p:spPr>
          <a:xfrm>
            <a:off x="1181524" y="1938443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2" name="화살표: 오른쪽 36">
            <a:extLst>
              <a:ext uri="{FF2B5EF4-FFF2-40B4-BE49-F238E27FC236}">
                <a16:creationId xmlns:a16="http://schemas.microsoft.com/office/drawing/2014/main" id="{FE1BF4A6-3A94-18BF-1C4A-27438967ABC0}"/>
              </a:ext>
            </a:extLst>
          </p:cNvPr>
          <p:cNvSpPr/>
          <p:nvPr/>
        </p:nvSpPr>
        <p:spPr>
          <a:xfrm rot="10800000" flipH="1">
            <a:off x="4489400" y="2315763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30D88A-EDED-E1C0-C954-B594DEDED2DA}"/>
              </a:ext>
            </a:extLst>
          </p:cNvPr>
          <p:cNvSpPr txBox="1"/>
          <p:nvPr/>
        </p:nvSpPr>
        <p:spPr>
          <a:xfrm>
            <a:off x="5489348" y="2056364"/>
            <a:ext cx="2964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정부지원 하에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조합설계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공정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성능 관계를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예측하는 설계플랫폼 구축 필요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249255-CEB3-7C75-83A0-6C68ED73D612}"/>
              </a:ext>
            </a:extLst>
          </p:cNvPr>
          <p:cNvSpPr txBox="1"/>
          <p:nvPr/>
        </p:nvSpPr>
        <p:spPr>
          <a:xfrm>
            <a:off x="1628140" y="2154974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고난도 실험</a:t>
            </a:r>
          </a:p>
        </p:txBody>
      </p:sp>
      <p:sp>
        <p:nvSpPr>
          <p:cNvPr id="76" name="화살표: 오른쪽 94">
            <a:extLst>
              <a:ext uri="{FF2B5EF4-FFF2-40B4-BE49-F238E27FC236}">
                <a16:creationId xmlns:a16="http://schemas.microsoft.com/office/drawing/2014/main" id="{A8BDAF1B-C411-7783-9999-23454E399FF5}"/>
              </a:ext>
            </a:extLst>
          </p:cNvPr>
          <p:cNvSpPr/>
          <p:nvPr/>
        </p:nvSpPr>
        <p:spPr>
          <a:xfrm>
            <a:off x="2874665" y="2308535"/>
            <a:ext cx="257175" cy="192462"/>
          </a:xfrm>
          <a:prstGeom prst="rightArrow">
            <a:avLst>
              <a:gd name="adj1" fmla="val 50000"/>
              <a:gd name="adj2" fmla="val 64249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0A3962-7C81-0AB2-A304-B6D27C13CEB0}"/>
              </a:ext>
            </a:extLst>
          </p:cNvPr>
          <p:cNvSpPr txBox="1"/>
          <p:nvPr/>
        </p:nvSpPr>
        <p:spPr>
          <a:xfrm>
            <a:off x="3265443" y="2154974"/>
            <a:ext cx="1176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대규모 데이터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반복 처리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8A681F-7E0C-B993-0298-E10EEE23C432}"/>
              </a:ext>
            </a:extLst>
          </p:cNvPr>
          <p:cNvSpPr txBox="1"/>
          <p:nvPr/>
        </p:nvSpPr>
        <p:spPr>
          <a:xfrm>
            <a:off x="1907704" y="2708658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민간 기술적</a:t>
            </a:r>
            <a:r>
              <a:rPr lang="en-US" altLang="ko-KR" sz="1200" dirty="0">
                <a:solidFill>
                  <a:srgbClr val="555B6A"/>
                </a:solidFill>
                <a:latin typeface="Gong Gothic Bold" panose="00000800000000000000" pitchFamily="2" charset="-127"/>
                <a:ea typeface="Gong Gothic Bold" panose="00000800000000000000" pitchFamily="2" charset="-127"/>
              </a:rPr>
              <a:t>·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부담이 큰 영역</a:t>
            </a:r>
          </a:p>
        </p:txBody>
      </p:sp>
      <p:grpSp>
        <p:nvGrpSpPr>
          <p:cNvPr id="79" name="그룹 60">
            <a:extLst>
              <a:ext uri="{FF2B5EF4-FFF2-40B4-BE49-F238E27FC236}">
                <a16:creationId xmlns:a16="http://schemas.microsoft.com/office/drawing/2014/main" id="{85A97AB7-1FBE-7155-81A8-10118D6D63EE}"/>
              </a:ext>
            </a:extLst>
          </p:cNvPr>
          <p:cNvGrpSpPr/>
          <p:nvPr/>
        </p:nvGrpSpPr>
        <p:grpSpPr>
          <a:xfrm>
            <a:off x="577353" y="1570266"/>
            <a:ext cx="378950" cy="307777"/>
            <a:chOff x="9674087" y="3285866"/>
            <a:chExt cx="352864" cy="286595"/>
          </a:xfrm>
        </p:grpSpPr>
        <p:sp>
          <p:nvSpPr>
            <p:cNvPr id="80" name="타원 61">
              <a:extLst>
                <a:ext uri="{FF2B5EF4-FFF2-40B4-BE49-F238E27FC236}">
                  <a16:creationId xmlns:a16="http://schemas.microsoft.com/office/drawing/2014/main" id="{1B8C00FD-B6BC-942C-E406-5AB28976DCF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439C52B-C535-EAA6-B62B-EF8662947851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01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2" name="그룹 63">
            <a:extLst>
              <a:ext uri="{FF2B5EF4-FFF2-40B4-BE49-F238E27FC236}">
                <a16:creationId xmlns:a16="http://schemas.microsoft.com/office/drawing/2014/main" id="{0FA29F5F-AB77-D5FA-91BC-7B618ACD357D}"/>
              </a:ext>
            </a:extLst>
          </p:cNvPr>
          <p:cNvGrpSpPr/>
          <p:nvPr/>
        </p:nvGrpSpPr>
        <p:grpSpPr>
          <a:xfrm>
            <a:off x="577353" y="3168718"/>
            <a:ext cx="378950" cy="307777"/>
            <a:chOff x="9674087" y="3285866"/>
            <a:chExt cx="352864" cy="286595"/>
          </a:xfrm>
        </p:grpSpPr>
        <p:sp>
          <p:nvSpPr>
            <p:cNvPr id="83" name="타원 64">
              <a:extLst>
                <a:ext uri="{FF2B5EF4-FFF2-40B4-BE49-F238E27FC236}">
                  <a16:creationId xmlns:a16="http://schemas.microsoft.com/office/drawing/2014/main" id="{A7170DB3-B1B6-DE29-E616-96A62B172EEA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52053B5-1C14-DE81-4511-D6C75EF0BF5A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02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5" name="그룹 67">
            <a:extLst>
              <a:ext uri="{FF2B5EF4-FFF2-40B4-BE49-F238E27FC236}">
                <a16:creationId xmlns:a16="http://schemas.microsoft.com/office/drawing/2014/main" id="{08FBFFD6-C1D5-4B9F-C507-3FD965C7BA8C}"/>
              </a:ext>
            </a:extLst>
          </p:cNvPr>
          <p:cNvGrpSpPr/>
          <p:nvPr/>
        </p:nvGrpSpPr>
        <p:grpSpPr>
          <a:xfrm>
            <a:off x="577353" y="4777139"/>
            <a:ext cx="378950" cy="307777"/>
            <a:chOff x="9674087" y="3285866"/>
            <a:chExt cx="352864" cy="286595"/>
          </a:xfrm>
        </p:grpSpPr>
        <p:sp>
          <p:nvSpPr>
            <p:cNvPr id="87" name="타원 68">
              <a:extLst>
                <a:ext uri="{FF2B5EF4-FFF2-40B4-BE49-F238E27FC236}">
                  <a16:creationId xmlns:a16="http://schemas.microsoft.com/office/drawing/2014/main" id="{4D9B227A-289D-9686-6AB8-8C11F3F06A2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D08004E-2621-4F40-9A08-0A939617B34D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03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sp>
        <p:nvSpPr>
          <p:cNvPr id="68" name="사각형: 둥근 모서리 42">
            <a:extLst>
              <a:ext uri="{FF2B5EF4-FFF2-40B4-BE49-F238E27FC236}">
                <a16:creationId xmlns:a16="http://schemas.microsoft.com/office/drawing/2014/main" id="{A69360A0-1AA1-7078-05FF-CDC200ADD530}"/>
              </a:ext>
            </a:extLst>
          </p:cNvPr>
          <p:cNvSpPr/>
          <p:nvPr/>
        </p:nvSpPr>
        <p:spPr>
          <a:xfrm>
            <a:off x="5409714" y="5128239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9" name="사각형: 둥근 모서리 43">
            <a:extLst>
              <a:ext uri="{FF2B5EF4-FFF2-40B4-BE49-F238E27FC236}">
                <a16:creationId xmlns:a16="http://schemas.microsoft.com/office/drawing/2014/main" id="{83CFDF05-17AD-3539-25CF-308396A52A2A}"/>
              </a:ext>
            </a:extLst>
          </p:cNvPr>
          <p:cNvSpPr/>
          <p:nvPr/>
        </p:nvSpPr>
        <p:spPr>
          <a:xfrm>
            <a:off x="1181524" y="5128239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70" name="화살표: 오른쪽 44">
            <a:extLst>
              <a:ext uri="{FF2B5EF4-FFF2-40B4-BE49-F238E27FC236}">
                <a16:creationId xmlns:a16="http://schemas.microsoft.com/office/drawing/2014/main" id="{43554E73-566E-E455-73A0-2DEB52D8DC97}"/>
              </a:ext>
            </a:extLst>
          </p:cNvPr>
          <p:cNvSpPr/>
          <p:nvPr/>
        </p:nvSpPr>
        <p:spPr>
          <a:xfrm rot="10800000" flipH="1">
            <a:off x="4489400" y="5505559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497687-BDDD-EE07-09D1-ED176C945E80}"/>
              </a:ext>
            </a:extLst>
          </p:cNvPr>
          <p:cNvSpPr txBox="1"/>
          <p:nvPr/>
        </p:nvSpPr>
        <p:spPr>
          <a:xfrm>
            <a:off x="5648046" y="5246160"/>
            <a:ext cx="2612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활용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 산업별 수요 대응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맞춤형 최적 조합 도출 가능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AFD611-0BFA-83DA-5C3C-30AB11AB927A}"/>
              </a:ext>
            </a:extLst>
          </p:cNvPr>
          <p:cNvSpPr txBox="1"/>
          <p:nvPr/>
        </p:nvSpPr>
        <p:spPr>
          <a:xfrm>
            <a:off x="1705273" y="5407462"/>
            <a:ext cx="2566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고기능 금속소재에 대한 수요 증가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212D110-CC05-E1CB-BFD3-0985CC645E0A}"/>
              </a:ext>
            </a:extLst>
          </p:cNvPr>
          <p:cNvSpPr txBox="1"/>
          <p:nvPr/>
        </p:nvSpPr>
        <p:spPr>
          <a:xfrm>
            <a:off x="1731225" y="5776596"/>
            <a:ext cx="25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우주항공</a:t>
            </a:r>
            <a:r>
              <a:rPr lang="en-US" altLang="ko-KR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dirty="0" err="1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모빌리티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 등 주력 제조업 수요 증가</a:t>
            </a:r>
          </a:p>
        </p:txBody>
      </p:sp>
      <p:sp>
        <p:nvSpPr>
          <p:cNvPr id="94" name="사각형: 둥근 모서리 76">
            <a:extLst>
              <a:ext uri="{FF2B5EF4-FFF2-40B4-BE49-F238E27FC236}">
                <a16:creationId xmlns:a16="http://schemas.microsoft.com/office/drawing/2014/main" id="{BB6FFE21-FCE4-163D-0F52-371848595A1A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200" latinLnBrk="0">
              <a:lnSpc>
                <a:spcPct val="150000"/>
              </a:lnSpc>
              <a:defRPr/>
            </a:pP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정부 지원 필요성</a:t>
            </a:r>
          </a:p>
        </p:txBody>
      </p:sp>
    </p:spTree>
    <p:extLst>
      <p:ext uri="{BB962C8B-B14F-4D97-AF65-F5344CB8AC3E}">
        <p14:creationId xmlns:p14="http://schemas.microsoft.com/office/powerpoint/2010/main" val="104865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734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구축 할 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개요</a:t>
            </a:r>
          </a:p>
        </p:txBody>
      </p:sp>
      <p:grpSp>
        <p:nvGrpSpPr>
          <p:cNvPr id="2" name="그룹 33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6" name="직사각형 35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51520" y="836712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상세 사양 및 핵심 기능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275856" y="836712"/>
            <a:ext cx="5604290" cy="3523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en-US" altLang="ko-KR" sz="1100" b="1" dirty="0">
                <a:solidFill>
                  <a:schemeClr val="tx1"/>
                </a:solidFill>
              </a:rPr>
              <a:t>주요 사양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적층 방식: Laser Powder DED(LP-DED), 다종 분말 동시 공급·실시간 혼합비 제어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3축 모션: X/Y/Z Linear Gantry, Stroke 400×400×300mm 이상, 반복 정밀도 50㎛ 이하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레이저: Yb Fiber 2,000W급(CW, 1,070nm), 출력 안정성 ±2%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적층 헤드: 가변형 빔 스팟 1,200~2,400㎛, IR 카메라 동축 광학계(최대 2,000℃, 200Hz)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분말 공급: 독립 호퍼 6채널 이상(각 1L), 0.05~60g/min, 토출량 ±10% 실시간 피드백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환경 제어: Non-chamber Auto-purging, 고순도 Ar 공급, 산소 농도 50ppm 이하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자동화·안전: 시편 자동 핸들링(적재·배출), 스마트 도어, 통합 안전 인터록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플레이트: 가열 400℃ 이상(400×400mm) / 수냉 냉각 능력 1,500W </a:t>
            </a:r>
            <a:r>
              <a:rPr lang="en-US" altLang="ko-KR" sz="1050" b="0" dirty="0" err="1">
                <a:solidFill>
                  <a:schemeClr val="tx1"/>
                </a:solidFill>
              </a:rPr>
              <a:t>이상</a:t>
            </a:r>
            <a:br>
              <a:rPr lang="en-US" altLang="ko-KR" sz="1050" b="0" dirty="0">
                <a:solidFill>
                  <a:schemeClr val="tx1"/>
                </a:solidFill>
              </a:rPr>
            </a:br>
            <a:endParaRPr lang="en-US" altLang="ko-KR" sz="1050" b="0" dirty="0">
              <a:solidFill>
                <a:schemeClr val="tx1"/>
              </a:solidFill>
            </a:endParaRPr>
          </a:p>
          <a:p>
            <a:pPr fontAlgn="base">
              <a:lnSpc>
                <a:spcPct val="125000"/>
              </a:lnSpc>
            </a:pPr>
            <a:r>
              <a:rPr lang="en-US" altLang="ko-KR" sz="11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HMI·CAM 소프트웨어(시뮬레이션·충돌 감지, Slicing/Tool-path), NC code 다중 소재 제어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050" b="0" dirty="0">
                <a:solidFill>
                  <a:schemeClr val="tx1"/>
                </a:solidFill>
              </a:rPr>
              <a:t>Python 등 외부 API 제공(자동화 실험실 OS 연동), CE 안전인증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51520" y="4056072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장비의 용도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5535" y="4425404"/>
            <a:ext cx="8395933" cy="1049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○ 자동화 실험실 기반 합금 조성·공정 다변량 빅데이터 생성용 샘플 제작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○ 단일 공정 내 합금 조성 연속 가변(CGM) 고속 합금 탐색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○ 금속소재 멀티모달 파운데이션 모델 학습용 데이터 생성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○ IR 온도·적층 높이·토출량 등 공정 센싱 데이터 확보 및 공정 제어 AI 개발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51520" y="5540190"/>
            <a:ext cx="250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제작사 등 기타사항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5535" y="5925780"/>
            <a:ext cx="8395933" cy="527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제작사: ㈜인스텍(대한민국)  /  모델명: MX-FAB (입찰 예정)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비교 검토: ㈜테라웍스(LP-DED), ㈜에이엠솔루션즈(DED Custom)</a:t>
            </a:r>
          </a:p>
        </p:txBody>
      </p:sp>
      <p:sp>
        <p:nvSpPr>
          <p:cNvPr id="23" name="직사각형 15"/>
          <p:cNvSpPr/>
          <p:nvPr/>
        </p:nvSpPr>
        <p:spPr>
          <a:xfrm>
            <a:off x="107503" y="3212976"/>
            <a:ext cx="3384377" cy="430098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&lt;다중 분말 금속 DED 프린터(LP-DED)&gt;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pic>
        <p:nvPicPr>
          <p:cNvPr id="44" name="Picture 43" descr="mxfab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2" y="1280160"/>
            <a:ext cx="2242635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836712"/>
            <a:ext cx="377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구축의 필요성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5536" y="1266438"/>
            <a:ext cx="8280920" cy="23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과제 '금속 소재 멀티모달 빅데이터 구축'의 핵심 인프라인 자동화 실험실에서 조성-공정-조직-물성 멀티모달 빅데이터를 적층 단계부터 무인으로 고속 자동 생성하는 것이 핵심 목표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이를 위해서는 다종 분말의 독립적 실시간 공급, 일관된 적층 품질의 폐루프 자동 보정, 시편 자동 핸들링 기반 무인 연속 운용을 동시에 지원하는 장비가 필요하며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다중 분말 금속 DED 프린터를 도입함으로써 단일 합금계 적층으로는 불가능한 5년 누적 25,000건 멀티모달 데이터 목표 달성 가능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704088" y="4526280"/>
            <a:ext cx="1783080" cy="1005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과제 핵심 목표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멀티모달 빅데이터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25,000건 구축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578608" y="4846320"/>
            <a:ext cx="45720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127248" y="4526280"/>
            <a:ext cx="2103120" cy="100584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다중 분말 금속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DED 프린터 도입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(LP-DED)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321808" y="4846320"/>
            <a:ext cx="457200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870448" y="3749039"/>
            <a:ext cx="2606040" cy="713232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53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</a:rPr>
              <a:t>단일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공정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내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조성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연속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가변</a:t>
            </a:r>
            <a:endParaRPr sz="1100" b="1" dirty="0">
              <a:solidFill>
                <a:srgbClr val="333333"/>
              </a:solidFill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</a:rPr>
              <a:t>고속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합금</a:t>
            </a:r>
            <a:r>
              <a:rPr sz="1100" b="1" dirty="0">
                <a:solidFill>
                  <a:srgbClr val="333333"/>
                </a:solidFill>
              </a:rPr>
              <a:t> </a:t>
            </a:r>
            <a:r>
              <a:rPr sz="1100" b="1" dirty="0" err="1">
                <a:solidFill>
                  <a:srgbClr val="333333"/>
                </a:solidFill>
              </a:rPr>
              <a:t>탐색</a:t>
            </a:r>
            <a:endParaRPr sz="1100" b="1" dirty="0">
              <a:solidFill>
                <a:srgbClr val="333333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870448" y="4663440"/>
            <a:ext cx="2606040" cy="713232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53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</a:rPr>
              <a:t>무인 적층→회수→측정</a:t>
            </a:r>
          </a:p>
          <a:p>
            <a:pPr algn="ctr"/>
            <a:r>
              <a:rPr sz="1100" b="1">
                <a:solidFill>
                  <a:srgbClr val="333333"/>
                </a:solidFill>
              </a:rPr>
              <a:t>24시간 자동화 실험실 가동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70448" y="5577840"/>
            <a:ext cx="2606040" cy="713232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53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333333"/>
                </a:solidFill>
              </a:rPr>
              <a:t>IR·폐루프 공정 센싱</a:t>
            </a:r>
          </a:p>
          <a:p>
            <a:pPr algn="ctr"/>
            <a:r>
              <a:rPr sz="1100" b="1">
                <a:solidFill>
                  <a:srgbClr val="333333"/>
                </a:solidFill>
              </a:rPr>
              <a:t>자동 라벨링 데이터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718452"/>
            <a:ext cx="4471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연구목적과의 부합성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5536" y="1148178"/>
            <a:ext cx="8280920" cy="4801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전략연구사업 세부 과제인 '금속 소재 멀티모달 빅데이터 구축' 과제에서 자동화 실험실 기반 멀티모달 빅데이터 25,000건 확보 추진체계: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다중 분말 DED 적층(조성·공정 데이터 생성) → 자동 시편 회수 및 미세조직·물성 측정 → 멀티모달 DB 구축 → 파운데이션 모델·AI 시뮬레이터 학습·검증 → 기업 서비스화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시뮬레이션 데이터의 정합성 검증, 넓은 조성 영역의 고신뢰성 실험 데이터 확보, 파운데이션 모델 추천 결과의 고속 검증을 위해서는 6채널(차년도 이후 12채널) 독립 분말 호퍼 기반의 고속 자동 제작 플랫폼이 필수적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 장비는 다종 분말 실시간 가변 공급, 적층 품질 폐루프 보정, 무인 시편 회수를 동시 지원하여 본 과제의 데이터 생성 전 주기를 단일 장비에서 수행 가능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따라서 본 다중 분말 금속 DED 프린터는 전략연구사업 '금속소재 조성·공정 자동설계 초거대 AI 서비스 개발'의 세부 과제 연구 목적에 직접 부합하며 과제 수행에 필수적인 장비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88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국가전략적 필요성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9424" y="764704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 연구시설･장비의 국가적 필요성</a:t>
            </a:r>
            <a:r>
              <a:rPr kumimoji="1" lang="en-US" altLang="ko-KR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8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0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1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9" name="직사각형 8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7" name="직사각형 6"/>
          <p:cNvSpPr/>
          <p:nvPr/>
        </p:nvSpPr>
        <p:spPr>
          <a:xfrm>
            <a:off x="395536" y="1148177"/>
            <a:ext cx="8280920" cy="4729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정부는 소재 산업의 AI 전환을 국가적 과제로 제시하고, 산업활용·혁신 AI를 국가전략기술로 지정하여 제조·소재 등 8대 산업의 AX(AI+X) 전면화 추진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제1차 국가전략기술 육성 기본계획('24~'28) 및 '25년 시행계획(관계부처합동, '25.3), 국가 인공지능 전략(과학기술정보통신부, '24.9)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ko-KR" altLang="en-US" sz="1400" b="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그러나 자율실험실(Self-Driving Lab)의 '제조' 단계에서 다종 분말의 실시간 가변 공급과 적층 품질 폐루프 보정을 동시에 지원하는 LP-DED 장비는 국내 보급률이 매우 낮아 소재 데이터 생성 인프라 확보에 큰 제약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장비 기반 자동화 실험실에서 생성되는 멀티모달 빅데이터는 'AI+S&amp;T 활성화 방안'의 과학적 파운데이션 모델, AI 자율제조 선도프로젝트의 AI 제조 파운데이션 모델, AI+R&amp;DI 추진전략의 AI 기반 자율실험실 등 정부 핵심 정책 과제와 직결되는 학습 데이터원으로 기능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또한 다음과 같은 정부 전략과 비전과 연계 가능: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제1차 국가전략기술 육성 기본계획('24~'28), 첨단 소재 R&amp;D 발전전략(관계부처합동, '24.12), AI 자율제조 선도프로젝트(산업통상자원부, '24.5), AI+R&amp;DI 추진전략(산업통상자원부, '24.10), 제2차 연구산업진흥 기본계획('24~'28) (별첨 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65531" y="1340768"/>
            <a:ext cx="4934685" cy="1502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다중 분말 금속 DED 프린터 요구 사양 관련 RED 장비중복성 조사 수행 (NFEC-R-202605-286470)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RED 키워드(금속 3D 프린터) 기준 유사장비가 다수 검색되어, 장비별 활용 가능성 자체검토를 추가 진행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9" name="직사각형 6"/>
          <p:cNvSpPr/>
          <p:nvPr/>
        </p:nvSpPr>
        <p:spPr>
          <a:xfrm>
            <a:off x="365532" y="3247687"/>
            <a:ext cx="8514614" cy="3205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 결과 공동활용 가능한 금속 3D 프린터 15기 확인 — 대부분 PBF(SLM)·바인더젯 방식이며, 다종 분말 DED 방식은 ㈜인스텍 MX-401(공주대), 두산 DVF8000(한국자동차연구원) 등 소수에 불과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solidFill>
                  <a:schemeClr val="tx1"/>
                </a:solidFill>
              </a:rPr>
              <a:t>한화에어로스페이스 M400-4(NFEC-2022-11-282589), 한화에어로스페이스 M290(NFEC-2025-11-310195), 한국전기연구원 M270B(NFEC-2025-07-307188), 경남테크노파크 M290 2기(NFEC-2023-05-287579, -287580), 국립한밭대 Veltz M160 VM(NFEC-2021-07-271713), 한국교통대 SLM 280PS(NFEC-2022-08-280592), 한국자동차연구원 DVF8000(NFEC-2019-09-257959), 공주대 MX-401(NFEC-2021-03-269628), 휴니드테크놀러지스 M400-4(NFEC-2022-11-282795), 한국보건산업진흥원 TS300A(NFEC-2020-11-265950), 동의대 M1 Laser Cusing(NFEC-2018-09-246087), 한국생산기술연구원 OPM 250L(NFEC-2017-03-236862), 울산대 Metalsys150(NFEC-2016-01-207261), 한국생산기술연구원 M-Flex(NFEC-2017-11-240928)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pic>
        <p:nvPicPr>
          <p:cNvPr id="1028" name="Picture 1027" descr="imag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38" y="791004"/>
            <a:ext cx="1723285" cy="2340000"/>
          </a:xfrm>
          <a:prstGeom prst="rect">
            <a:avLst/>
          </a:prstGeom>
        </p:spPr>
      </p:pic>
      <p:pic>
        <p:nvPicPr>
          <p:cNvPr id="1029" name="Picture 1028" descr="imag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347" y="791004"/>
            <a:ext cx="1752799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2327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PBF(SLM)·바인더젯 방식 장비 (13기)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0" dirty="0">
                <a:solidFill>
                  <a:schemeClr val="tx1"/>
                </a:solidFill>
              </a:rPr>
              <a:t>분말 베드 방식 특성상 조성 변경 시 전체 분말 교체가 필요하여 동일 플레이트 내 조성 연속 가변이 불가 → 다조성 고속 탐색·빅데이터 생성이라는 본 과제 목적에 활용 불가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기존 DED 방식 장비 (인스텍 MX-401, 두산 DVF8000)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0" dirty="0">
                <a:solidFill>
                  <a:schemeClr val="tx1"/>
                </a:solidFill>
              </a:rPr>
              <a:t>MX-401: 호퍼 채널 수 부족, 자동 취출·히팅 시스템 부재, SDM 모듈 교체 불가, 레이저 출력 부족 / DVF8000: 듀얼 노즐만 지원하여 3~4종 분말 혼합 제작 방식에 활용 불가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74320" y="3703320"/>
          <a:ext cx="8641079" cy="261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순번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시설·장비명(방식)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제작사 / 모델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취득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설치기관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NFEC 등록번호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EOS / M400-4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2022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한화에어로스페이스㈜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NFEC-2022-11-282589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분말 PBF 3D 프린터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AMCM / M290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2025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한화에어로스페이스㈜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NFEC-2025-11-310195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3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대건테크 / M270B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2025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한국전기연구원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NFEC-2025-07-307188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4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AMCM / M290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2023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경남테크노파크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NFEC-2023-05-287579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5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AMCM / M290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2023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경남테크노파크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NFEC-2023-05-287580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6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디지털트윈형 금속 3D 프린터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헵시바㈜ / Veltz M160 VM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2021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국립한밭대 산학협력단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NFEC-2021-07-271713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7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의료기기 생산용 금속 3D 프린터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SLM Solutions / SLM 280PS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2022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한국교통대학교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NFEC-2022-08-280592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8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대형 금속 3D 프린터(DED)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두산공작기계 / DVF8000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2019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한국자동차연구원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NFEC-2019-09-257959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9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다소재 금속 3D 프린터(DED)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㈜인스텍 / MX-401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공주대학교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NFEC-2021-03-269628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EOS / M400-4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2022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㈜휴니드테크놀러지스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NFEC-2022-11-282795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11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프린터(SLM)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Techgine / TS300A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2020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한국보건산업진흥원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NFEC-2020-11-265950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12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3차원 프린터(SLM)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Concept Laser / M1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2018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동의대학교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NFEC-2018-09-246087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13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프린터(PBF+CNC)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Sodick / OPM 250L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2017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한국생산기술연구원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NFEC-2017-03-236862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14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프린터(SLM)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윈포시스㈜ / Metalsys150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2015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울산대 산학협력단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NFEC-2016-01-207261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15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금속 3D 프린터(바인더젯)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ExOne / M-Flex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/>
                        <a:t>2017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/>
                        <a:t>한국생산기술연구원</a:t>
                      </a:r>
                    </a:p>
                  </a:txBody>
                  <a:tcPr marL="27432" marR="27432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/>
                        <a:t>NFEC-2017-11-240928</a:t>
                      </a:r>
                    </a:p>
                  </a:txBody>
                  <a:tcPr marL="27432" marR="27432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39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165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공통 해당 사항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0" dirty="0">
                <a:solidFill>
                  <a:schemeClr val="tx1"/>
                </a:solidFill>
              </a:rPr>
              <a:t>본 과제의 핵심 연구를 위해서는 자동화 실험실의 24시간 무인 점유 가동과 시스템 자원의 높은 점유율·가동률 유지가 필수적이며, 자동화 실험실 OS 연동을 위한 장비 제어권 확보·개조가 전제되어야 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0" dirty="0">
                <a:solidFill>
                  <a:schemeClr val="tx1"/>
                </a:solidFill>
              </a:rPr>
              <a:t>타 기관 공동활용 장비의 운영 원칙상 단일 과제 목적의 지속적·배타적 독점 활용과 장비 개조·통제는 수용 불가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82880" y="3520440"/>
            <a:ext cx="1325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본 과제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53492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현 공동활용</a:t>
            </a:r>
          </a:p>
          <a:p>
            <a:r>
              <a:rPr sz="1400" b="1"/>
              <a:t>가능 장비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00200" y="3383280"/>
            <a:ext cx="1783080" cy="77724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24시간 무인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연속 점유 가동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456432" y="3611880"/>
            <a:ext cx="384048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913632" y="3383280"/>
            <a:ext cx="1783080" cy="77724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자동화 실험실 OS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연동·장비 개조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769864" y="3611880"/>
            <a:ext cx="384048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227064" y="3383280"/>
            <a:ext cx="1783080" cy="77724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배타적 독점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활용 필수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00200" y="5303520"/>
            <a:ext cx="1783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예약제 개방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접근 원칙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456432" y="5532120"/>
            <a:ext cx="384048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913632" y="5303520"/>
            <a:ext cx="1783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독점 점유 불허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769864" y="5532120"/>
            <a:ext cx="384048" cy="32004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227064" y="5303520"/>
            <a:ext cx="1783080" cy="777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장비 개조·통제</a:t>
            </a:r>
          </a:p>
          <a:p>
            <a:pPr algn="ctr"/>
            <a:r>
              <a:rPr sz="1200" b="1">
                <a:solidFill>
                  <a:srgbClr val="333333"/>
                </a:solidFill>
              </a:rPr>
              <a:t>불가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4389120"/>
            <a:ext cx="731520" cy="640080"/>
          </a:xfrm>
          <a:prstGeom prst="roundRect">
            <a:avLst/>
          </a:prstGeom>
          <a:solidFill>
            <a:srgbClr val="FBE4E4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</a:rPr>
              <a:t>충돌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010144" y="3767328"/>
            <a:ext cx="493776" cy="621792"/>
          </a:xfrm>
          <a:prstGeom prst="bentConnector3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010144" y="5029200"/>
            <a:ext cx="493776" cy="658368"/>
          </a:xfrm>
          <a:prstGeom prst="bentConnector3">
            <a:avLst/>
          </a:prstGeom>
          <a:ln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321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기존 연구시설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･장비와의 차별성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77934" y="1401012"/>
            <a:ext cx="8502212" cy="4044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다중 분말 금속 DED 프린터 (심의 장비)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6채널 이상 독립 분말 호퍼 + 토출량 ±10% 실시간 피드백 제어 — 단일 공정 내 합금 조성을 연속 가변(CGM)하여 1회 적층으로 수십 개 조성점 동시 탐색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Non-chamber Auto-purging(산소 농도 50ppm 이하) — 챔버 배기·퍼징 대기시간을 원천 제거하여 시편 회수 사이클 단축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시편 자동 핸들링 + 스마트 도어 + IR 동축·적층 높이 폐루프 보정 — 무인 연속 적층·회수와 자동 라벨링 멀티모달 데이터 생성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다중 소재 제어 + Python 등 외부 API — 자동화 실험실 OS 통합 제어 및 데이터 파이프라인 직결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기존 장비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대부분 PBF(SLM) 방식으로 동일 플레이트 내 조성 가변이 불가하고, 기존 DED 장비는 호퍼 수·레이저 출력·자동화 기능 부족으로 본 과제의 25,000건 데이터 생성 목표 달성에 부적합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200" b="0" dirty="0">
                <a:solidFill>
                  <a:schemeClr val="tx1"/>
                </a:solidFill>
              </a:rPr>
              <a:t>*불용상태 및 단독활용 장비 제외</a:t>
            </a:r>
          </a:p>
        </p:txBody>
      </p:sp>
    </p:spTree>
    <p:extLst>
      <p:ext uri="{BB962C8B-B14F-4D97-AF65-F5344CB8AC3E}">
        <p14:creationId xmlns:p14="http://schemas.microsoft.com/office/powerpoint/2010/main" val="1505043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활용성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6852" y="1264177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공동활용 계획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56852" y="4780374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연구과제</a:t>
            </a:r>
            <a:r>
              <a:rPr lang="en-US" altLang="ko-KR" b="1" dirty="0"/>
              <a:t>(</a:t>
            </a:r>
            <a:r>
              <a:rPr lang="ko-KR" altLang="en-US" b="1" dirty="0"/>
              <a:t>사업</a:t>
            </a:r>
            <a:r>
              <a:rPr lang="en-US" altLang="ko-KR" b="1" dirty="0"/>
              <a:t>) </a:t>
            </a:r>
            <a:r>
              <a:rPr lang="ko-KR" altLang="en-US" b="1" dirty="0"/>
              <a:t>종료 후 활용계획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66398" y="2996952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국내 연구시설･장비의 수요현황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6"/>
          <p:cNvSpPr/>
          <p:nvPr/>
        </p:nvSpPr>
        <p:spPr>
          <a:xfrm>
            <a:off x="467435" y="1708294"/>
            <a:ext cx="8412711" cy="1235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[재료연 내부] 원내지원 시스템 기반 공동활용(공용장비 등록 후) — </a:t>
            </a:r>
            <a:r>
              <a:rPr lang="en-US" altLang="ko-KR" sz="1200" dirty="0">
                <a:solidFill>
                  <a:schemeClr val="tx1"/>
                </a:solidFill>
              </a:rPr>
              <a:t>재료데이터·분석연구본부, 첨단합금연구실, 분말기술연구실, 가스터빈부품연구실 등 다부서 공동 활용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[외부 공동활용] NTIS(ZEUS) 등록 후 공동활용서비스를 통해 시제품 제작·데이터 생성 서비스 제공 계획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b="0" dirty="0">
                <a:solidFill>
                  <a:schemeClr val="tx1"/>
                </a:solidFill>
              </a:rPr>
              <a:t>수요: 삼성전자, 한화오션, SK, 한국수력원자력, 화승코퍼레이션, 씨티알에코포징 등 활용의사 보유기업 다수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1" name="직사각형 6"/>
          <p:cNvSpPr/>
          <p:nvPr/>
        </p:nvSpPr>
        <p:spPr>
          <a:xfrm>
            <a:off x="377934" y="3486249"/>
            <a:ext cx="8412711" cy="11782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dirty="0">
                <a:solidFill>
                  <a:schemeClr val="tx1"/>
                </a:solidFill>
              </a:rPr>
              <a:t>설문지를 통한 관련 기업 및 주변의 수요처에 당 구축 장비의 필요성을 조사: 설문 결과를 종합하여 장비의 필요성 및 활용 가능성, 향후 구축 장비의 요구 기능에 대해 응답 확인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dirty="0">
                <a:solidFill>
                  <a:schemeClr val="tx1"/>
                </a:solidFill>
              </a:rPr>
              <a:t>조사 장비: 다중 분말 금속 DED 프린터 (총 31명 산·학·연 수요조사 완료, 결과 내용은 별첨 2)</a:t>
            </a:r>
          </a:p>
        </p:txBody>
      </p:sp>
      <p:sp>
        <p:nvSpPr>
          <p:cNvPr id="22" name="직사각형 6"/>
          <p:cNvSpPr/>
          <p:nvPr/>
        </p:nvSpPr>
        <p:spPr>
          <a:xfrm>
            <a:off x="377934" y="5199137"/>
            <a:ext cx="8412711" cy="1110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ZEUS 공동활용서비스로 대내·외 서비스 제공 계획 — 축적된 멀티모달 빅데이터(25,000건 이상)와 학습된 AI 모델을 통해 사업 종료 이후에도 산업체·연구기관·대학 지원 업무 지속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chemeClr val="tx1"/>
                </a:solidFill>
              </a:rPr>
              <a:t>신규 금속소재 AI·자동화 실험실 관련 국가 R&amp;D 과제의 핵심 인프라로 지속 활용, 기업 대상 시제품 적층 제작·맞춤형 조성-공정-물성 데이터셋 구축 지원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적정성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2661" y="1274093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</a:t>
            </a:r>
            <a:r>
              <a:rPr lang="en-US" altLang="ko-KR" b="1" dirty="0"/>
              <a:t> </a:t>
            </a:r>
            <a:r>
              <a:rPr lang="ko-KR" altLang="en-US" b="1" dirty="0"/>
              <a:t>장비의 구성</a:t>
            </a:r>
            <a:r>
              <a:rPr lang="en-US" altLang="ko-KR" sz="1400" b="1" dirty="0"/>
              <a:t>(Specifications) </a:t>
            </a:r>
            <a:r>
              <a:rPr lang="ko-KR" altLang="en-US" b="1" dirty="0"/>
              <a:t>및 성능</a:t>
            </a:r>
            <a:r>
              <a:rPr lang="en-US" altLang="ko-KR" sz="1400" b="1" dirty="0"/>
              <a:t>(Performance)</a:t>
            </a:r>
            <a:endParaRPr lang="en-US" altLang="ko-KR" b="1" dirty="0"/>
          </a:p>
        </p:txBody>
      </p:sp>
      <p:sp>
        <p:nvSpPr>
          <p:cNvPr id="6" name="직사각형 5"/>
          <p:cNvSpPr/>
          <p:nvPr/>
        </p:nvSpPr>
        <p:spPr>
          <a:xfrm>
            <a:off x="252661" y="4847325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가격의 적정성</a:t>
            </a:r>
            <a:endParaRPr lang="en-US" altLang="ko-KR" b="1" dirty="0"/>
          </a:p>
        </p:txBody>
      </p:sp>
      <p:sp>
        <p:nvSpPr>
          <p:cNvPr id="10" name="직사각형 9"/>
          <p:cNvSpPr/>
          <p:nvPr/>
        </p:nvSpPr>
        <p:spPr>
          <a:xfrm>
            <a:off x="431540" y="1643424"/>
            <a:ext cx="8676964" cy="29966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주요 사양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적층 방식: Laser Powder DED(LP-DED), 다종 분말 동시 공급·실시간 혼합비 제어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3축 모션: X/Y/Z Linear Gantry, Stroke 400×400×300mm 이상, 반복 정밀도 50㎛ 이하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레이저: Yb Fiber 2,000W급(CW, 1,070nm), 출력 안정성 ±2%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적층 헤드: 가변형 빔 스팟 1,200~2,400㎛, IR 카메라 동축 광학계(최대 2,000℃, 200Hz)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분말 공급: 독립 호퍼 6채널 이상(각 1L), 0.05~60g/min, 토출량 ±10% 실시간 피드백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환경 제어: Non-chamber Auto-purging, 고순도 Ar 공급, 산소 농도 50ppm 이하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자동화·안전: 시편 자동 핸들링(적재·배출), 스마트 도어, 통합 안전 인터록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플레이트: 가열 400℃ 이상(400×400mm) / 수냉 냉각 능력 1,500W 이상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HMI·CAM 소프트웨어(시뮬레이션·충돌 감지, Slicing/Tool-path), NC code 다중 소재 제어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0" dirty="0">
                <a:solidFill>
                  <a:schemeClr val="tx1"/>
                </a:solidFill>
              </a:rPr>
              <a:t>Python 등 외부 API 제공(자동화 실험실 OS 연동), CE 안전인증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0" name="직사각형 6"/>
          <p:cNvSpPr/>
          <p:nvPr/>
        </p:nvSpPr>
        <p:spPr>
          <a:xfrm>
            <a:off x="377934" y="5216657"/>
            <a:ext cx="8730570" cy="1092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 latinLnBrk="0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dirty="0">
                <a:solidFill>
                  <a:schemeClr val="tx1"/>
                </a:solidFill>
              </a:rPr>
              <a:t>여러 업체를 통해 구매 가능한 다중 분말 DED 프린터 견적을 요청하였으며, 최저가는 1,254백만원(부가세 포함)이고 해당 견적이 요구 사양을 충족 — 실제 구축 비용은 조달 수수료를 포함한 1,270백만원으로 산정 (㈜인스텍 1,254 / ㈜테라웍스 1,320 / ㈜에이엠솔루션즈 1,430백만원)</a:t>
            </a:r>
            <a:endParaRPr lang="ko-KR" altLang="en-US" sz="1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1686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운영의 계획성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3527" y="1260596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운영 인력 및 조직의 전문성 확보계획</a:t>
            </a:r>
            <a:endParaRPr lang="en-US" altLang="ko-KR" b="1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17897"/>
              </p:ext>
            </p:extLst>
          </p:nvPr>
        </p:nvGraphicFramePr>
        <p:xfrm>
          <a:off x="467544" y="4005064"/>
          <a:ext cx="8276458" cy="1873443"/>
        </p:xfrm>
        <a:graphic>
          <a:graphicData uri="http://schemas.openxmlformats.org/drawingml/2006/table">
            <a:tbl>
              <a:tblPr/>
              <a:tblGrid>
                <a:gridCol w="149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소속부서명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최종학위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고용형태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담당장비수</a:t>
                      </a:r>
                      <a:r>
                        <a:rPr lang="en-US" altLang="ko-KR" sz="1000" kern="0" spc="0" baseline="30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900" kern="0" spc="0" baseline="30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장비운영경력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오세혁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재료데이터·분석연구본부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이치헌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재료데이터·분석연구본부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채용예정 OOO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재료데이터·분석연구본부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193801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1" name="직사각형 1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67544" y="6021288"/>
            <a:ext cx="28083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aseline="30000" dirty="0"/>
              <a:t>1)</a:t>
            </a:r>
            <a:r>
              <a:rPr lang="ko-KR" altLang="en-US" sz="1200" dirty="0"/>
              <a:t>구축금액 1000만원 이상 주장비</a:t>
            </a:r>
          </a:p>
        </p:txBody>
      </p:sp>
      <p:sp>
        <p:nvSpPr>
          <p:cNvPr id="21" name="직사각형 9"/>
          <p:cNvSpPr/>
          <p:nvPr/>
        </p:nvSpPr>
        <p:spPr>
          <a:xfrm>
            <a:off x="431540" y="1643425"/>
            <a:ext cx="8676964" cy="1860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300" dirty="0">
                <a:solidFill>
                  <a:schemeClr val="tx1"/>
                </a:solidFill>
              </a:rPr>
              <a:t>본 심의대상 장비의 구축 후 재료데이터·분석연구본부 연구원들을 중심으로 장비 운영 계획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300" dirty="0">
                <a:solidFill>
                  <a:schemeClr val="tx1"/>
                </a:solidFill>
              </a:rPr>
              <a:t>이후 외부 수요에 따라 타 실·기술원과 협력하여 장비의 활용도 제고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300" dirty="0">
                <a:solidFill>
                  <a:schemeClr val="tx1"/>
                </a:solidFill>
              </a:rPr>
              <a:t>장비 설치공간은 연구3동 AMD Lab 內 기존 장비 재배치로 확보 완료(항온·항습·전기·가스 설비 검토 완료)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300" dirty="0">
                <a:solidFill>
                  <a:schemeClr val="tx1"/>
                </a:solidFill>
              </a:rPr>
              <a:t>해당 사업 및 공동활용 요금 징수를 통해 유지보수비·운영비 집행 계획(연간 운영유지비 78.3백만원 산정)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300" dirty="0">
                <a:solidFill>
                  <a:schemeClr val="tx1"/>
                </a:solidFill>
              </a:rPr>
              <a:t>본 심의대상 장비에 대한 수요가 높아 장비의 유지·보수비를 충분히 확보할 수 있을 것으로 판단</a:t>
            </a:r>
            <a:endParaRPr lang="en-US" altLang="ko-KR" sz="1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파급성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37220" y="1065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819580" y="844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과학기술적 측면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673724" y="1057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56084" y="836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경제적 측면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604" y="1320433"/>
            <a:ext cx="44263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자동화 실험실 기반 금속소재 데이터 생산성 혁신</a:t>
            </a:r>
            <a:endParaRPr lang="en-US" altLang="ko-KR" sz="1400" b="1" dirty="0"/>
          </a:p>
          <a:p>
            <a:pPr latinLnBrk="0"/>
            <a:r>
              <a:rPr lang="ko-KR" altLang="en-US" sz="1200" b="0" dirty="0"/>
              <a:t>다종 분말 LP-DED + 자동 시편 회수 + IR/폐루프 모니터링 통합으로 단일 분말 장비 대비 데이터 생성 처리량을 획기적으로 확대, 5년 누적 25,000건 멀티모달 데이터 확보 및 데이터 수집 속도 300% 달성</a:t>
            </a:r>
            <a:endParaRPr lang="en-US" altLang="ko-KR" sz="1400" b="1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45604" y="3851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27964" y="3631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사회적 측면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82108" y="3843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4468" y="3623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지역적 측면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6" name="직사각형 2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1" name="직사각형 2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29425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AI 시뮬레이터·CGM 자율 탐색 기반 마련</a:t>
            </a:r>
          </a:p>
          <a:p>
            <a:pPr latinLnBrk="0"/>
            <a:r>
              <a:rPr lang="ko-KR" altLang="en-US" sz="1200" b="0" dirty="0"/>
              <a:t>용융지 온도·적층 높이 등 공정 실측 데이터를 레이어 단위로 축적하여 AI 시뮬레이터 검증에 활용, 적층→측정→AI 학습→차기 조성 제안의 자율 탐색 루프 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2108" y="1320433"/>
            <a:ext cx="43204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자동화 실험실 기반 금속소재 R&amp;D 생산성 제고</a:t>
            </a:r>
            <a:endParaRPr lang="en-US" altLang="ko-KR" sz="1400" b="1" dirty="0"/>
          </a:p>
          <a:p>
            <a:pPr latinLnBrk="0"/>
            <a:r>
              <a:rPr lang="ko-KR" altLang="en-US" sz="1200" b="0" dirty="0"/>
              <a:t>AI를 활용한 연구자들의 소재 발견(44%), 특허 출원(39%), 제품 프로토타입(17%) 개발 성과 증가, 13~15% 생산성 향상 보고(MIT, 2024) — 본 장비의 고품질 데이터가 직접적 원천</a:t>
            </a:r>
            <a:endParaRPr lang="en-US" altLang="ko-KR" sz="1400" b="1" dirty="0"/>
          </a:p>
          <a:p>
            <a:pPr latinLnBrk="0"/>
            <a:r>
              <a:rPr lang="ko-KR" altLang="en-US" sz="1200" b="0" dirty="0"/>
              <a:t>실험 실패율과 원자재 낭비 감축, 자동차·항공우주·방산 등 신소재 개발 기간 단축</a:t>
            </a:r>
            <a:endParaRPr lang="en-US" altLang="ko-KR" sz="1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4674313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핵심 전략 금속소재 국산화 가속</a:t>
            </a:r>
          </a:p>
          <a:p>
            <a:pPr latinLnBrk="0"/>
            <a:r>
              <a:rPr lang="ko-KR" altLang="en-US" sz="1200" b="0" dirty="0"/>
              <a:t>고온용 Ni 초합금, 고강도-고연성 이상조직강 등 전략 금속소재의 조성·공정 최적화를 가속하여 국방핵심소재 해외 수입의존도 50% 이상 상황(산업연구원, 2022) 극복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964" y="4144432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AI-금속소재 융합 전문인력 양성 기반 확보</a:t>
            </a:r>
            <a:endParaRPr lang="en-US" altLang="ko-KR" sz="1400" b="1" dirty="0"/>
          </a:p>
          <a:p>
            <a:pPr latinLnBrk="0"/>
            <a:r>
              <a:rPr lang="ko-KR" altLang="en-US" sz="1200" b="0" dirty="0"/>
              <a:t>대학·출연연 연구자 및 대학원생에게 LP-DED 적층·CGM 합금 탐색·자동화 실험실 운영 실무 교육 제공, 차세대 적층제조+데이터 융합 인력 양성</a:t>
            </a:r>
            <a:endParaRPr lang="en-US" altLang="ko-KR" sz="1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38785" y="5150222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개방형 혁신 연구생태계 구축 기여</a:t>
            </a:r>
          </a:p>
          <a:p>
            <a:pPr latinLnBrk="0"/>
            <a:r>
              <a:rPr lang="ko-KR" altLang="en-US" sz="1200" b="0" dirty="0"/>
              <a:t>축적되는 조성-공정-미세조직-물성 멀티모달 빅데이터를 K-MDS 등 공공 데이터 플랫폼으로 단계적 개방, 소재 분야 오픈 사이언스 문화 확산</a:t>
            </a:r>
          </a:p>
          <a:p>
            <a:pPr latinLnBrk="0"/>
            <a:r>
              <a:rPr lang="ko-KR" altLang="en-US" sz="1200" b="0" dirty="0"/>
              <a:t>ZEUS 공동활용 등록으로 다종 분말 LP-DED 실험 환경을 외부 연구자에게 개방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9852" y="418276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동남권 산학연의 제조업 AX 연구 거점 구축</a:t>
            </a:r>
          </a:p>
          <a:p>
            <a:pPr latinLnBrk="0"/>
            <a:r>
              <a:rPr lang="ko-KR" altLang="en-US" sz="1200" b="0" dirty="0"/>
              <a:t>경남 지역에 금속소재 적층제조·AI 융합 연구의 핵심 거점을 형성, 수도권 편중 첨단 연구 인프라의 지역 분산</a:t>
            </a:r>
          </a:p>
          <a:p>
            <a:pPr latinLnBrk="0"/>
            <a:r>
              <a:rPr lang="ko-KR" altLang="en-US" sz="1200" b="0" dirty="0"/>
              <a:t>데이터·AI 모델 활용 서비스와 운영 교육으로 동남권 제조업 AX 전문인력 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3673" y="526288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지역 금속소재·부품 산업체와의 협력 강화</a:t>
            </a:r>
          </a:p>
          <a:p>
            <a:pPr latinLnBrk="0"/>
            <a:r>
              <a:rPr lang="ko-KR" altLang="en-US" sz="1200" b="0" dirty="0"/>
              <a:t>경남 자동차 부품·항공·조선해양·방산 산업체에 시제품 적층 제작, 합금 조성 탐색, 공정 최적화 데이터 생산 서비스 제공 및 맞춤형 데이터 구축 지원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04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향후 계획</a:t>
            </a:r>
          </a:p>
        </p:txBody>
      </p:sp>
      <p:graphicFrame>
        <p:nvGraphicFramePr>
          <p:cNvPr id="4" name="Group 2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56339"/>
              </p:ext>
            </p:extLst>
          </p:nvPr>
        </p:nvGraphicFramePr>
        <p:xfrm>
          <a:off x="971600" y="1700808"/>
          <a:ext cx="7111165" cy="4536506"/>
        </p:xfrm>
        <a:graphic>
          <a:graphicData uri="http://schemas.openxmlformats.org/drawingml/2006/table">
            <a:tbl>
              <a:tblPr/>
              <a:tblGrid>
                <a:gridCol w="1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911073664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62038636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124475403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60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2026년 → 2027년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'27.1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구매처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발주처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최종검수 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최종검수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날짜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 전 검수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입고 날짜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(Set Up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조립기간: 2026년 12월 ~ 2027년 1월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설치기간: 2027년 2월 ~ 3월 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 및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NTIS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장비 설치 후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 이내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NTIS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직후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운용 및 활용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173"/>
          <p:cNvSpPr txBox="1">
            <a:spLocks noChangeArrowheads="1"/>
          </p:cNvSpPr>
          <p:nvPr/>
        </p:nvSpPr>
        <p:spPr bwMode="auto">
          <a:xfrm>
            <a:off x="8200330" y="1207095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진행계획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7740352" y="1196752"/>
            <a:ext cx="509389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14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15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3" name="오른쪽 화살표 15"/>
          <p:cNvSpPr/>
          <p:nvPr/>
        </p:nvSpPr>
        <p:spPr>
          <a:xfrm>
            <a:off x="2411760" y="2564904"/>
            <a:ext cx="100811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15"/>
          <p:cNvSpPr/>
          <p:nvPr/>
        </p:nvSpPr>
        <p:spPr>
          <a:xfrm>
            <a:off x="4605180" y="3212976"/>
            <a:ext cx="57606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오른쪽 화살표 15"/>
          <p:cNvSpPr/>
          <p:nvPr/>
        </p:nvSpPr>
        <p:spPr>
          <a:xfrm>
            <a:off x="4605179" y="3753036"/>
            <a:ext cx="690375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15"/>
          <p:cNvSpPr/>
          <p:nvPr/>
        </p:nvSpPr>
        <p:spPr>
          <a:xfrm>
            <a:off x="5033057" y="4446138"/>
            <a:ext cx="563288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오른쪽 화살표 15"/>
          <p:cNvSpPr/>
          <p:nvPr/>
        </p:nvSpPr>
        <p:spPr>
          <a:xfrm>
            <a:off x="5201351" y="5063972"/>
            <a:ext cx="39499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15"/>
          <p:cNvSpPr/>
          <p:nvPr/>
        </p:nvSpPr>
        <p:spPr>
          <a:xfrm>
            <a:off x="5364088" y="5661248"/>
            <a:ext cx="28803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감사합니다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326" y="2662227"/>
            <a:ext cx="4437348" cy="105094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74767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연계 가능한 정부 전략 및 비전 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52375"/>
              </p:ext>
            </p:extLst>
          </p:nvPr>
        </p:nvGraphicFramePr>
        <p:xfrm>
          <a:off x="395536" y="1124744"/>
          <a:ext cx="8352928" cy="4392488"/>
        </p:xfrm>
        <a:graphic>
          <a:graphicData uri="http://schemas.openxmlformats.org/drawingml/2006/table">
            <a:tbl>
              <a:tblPr/>
              <a:tblGrid>
                <a:gridCol w="3312368">
                  <a:extLst>
                    <a:ext uri="{9D8B030D-6E8A-4147-A177-3AD203B41FA5}">
                      <a16:colId xmlns:a16="http://schemas.microsoft.com/office/drawing/2014/main" val="207345821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1101706358"/>
                    </a:ext>
                  </a:extLst>
                </a:gridCol>
              </a:tblGrid>
              <a:tr h="402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국가중점과학기술과의 연계성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78146"/>
                  </a:ext>
                </a:extLst>
              </a:tr>
              <a:tr h="3990079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제1차 국가전략기술 육성 기본계획 ('24~'28), '25년 시행계획 (관계부처합동, '25.3)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12대 국가전략기술 중 AI(산업활용·혁신 AI), 첨단소재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 소재 R&amp;D 발전전략 (관계부처합동, '24.12)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AI·데이터 연구 인프라 구축, 소재 데이터 생성 자율실험실 확산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자율제조 선도프로젝트 (산업통상자원부, '24.5)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제조 파운데이션 모델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AI+R&amp;DI 추진전략 (산업통상자원부, '24.10)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자율실험실(Self-Driving Lab) 구축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제2차 연구산업진흥 기본계획 ('24~'28)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 적층제조(AM) 산업 활성화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12대 국가전략기술 연계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장비로 생성한 다종 합금계 멀티모달 빅데이터를 학습 자원으로 활용하여 "산업활용·혁신 AI" 및 "첨단소재" 분야의 거대 AI 파운데이션 모델 자체 학습 가능 → 기술주권 확보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 소재 R&amp;D 발전전략 부합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실험실 제조 모듈로서 본 장비는 "소재 데이터 생성 자율실험실"의 핵심 노드 역할 수행, 정부 정책의 데이터 인프라 구축 목표와 직결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자율제조 선도프로젝트 연계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장비 + 자동디지털 현미경 + AI 학습 서버를 통합한 "AI 제조 파운데이션 모델" 학습 환경을 KIMS 단독으로 구현하여 정부 정책의 실증 사례 제공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AI+R&amp;DI 추진전략 연계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다종 분말 LP-DED 기반 무인 적층, 자동 시편 회수, 자동 물성 평가의 자율실험실 폐루프 구현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적층제조(AM) 산업 활성화 기여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LP-DED 다종 분말 동시 공급은 적층제조 산업 경쟁력 확보의 핵심 — 운영 경험 축적이 산업체 기술 이전·교육의 토대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736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3254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04BC48-284B-114B-8588-A1DD1CA0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" y="1288428"/>
            <a:ext cx="4104493" cy="5182522"/>
          </a:xfrm>
          <a:prstGeom prst="rect">
            <a:avLst/>
          </a:prstGeom>
        </p:spPr>
      </p:pic>
      <p:pic>
        <p:nvPicPr>
          <p:cNvPr id="1026" name="Picture 2" descr="양식 응답 차트. 질문 제목: 소속 구분. 응답 수: 응답 31개.">
            <a:extLst>
              <a:ext uri="{FF2B5EF4-FFF2-40B4-BE49-F238E27FC236}">
                <a16:creationId xmlns:a16="http://schemas.microsoft.com/office/drawing/2014/main" id="{ABD4F67B-08F8-0D5E-AA1A-7F1579FDD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96752"/>
            <a:ext cx="4572000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A7DB0-E1A8-D344-30A7-E7258B15487A}"/>
              </a:ext>
            </a:extLst>
          </p:cNvPr>
          <p:cNvSpPr txBox="1"/>
          <p:nvPr/>
        </p:nvSpPr>
        <p:spPr>
          <a:xfrm>
            <a:off x="4024420" y="3630580"/>
            <a:ext cx="4788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b="0" dirty="0"/>
              <a:t>대학교: 국립창원대학교, 아주대학교, 국립부경대학교, 부산대학교, 한국공학대학교, 국립공주대학교, 한양대학교, 포항공과대학교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b="0" dirty="0"/>
              <a:t>중소 중견기업: 화승코퍼레이션, 씨티알에코포징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b="0" dirty="0"/>
              <a:t>대기업: 삼성전자, 한화오션, SK, 한국수력원자력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b="0" dirty="0"/>
              <a:t>연구기관: 한국전자기술연구원, 한국재료연구원, 한국원자력연구원, 한국생산기술연구원, 한국화학연구원, 한국에너지기술연구원, 한국과학기술연구원</a:t>
            </a:r>
            <a:endParaRPr kumimoji="1"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135541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(2/3)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43934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/>
              <a:t>\</a:t>
            </a:r>
            <a:endParaRPr lang="ko-KR" altLang="en-US" dirty="0"/>
          </a:p>
        </p:txBody>
      </p:sp>
      <p:pic>
        <p:nvPicPr>
          <p:cNvPr id="1026" name="Picture 2" descr="양식 응답 차트. 질문 제목: 1. 상기 장비에 대한 관심도는 어느정도입니까?. 응답 수: 응답 31개.">
            <a:extLst>
              <a:ext uri="{FF2B5EF4-FFF2-40B4-BE49-F238E27FC236}">
                <a16:creationId xmlns:a16="http://schemas.microsoft.com/office/drawing/2014/main" id="{8D97FFB4-5FDD-67DB-FD48-05B0D41FA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36" y="1089519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양식 응답 차트. 질문 제목: 2.  국내 해당 장비의 필요성이 어느 정도라고 생각하십니까?&#10;. 응답 수: 응답 31개.">
            <a:extLst>
              <a:ext uri="{FF2B5EF4-FFF2-40B4-BE49-F238E27FC236}">
                <a16:creationId xmlns:a16="http://schemas.microsoft.com/office/drawing/2014/main" id="{0CB3C300-3111-73D2-8502-6CF5C19F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36" y="2852936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양식 응답 차트. 질문 제목: 3. 한국재료연구원에서 해당 장비를 구축하는 것이 적절하다고 생각하십니까?. 응답 수: 응답 31개.">
            <a:extLst>
              <a:ext uri="{FF2B5EF4-FFF2-40B4-BE49-F238E27FC236}">
                <a16:creationId xmlns:a16="http://schemas.microsoft.com/office/drawing/2014/main" id="{456F326D-5698-97BE-42EF-3CBF5AFB0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21" y="4581128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양식 응답 차트. 질문 제목: 4. 귀사는 해당 장비를 사용하실 의사가 있습니까?. 응답 수: 응답 31개.">
            <a:extLst>
              <a:ext uri="{FF2B5EF4-FFF2-40B4-BE49-F238E27FC236}">
                <a16:creationId xmlns:a16="http://schemas.microsoft.com/office/drawing/2014/main" id="{2C552771-5672-B735-8E26-A501B1ED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24" y="1089519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양식 응답 차트. 질문 제목: 5. 귀사는 해당 장비를 통해 제공되는 실험 데이터를 사용할 의사가 있습니까?&#10;. 응답 수: 응답 31개.">
            <a:extLst>
              <a:ext uri="{FF2B5EF4-FFF2-40B4-BE49-F238E27FC236}">
                <a16:creationId xmlns:a16="http://schemas.microsoft.com/office/drawing/2014/main" id="{0D6C5F0D-C57A-BE61-A539-B0FA8A85C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24" y="3052513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양식 응답 차트. 질문 제목: 6. 만약 본 장비를 이용하신다면 어떤 용도로 사용하길 원하십니까? (복수응답가능)&#10;. 응답 수: 응답 31개.">
            <a:extLst>
              <a:ext uri="{FF2B5EF4-FFF2-40B4-BE49-F238E27FC236}">
                <a16:creationId xmlns:a16="http://schemas.microsoft.com/office/drawing/2014/main" id="{52C239A7-24CE-BCCF-A336-D54C19FF8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440" y="4645031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3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050" name="Picture 2" descr="양식 응답 차트. 질문 제목: 7. 본 장비를 한국재료연구원에서 구축한다면 1년에 몇 회 사용할 의사가 있습니까?. 응답 수: 응답 31개.">
            <a:extLst>
              <a:ext uri="{FF2B5EF4-FFF2-40B4-BE49-F238E27FC236}">
                <a16:creationId xmlns:a16="http://schemas.microsoft.com/office/drawing/2014/main" id="{35B537D8-160C-A854-D170-C7422F43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8125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양식 응답 차트. 질문 제목: 8. 상기 장비 구축 시 한 회당 활용 기간은 어느 정도로 예상하십니까?. 응답 수: 응답 31개.">
            <a:extLst>
              <a:ext uri="{FF2B5EF4-FFF2-40B4-BE49-F238E27FC236}">
                <a16:creationId xmlns:a16="http://schemas.microsoft.com/office/drawing/2014/main" id="{74C90E5E-3922-F49A-FB5B-9F6DABF1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08125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662450D-0C5A-ECF0-0EA7-1809FB774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842211"/>
              </p:ext>
            </p:extLst>
          </p:nvPr>
        </p:nvGraphicFramePr>
        <p:xfrm>
          <a:off x="242567" y="3489158"/>
          <a:ext cx="8658865" cy="27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93">
                  <a:extLst>
                    <a:ext uri="{9D8B030D-6E8A-4147-A177-3AD203B41FA5}">
                      <a16:colId xmlns:a16="http://schemas.microsoft.com/office/drawing/2014/main" val="2988014673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766592425"/>
                    </a:ext>
                  </a:extLst>
                </a:gridCol>
              </a:tblGrid>
              <a:tr h="3900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요구기관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기타의견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장비구축 추가옵션 요청 사항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619275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분위기 제어 프린팅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075152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자율화를 통한 소재 부품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273065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국립부경대학교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구축시</a:t>
                      </a:r>
                      <a:r>
                        <a:rPr lang="ko-KR" altLang="en-US" sz="1400" dirty="0"/>
                        <a:t> 양질의 데이터 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6859"/>
                  </a:ext>
                </a:extLst>
              </a:tr>
              <a:tr h="10282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한국생산기술연구원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Coaxial camera(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동축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카메라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용융풀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Pyrometer,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폐루프제어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모니터링 신호 받아서 파워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스캔속도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분말공급량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축 보정 등 자동조절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산소농도 모니터링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12426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한국공학대학교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장비교육프로그램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401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73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6F37-87A1-F2D0-EA0A-A4009592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797D4FAE-0B90-3896-7D7E-977F295F9653}"/>
              </a:ext>
            </a:extLst>
          </p:cNvPr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050" name="Picture 2" descr="양식 응답 차트. 질문 제목: 7. 본 장비를 한국재료연구원에서 구축한다면 1년에 몇 회 사용할 의사가 있습니까?. 응답 수: 응답 31개.">
            <a:extLst>
              <a:ext uri="{FF2B5EF4-FFF2-40B4-BE49-F238E27FC236}">
                <a16:creationId xmlns:a16="http://schemas.microsoft.com/office/drawing/2014/main" id="{F39CA388-0042-C5E2-EE50-463114802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7284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양식 응답 차트. 질문 제목: 8. 상기 장비 구축 시 한 회당 활용 기간은 어느 정도로 예상하십니까?. 응답 수: 응답 31개.">
            <a:extLst>
              <a:ext uri="{FF2B5EF4-FFF2-40B4-BE49-F238E27FC236}">
                <a16:creationId xmlns:a16="http://schemas.microsoft.com/office/drawing/2014/main" id="{59FBE3C1-DD88-AA44-95C6-068DD4C9C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720675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3529D26-3D08-A3B8-7FB1-97367FC70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862135"/>
              </p:ext>
            </p:extLst>
          </p:nvPr>
        </p:nvGraphicFramePr>
        <p:xfrm>
          <a:off x="242567" y="2433132"/>
          <a:ext cx="865886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93">
                  <a:extLst>
                    <a:ext uri="{9D8B030D-6E8A-4147-A177-3AD203B41FA5}">
                      <a16:colId xmlns:a16="http://schemas.microsoft.com/office/drawing/2014/main" val="2988014673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766592425"/>
                    </a:ext>
                  </a:extLst>
                </a:gridCol>
              </a:tblGrid>
              <a:tr h="1464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요구기관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 기타의견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장비구축 추가옵션 요청 사항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619275"/>
                  </a:ext>
                </a:extLst>
              </a:tr>
              <a:tr h="1214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분위기 제어 프린팅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075152"/>
                  </a:ext>
                </a:extLst>
              </a:tr>
              <a:tr h="1214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자율화를 통한 소재 부품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273065"/>
                  </a:ext>
                </a:extLst>
              </a:tr>
              <a:tr h="1214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국립부경대학교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구축시</a:t>
                      </a:r>
                      <a:r>
                        <a:rPr lang="ko-KR" altLang="en-US" sz="1100" dirty="0"/>
                        <a:t> 양질의 데이터 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6859"/>
                  </a:ext>
                </a:extLst>
              </a:tr>
              <a:tr h="3764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한국생산기술연구원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Coaxial camera(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동축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카메라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용융풀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Pyrometer,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폐루프제어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모니터링 신호 받아서 파워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스캔속도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분말공급량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축 보정 등 자동조절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산소농도 모니터링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12426"/>
                  </a:ext>
                </a:extLst>
              </a:tr>
              <a:tr h="1214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한국공학대학교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장비교육프로그램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4016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9E0F80-6BEB-4F61-1057-8698D89F00A9}"/>
              </a:ext>
            </a:extLst>
          </p:cNvPr>
          <p:cNvSpPr txBox="1"/>
          <p:nvPr/>
        </p:nvSpPr>
        <p:spPr>
          <a:xfrm>
            <a:off x="158002" y="4461923"/>
            <a:ext cx="9126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ko-KR" sz="1400" b="1" dirty="0">
                <a:effectLst/>
                <a:latin typeface="Helvetica" pitchFamily="2" charset="0"/>
              </a:rPr>
              <a:t>예상 가동률 </a:t>
            </a:r>
            <a:r>
              <a:rPr lang="ko-KR" altLang="ko-KR" sz="1400" dirty="0">
                <a:effectLst/>
                <a:latin typeface="Helvetica" pitchFamily="2" charset="0"/>
              </a:rPr>
              <a:t>= 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 연간 1인당 평균 사용 횟수 = (1회x 3인 + 5회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12인 + 10회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8인 +  15회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8인 ) / 31명 = 8.5회 / 1인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- 1회당 평균 가동 시간 최저 = (4시간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2명 + 8시간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11명 +  24시간(3일)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11명 + 40시간(5일)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0명 + 80시간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7명) / 31명 = 29.7시간 / 1회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 </a:t>
            </a:r>
            <a:r>
              <a:rPr lang="ko-KR" altLang="ko-KR" sz="1400" dirty="0" err="1">
                <a:effectLst/>
                <a:latin typeface="Helvetica" pitchFamily="2" charset="0"/>
              </a:rPr>
              <a:t>전처리및</a:t>
            </a:r>
            <a:r>
              <a:rPr lang="ko-KR" altLang="ko-KR" sz="1400" dirty="0">
                <a:effectLst/>
                <a:latin typeface="Helvetica" pitchFamily="2" charset="0"/>
              </a:rPr>
              <a:t> 후처리회당1시간 소요예상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 예상 가동시간 = 31인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12.4회 / 1인 </a:t>
            </a:r>
            <a:r>
              <a:rPr lang="ko-KR" altLang="ko-KR" sz="1400" dirty="0" err="1">
                <a:effectLst/>
                <a:latin typeface="Helvetica" pitchFamily="2" charset="0"/>
              </a:rPr>
              <a:t>x</a:t>
            </a:r>
            <a:r>
              <a:rPr lang="ko-KR" altLang="ko-KR" sz="1400" dirty="0">
                <a:effectLst/>
                <a:latin typeface="Helvetica" pitchFamily="2" charset="0"/>
              </a:rPr>
              <a:t> 30.7시간 / 1회 = 10,801시간 / 1년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 따라서 예상 가동률은 540%</a:t>
            </a:r>
          </a:p>
          <a:p>
            <a:pPr algn="just">
              <a:buNone/>
            </a:pPr>
            <a:r>
              <a:rPr lang="ko-KR" altLang="ko-KR" sz="1400" dirty="0">
                <a:effectLst/>
                <a:latin typeface="Helvetica" pitchFamily="2" charset="0"/>
              </a:rPr>
              <a:t>    -  가동률 계산 근거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0FF7DA-41B4-2840-5616-C02D7E53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078" y="5949280"/>
            <a:ext cx="5904994" cy="5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5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6923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(1,2)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9A392A-9C65-C89C-4ACC-674EEEA4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20" y="1020986"/>
            <a:ext cx="3822700" cy="5410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25F76D-80E7-B72A-C5D9-F81B0FDC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2736"/>
            <a:ext cx="39497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38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8CEA7E-B3A0-259E-2A0E-EC900F5F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9817"/>
            <a:ext cx="3127846" cy="44285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CF757F-1968-D76C-90D7-AB949CB6E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1999817"/>
            <a:ext cx="3241399" cy="45937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DAAD2A-B16E-DCB3-D497-C1FC03EF5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946" y="2004515"/>
            <a:ext cx="3262045" cy="462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0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ctr" latinLnBrk="0">
          <a:defRPr sz="1400" kern="0" dirty="0" smtClean="0">
            <a:gradFill>
              <a:gsLst>
                <a:gs pos="0">
                  <a:srgbClr val="FFE400"/>
                </a:gs>
                <a:gs pos="100000">
                  <a:srgbClr val="FFE400"/>
                </a:gs>
              </a:gsLst>
              <a:lin ang="5400000" scaled="0"/>
            </a:gradFill>
            <a:latin typeface="HY견고딕" pitchFamily="18" charset="-127"/>
            <a:ea typeface="HY견고딕" pitchFamily="18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13734</TotalTime>
  <Words>4333</Words>
  <Application>Microsoft Macintosh PowerPoint</Application>
  <PresentationFormat>화면 슬라이드 쇼(4:3)</PresentationFormat>
  <Paragraphs>627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29</vt:i4>
      </vt:variant>
    </vt:vector>
  </HeadingPairs>
  <TitlesOfParts>
    <vt:vector size="60" baseType="lpstr">
      <vt:lpstr>굴림</vt:lpstr>
      <vt:lpstr>나눔고딕 ExtraBold</vt:lpstr>
      <vt:lpstr>나눔명조 ExtraBold</vt:lpstr>
      <vt:lpstr>옥션고딕 B</vt:lpstr>
      <vt:lpstr>옥션고딕 L</vt:lpstr>
      <vt:lpstr>프리젠테이션 4 Regular</vt:lpstr>
      <vt:lpstr>프리젠테이션 5 Medium</vt:lpstr>
      <vt:lpstr>프리젠테이션 6 SemiBold</vt:lpstr>
      <vt:lpstr>프리젠테이션 7 Bold</vt:lpstr>
      <vt:lpstr>Gong Gothic Bold</vt:lpstr>
      <vt:lpstr>HY헤드라인M</vt:lpstr>
      <vt:lpstr>맑은 고딕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Arial</vt:lpstr>
      <vt:lpstr>Calibri</vt:lpstr>
      <vt:lpstr>Helvetica</vt:lpstr>
      <vt:lpstr>Paperlogy 3 Light</vt:lpstr>
      <vt:lpstr>Paperlogy 4 Regular</vt:lpstr>
      <vt:lpstr>Paperlogy 5 Medium</vt:lpstr>
      <vt:lpstr>Paperlogy 6 SemiBold</vt:lpstr>
      <vt:lpstr>Wingdings</vt:lpstr>
      <vt:lpstr>Office 테마</vt:lpstr>
      <vt:lpstr>1_Office 테마</vt:lpstr>
      <vt:lpstr>5_디자인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성명륜(기계공학과)</cp:lastModifiedBy>
  <cp:revision>1445</cp:revision>
  <dcterms:created xsi:type="dcterms:W3CDTF">2012-10-07T06:06:37Z</dcterms:created>
  <dcterms:modified xsi:type="dcterms:W3CDTF">2026-06-12T08:43:12Z</dcterms:modified>
</cp:coreProperties>
</file>